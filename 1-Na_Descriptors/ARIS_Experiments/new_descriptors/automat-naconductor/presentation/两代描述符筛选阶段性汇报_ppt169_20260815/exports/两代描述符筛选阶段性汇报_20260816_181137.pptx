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两代描述符筛选阶段性汇报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两代描述符筛选阶段性汇报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93267"/>
            <a:chOff x="441198" y="463868"/>
            <a:chExt cx="11293602" cy="9932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强相关描述符筛选｜阶段性汇报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807684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这次要解决的不是“谁的相关系数最高”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45770" y="2157412"/>
            <a:ext cx="5278244" cy="3347636"/>
            <a:chOff x="445770" y="2157412"/>
            <a:chExt cx="5278244" cy="3347636"/>
          </a:xfrm>
        </p:grpSpPr>
        <p:sp>
          <p:nvSpPr>
            <p:cNvPr id="6" name="TextBox 6"/>
            <p:cNvSpPr txBox="1"/>
            <p:nvPr/>
          </p:nvSpPr>
          <p:spPr>
            <a:xfrm>
              <a:off x="445770" y="215741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找到一个高分描述符不难。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2614612"/>
              <a:ext cx="479345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难的是确认它反映的是材料结构，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5770" y="2995612"/>
              <a:ext cx="4328108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而不是材料体系、数据记录方式。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457200" y="365760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48818" y="3879532"/>
              <a:ext cx="232756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目前研究的</a:t>
              </a:r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三个</a:t>
              </a:r>
              <a:r>
                <a:rPr lang="zh-CN" altLang="en-US" sz="1650" b="1" dirty="0">
                  <a:solidFill>
                    <a:schemeClr val="accent6"/>
                  </a:solidFill>
                </a:rPr>
                <a:t>主要</a:t>
              </a:r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8818" y="4279582"/>
              <a:ext cx="5275196" cy="761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在 NASICON、硫化物和卤化物中，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找到与室温 </a:t>
              </a:r>
              <a:r>
                <a:rPr lang="en-US" alt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 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离子电导率稳定相关的结构量</a:t>
              </a:r>
            </a:p>
            <a:p>
              <a:pPr algn="l"/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180" y="4581525"/>
              <a:ext cx="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8818" y="4908232"/>
              <a:ext cx="365645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强相关描述符是否真的可跨体系筛选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8818" y="5251132"/>
              <a:ext cx="259846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强相关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描述符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是否可解释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750740" y="2470924"/>
            <a:ext cx="3526860" cy="2901176"/>
            <a:chOff x="7750740" y="2470924"/>
            <a:chExt cx="3526860" cy="2901176"/>
          </a:xfrm>
        </p:grpSpPr>
        <p:sp>
          <p:nvSpPr>
            <p:cNvPr id="16" name="TextBox 16"/>
            <p:cNvSpPr txBox="1"/>
            <p:nvPr/>
          </p:nvSpPr>
          <p:spPr>
            <a:xfrm>
              <a:off x="7772400" y="2470924"/>
              <a:ext cx="2769989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一个高分</a:t>
              </a:r>
              <a:r>
                <a:rPr lang="zh-CN" altLang="en-US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描述符</a:t>
              </a:r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，可能混进</a:t>
              </a:r>
              <a:r>
                <a:rPr lang="zh-CN" altLang="en-US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几</a:t>
              </a:r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种来源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750740" y="3002471"/>
              <a:ext cx="35052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70958" y="3148203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材料体系差异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750740" y="3688271"/>
              <a:ext cx="35052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70958" y="3834003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数据记录方式差异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772400" y="4762500"/>
              <a:ext cx="35052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36252" y="4916805"/>
              <a:ext cx="25774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高相关 ≠ 结构规律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451104" y="6356985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第一轮做了什么、发现问题 → 第二轮怎么逐条解决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2722" y="349568"/>
            <a:ext cx="11292078" cy="890777"/>
            <a:chOff x="442722" y="349568"/>
            <a:chExt cx="11292078" cy="89077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495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第一轮做了什么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2722" y="682942"/>
              <a:ext cx="811636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第一轮做了什么，跑完以后发现了什么问题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181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450342" y="1454468"/>
            <a:ext cx="11284458" cy="736282"/>
            <a:chOff x="450342" y="1454468"/>
            <a:chExt cx="11284458" cy="736282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4544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第一轮流程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1752600"/>
              <a:ext cx="20574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80522" y="1907381"/>
              <a:ext cx="2010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数据集（CIF + 电导率记录）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514600" y="19716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705100" y="19240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838450" y="1752600"/>
              <a:ext cx="1905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20055" y="1907381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提取结构量 + 已有结果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743450" y="19716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4933950" y="19240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067300" y="1752600"/>
              <a:ext cx="17526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57404" y="1907381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构造 35 个候选量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19900" y="19716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7010400" y="19240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143750" y="1752600"/>
              <a:ext cx="20574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94016" y="1907381"/>
              <a:ext cx="1556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重复抽样 200 次看排名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201150" y="19716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9391650" y="19240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525000" y="1752600"/>
              <a:ext cx="22098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794926" y="19073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留出一类材料看能否迁移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51104" y="2537460"/>
            <a:ext cx="6831998" cy="184666"/>
            <a:chOff x="451104" y="2537460"/>
            <a:chExt cx="6831998" cy="184666"/>
          </a:xfrm>
        </p:grpSpPr>
        <p:sp>
          <p:nvSpPr>
            <p:cNvPr id="26" name="TextBox 26"/>
            <p:cNvSpPr txBox="1"/>
            <p:nvPr/>
          </p:nvSpPr>
          <p:spPr>
            <a:xfrm>
              <a:off x="451104" y="2537460"/>
              <a:ext cx="683199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第一轮让结构量能被批量算和横向比较，做了重复抽样和留出检查，</a:t>
              </a:r>
              <a:r>
                <a:rPr lang="zh-CN" alt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但是目前</a:t>
              </a:r>
              <a:r>
                <a:rPr lang="zh-CN" altLang="en-US" sz="1200" dirty="0">
                  <a:solidFill>
                    <a:schemeClr val="accent3"/>
                  </a:solidFill>
                </a:rPr>
                <a:t>数据集样本数量太少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50342" y="2940368"/>
            <a:ext cx="11284458" cy="2790443"/>
            <a:chOff x="450342" y="2940368"/>
            <a:chExt cx="11284458" cy="2790443"/>
          </a:xfrm>
        </p:grpSpPr>
        <p:sp>
          <p:nvSpPr>
            <p:cNvPr id="28" name="TextBox 28"/>
            <p:cNvSpPr txBox="1"/>
            <p:nvPr/>
          </p:nvSpPr>
          <p:spPr>
            <a:xfrm>
              <a:off x="450342" y="294036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跑完以后发现的五个问题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57200" y="3200400"/>
              <a:ext cx="533400" cy="24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4672" y="33242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4672" y="38195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4672" y="43148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4672" y="48101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672" y="53054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⑤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57200" y="3695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457200" y="4191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457200" y="46863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457200" y="51816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8423" y="3348514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全样本混在一起比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9566" y="3544252"/>
              <a:ext cx="4548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能区分三类的量就会自动跟电导率“强相关”，那是体系身份不是结构规律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8423" y="38438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测量标准不统一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9566" y="4039552"/>
              <a:ext cx="48660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有的报 total 有的报 bulk，温度、方法、致密度都没记，当成同一种测量在比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8423" y="4339114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候选和评价用同一批数据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9566" y="4534852"/>
              <a:ext cx="47035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35 候选加上 7000 多个组合，全在同一个数据集上选和评，没有独立验证集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8423" y="48344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描述符名实不符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9566" y="5030152"/>
              <a:ext cx="36999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名字叫“宽松度”，公式可能量的是别的，第一轮没人查这个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8423" y="5329714"/>
              <a:ext cx="1542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空位只靠 CIF 占位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9566" y="5525452"/>
              <a:ext cx="39983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CIF 只记被写出来的位点，没写的不算，混合价无序也看不清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50" name="TextBox 50"/>
            <p:cNvSpPr txBox="1"/>
            <p:nvPr/>
          </p:nvSpPr>
          <p:spPr>
            <a:xfrm>
              <a:off x="451104" y="6356985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正文｜第一轮跑通了完整流程，也暴露了五个具体问题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93267"/>
            <a:chOff x="441198" y="463868"/>
            <a:chExt cx="11293602" cy="9932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为什么要重做算法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66184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两条线并行，规则先于数据定死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8056" y="1863090"/>
            <a:ext cx="6647688" cy="637794"/>
            <a:chOff x="448056" y="1863090"/>
            <a:chExt cx="6647688" cy="637794"/>
          </a:xfrm>
        </p:grpSpPr>
        <p:sp>
          <p:nvSpPr>
            <p:cNvPr id="6" name="TextBox 6"/>
            <p:cNvSpPr txBox="1"/>
            <p:nvPr/>
          </p:nvSpPr>
          <p:spPr>
            <a:xfrm>
              <a:off x="448056" y="1863090"/>
              <a:ext cx="6647688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第一轮的五个问题，光加数据解决不了——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测量标准不统一会跟着新数据一起进来，全样本混比的毛病也会。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49580" y="2638425"/>
            <a:ext cx="11285220" cy="293370"/>
            <a:chOff x="449580" y="2638425"/>
            <a:chExt cx="11285220" cy="293370"/>
          </a:xfrm>
        </p:grpSpPr>
        <p:sp>
          <p:nvSpPr>
            <p:cNvPr id="8" name="TextBox 8"/>
            <p:cNvSpPr txBox="1"/>
            <p:nvPr/>
          </p:nvSpPr>
          <p:spPr>
            <a:xfrm>
              <a:off x="449580" y="2638425"/>
              <a:ext cx="3195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起点：第一轮跑通，五个问题显现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457200" y="28956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57200" y="3105150"/>
            <a:ext cx="11277600" cy="1714500"/>
            <a:chOff x="457200" y="3105150"/>
            <a:chExt cx="11277600" cy="1714500"/>
          </a:xfrm>
        </p:grpSpPr>
        <p:sp>
          <p:nvSpPr>
            <p:cNvPr id="11" name="Rectangle 11"/>
            <p:cNvSpPr/>
            <p:nvPr/>
          </p:nvSpPr>
          <p:spPr>
            <a:xfrm>
              <a:off x="457200" y="3105150"/>
              <a:ext cx="55245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2856" y="32918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搭新数据集这边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62000" y="365760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4380" y="381952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 total / bulk / 晶界分开记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4380" y="412432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补上测试方法、温度、样品形态、相对密度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4380" y="442912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一个材料有多条测量时，定死怎么挑室温那条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10300" y="3105150"/>
              <a:ext cx="55245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05956" y="32918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重建筛选规则这边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515100" y="365760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07480" y="38195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所有阈值、判据、不变性检查的标准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07480" y="4124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都在新数据到来之前冻结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07480" y="44291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先封版，再进数据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219450" y="4991100"/>
            <a:ext cx="5762625" cy="304800"/>
            <a:chOff x="3219450" y="4991100"/>
            <a:chExt cx="5762625" cy="304800"/>
          </a:xfrm>
        </p:grpSpPr>
        <p:sp>
          <p:nvSpPr>
            <p:cNvPr id="24" name="Line 24"/>
            <p:cNvSpPr/>
            <p:nvPr/>
          </p:nvSpPr>
          <p:spPr>
            <a:xfrm>
              <a:off x="3219450" y="49911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972550" y="49911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3219450" y="5219700"/>
              <a:ext cx="5753100" cy="9525"/>
            </a:xfrm>
            <a:custGeom>
              <a:avLst/>
              <a:gdLst/>
              <a:ahLst/>
              <a:cxnLst/>
              <a:rect l="l" t="t" r="r" b="b"/>
              <a:pathLst>
                <a:path w="5753100" h="9525">
                  <a:moveTo>
                    <a:pt x="0" y="0"/>
                  </a:moveTo>
                  <a:lnTo>
                    <a:pt x="57531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6019800" y="51435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lnTo>
                    <a:pt x="76200" y="0"/>
                  </a:lnTo>
                  <a:lnTo>
                    <a:pt x="152400" y="76200"/>
                  </a:lnTo>
                  <a:lnTo>
                    <a:pt x="7620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57200" y="5334000"/>
            <a:ext cx="11277600" cy="666750"/>
            <a:chOff x="457200" y="5334000"/>
            <a:chExt cx="11277600" cy="666750"/>
          </a:xfrm>
        </p:grpSpPr>
        <p:sp>
          <p:nvSpPr>
            <p:cNvPr id="29" name="Rectangle 29"/>
            <p:cNvSpPr/>
            <p:nvPr/>
          </p:nvSpPr>
          <p:spPr>
            <a:xfrm>
              <a:off x="457200" y="5334000"/>
              <a:ext cx="11277600" cy="666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38399" y="5422582"/>
              <a:ext cx="3515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新数据通过检查后进入第二代筛选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78252" y="5737860"/>
              <a:ext cx="6635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FDAD7"/>
                  </a:solidFill>
                  <a:latin typeface="+mn-lt"/>
                  <a:ea typeface="+mn-ea"/>
                  <a:cs typeface="+mn-cs"/>
                </a:rPr>
                <a:t>如果先看了数据再定阈值，等于用同一批数据既选规则又验规则，相关性必然虚高且无法补救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451104" y="6356985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正文｜规则在数据到来前冻结，是统计纪律不是进度慢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2722" y="349568"/>
            <a:ext cx="11292078" cy="890777"/>
            <a:chOff x="442722" y="349568"/>
            <a:chExt cx="11292078" cy="89077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495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第二轮逐条回应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2722" y="682942"/>
              <a:ext cx="51367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第二代怎么解决这五个问题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181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57200" y="1390650"/>
            <a:ext cx="11277600" cy="381000"/>
            <a:chOff x="457200" y="1390650"/>
            <a:chExt cx="11277600" cy="381000"/>
          </a:xfrm>
        </p:grpSpPr>
        <p:sp>
          <p:nvSpPr>
            <p:cNvPr id="6" name="Rectangle 6"/>
            <p:cNvSpPr/>
            <p:nvPr/>
          </p:nvSpPr>
          <p:spPr>
            <a:xfrm>
              <a:off x="457200" y="1390650"/>
              <a:ext cx="30099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82820" y="14925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第一轮的问题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467100" y="1390650"/>
              <a:ext cx="49149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249809" y="14925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第二代怎么解决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82000" y="1390650"/>
              <a:ext cx="33528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88247" y="14925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现在能做到哪一步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1771650"/>
            <a:ext cx="9637395" cy="924306"/>
            <a:chOff x="457200" y="1771650"/>
            <a:chExt cx="9637395" cy="924306"/>
          </a:xfrm>
        </p:grpSpPr>
        <p:sp>
          <p:nvSpPr>
            <p:cNvPr id="13" name="Rectangle 13"/>
            <p:cNvSpPr/>
            <p:nvPr/>
          </p:nvSpPr>
          <p:spPr>
            <a:xfrm>
              <a:off x="457200" y="1771650"/>
              <a:ext cx="30099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3504" y="1927860"/>
              <a:ext cx="1513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全样本混在一起比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4266" y="2210752"/>
              <a:ext cx="21165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NASICON 整体高、卤化物整体低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4266" y="2401252"/>
              <a:ext cx="2003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能区分三类的量就自动“强相关”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13404" y="19278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先扣掉每一类体系的平均水平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13404" y="21945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只比同一类材料内部谁高谁低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13404" y="24612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再看这个高低和电导率高低是否同向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28304" y="192786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29066" y="22107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致密度、烧结条件没进表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29066" y="24012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算法替不了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57200" y="2628900"/>
            <a:ext cx="11277600" cy="924306"/>
            <a:chOff x="457200" y="2628900"/>
            <a:chExt cx="11277600" cy="924306"/>
          </a:xfrm>
        </p:grpSpPr>
        <p:sp>
          <p:nvSpPr>
            <p:cNvPr id="24" name="Line 24"/>
            <p:cNvSpPr/>
            <p:nvPr/>
          </p:nvSpPr>
          <p:spPr>
            <a:xfrm>
              <a:off x="457200" y="26289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7200" y="2628900"/>
              <a:ext cx="30099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3504" y="2785110"/>
              <a:ext cx="13437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测量标准不统一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4266" y="3068002"/>
              <a:ext cx="16150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有的报 total 有的报 bulk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4266" y="32585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温度方法致密度都没记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13404" y="2785110"/>
              <a:ext cx="22818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新数据表把 total / bulk / 晶界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13404" y="3051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测试方法、温度、样品形态、相对密度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13404" y="33185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都分开记；定死怎么挑室温那条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28304" y="27851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数据表已设计好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29066" y="30680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室温挑选规则已冻结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29066" y="32585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体系分类枚举值要人工填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7200" y="3486150"/>
            <a:ext cx="11277600" cy="924306"/>
            <a:chOff x="457200" y="3486150"/>
            <a:chExt cx="11277600" cy="924306"/>
          </a:xfrm>
        </p:grpSpPr>
        <p:sp>
          <p:nvSpPr>
            <p:cNvPr id="36" name="Line 36"/>
            <p:cNvSpPr/>
            <p:nvPr/>
          </p:nvSpPr>
          <p:spPr>
            <a:xfrm>
              <a:off x="457200" y="3486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57200" y="3486150"/>
              <a:ext cx="30099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3504" y="3642360"/>
              <a:ext cx="1513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候选评价同批数据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4266" y="3925252"/>
              <a:ext cx="1572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35 候选 + 7000 多个组合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4266" y="41157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全在同一数据集上选和评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13404" y="36423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所有阈值和判据在看到数据前冻结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13404" y="39090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限制组合的物理意义和量纲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613404" y="41757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不让算法随便拼公式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28304" y="36423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阈值已冻结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29066" y="39252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留一体系验证被删了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29066" y="41157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是必须补的缺口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57200" y="4343400"/>
            <a:ext cx="11277600" cy="924306"/>
            <a:chOff x="457200" y="4343400"/>
            <a:chExt cx="11277600" cy="924306"/>
          </a:xfrm>
        </p:grpSpPr>
        <p:sp>
          <p:nvSpPr>
            <p:cNvPr id="48" name="Line 48"/>
            <p:cNvSpPr/>
            <p:nvPr/>
          </p:nvSpPr>
          <p:spPr>
            <a:xfrm>
              <a:off x="457200" y="43434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457200" y="4343400"/>
              <a:ext cx="30099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3504" y="4499610"/>
              <a:ext cx="13437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描述符名实不符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4266" y="4782502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名字叫“宽松度”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4266" y="49730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公式可能量的是别的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613404" y="4499610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给每个描述符建“身份证”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613404" y="47663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（公式、单位、来源、是不是别名）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613404" y="503301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 7 种等价写法探针查是否变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28304" y="4499610"/>
              <a:ext cx="928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41 个已登记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29066" y="4782502"/>
              <a:ext cx="1544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 种等价写法检查已实现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29066" y="4973002"/>
              <a:ext cx="17804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205 处身份字段还是 TODO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57200" y="5200650"/>
            <a:ext cx="11277600" cy="924306"/>
            <a:chOff x="457200" y="5200650"/>
            <a:chExt cx="11277600" cy="924306"/>
          </a:xfrm>
        </p:grpSpPr>
        <p:sp>
          <p:nvSpPr>
            <p:cNvPr id="60" name="Line 60"/>
            <p:cNvSpPr/>
            <p:nvPr/>
          </p:nvSpPr>
          <p:spPr>
            <a:xfrm>
              <a:off x="457200" y="5200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457200" y="5200650"/>
              <a:ext cx="30099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03504" y="5356860"/>
              <a:ext cx="15983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空位只靠 CIF 占位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4266" y="5639752"/>
              <a:ext cx="16087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CIF 只记被写出来的位点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4266" y="58302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混合价无序也看不清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613404" y="53568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分四层：几何空腔 → 键价能量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613404" y="5623560"/>
              <a:ext cx="1787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DFT 静态 → AIMD 动态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613404" y="58902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低成本找候选，高成本验证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28304" y="53568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第一层有旧数据未接后端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529066" y="5639752"/>
              <a:ext cx="17730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第二层缺 BVSE 可执行文件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529066" y="58302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三四层要外部算力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72" name="TextBox 72"/>
            <p:cNvSpPr txBox="1"/>
            <p:nvPr/>
          </p:nvSpPr>
          <p:spPr>
            <a:xfrm>
              <a:off x="451104" y="6356985"/>
              <a:ext cx="4567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正文｜这些是“打算怎么做和做到哪一步”，不是“已经跑出结果”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93267"/>
            <a:chOff x="441198" y="463868"/>
            <a:chExt cx="11293602" cy="9932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第二轮组合方式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47365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第二代怎样组合描述符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8056" y="1805940"/>
            <a:ext cx="7578547" cy="352044"/>
            <a:chOff x="448056" y="1805940"/>
            <a:chExt cx="7578547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448056" y="1805940"/>
              <a:ext cx="75785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第一轮是“先穷举再挑高分”，第二代是“先按材料意义限制，再组合”。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7200" y="2286000"/>
            <a:ext cx="11277600" cy="2975134"/>
            <a:chOff x="457200" y="2286000"/>
            <a:chExt cx="11277600" cy="2975134"/>
          </a:xfrm>
        </p:grpSpPr>
        <p:sp>
          <p:nvSpPr>
            <p:cNvPr id="8" name="Rectangle 8"/>
            <p:cNvSpPr/>
            <p:nvPr/>
          </p:nvSpPr>
          <p:spPr>
            <a:xfrm>
              <a:off x="457200" y="2286000"/>
              <a:ext cx="19050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12018" y="24450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362200" y="2286000"/>
              <a:ext cx="46482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393206" y="24450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010400" y="2286000"/>
              <a:ext cx="4724400" cy="4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79506" y="24450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第二代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57200" y="32004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57200" y="38862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57200" y="4572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3123" y="275796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怎么搭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08885" y="2736056"/>
              <a:ext cx="1338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列出 7000 多个公式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08885" y="294560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加减乘除任意组合，按分数挑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57085" y="27360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先按材料意义把描述符分成几组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57085" y="294560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每组挑一个代表，只允许有物理意义的组合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3123" y="34437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举个例子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08885" y="3421856"/>
              <a:ext cx="2031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“畸变 × 最长键长 ÷ 目标键长”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08885" y="36314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能算但材料上说不清为什么这么乘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57085" y="342185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局域配位配网络配骨架，每类挑一个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57085" y="36314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看加、乘、除是否说得通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3123" y="41295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量纲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08885" y="41076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不管，只看分数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57085" y="41076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检查：长度加长度可以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57085" y="43172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长度加无量纲数不行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3123" y="48534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08885" y="4831556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容易拼出“高分但材料上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08885" y="5041106"/>
              <a:ext cx="1149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解释不通”的公式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57085" y="4831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组合空间小很多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57085" y="50411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每个组合都有材料解释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5619750"/>
            <a:ext cx="11277600" cy="511111"/>
            <a:chOff x="457200" y="5619750"/>
            <a:chExt cx="11277600" cy="511111"/>
          </a:xfrm>
        </p:grpSpPr>
        <p:sp>
          <p:nvSpPr>
            <p:cNvPr id="37" name="Rectangle 37"/>
            <p:cNvSpPr/>
            <p:nvPr/>
          </p:nvSpPr>
          <p:spPr>
            <a:xfrm>
              <a:off x="457200" y="5619750"/>
              <a:ext cx="11277600" cy="49530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8942" y="57026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还没完全解决：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55342" y="5702618"/>
              <a:ext cx="56657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“试多了撞巧合”的问题仍在，统计上自动去重和嵌套外推验证还没做。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0466" y="592550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第二代在新数据上目前零结果。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42" name="TextBox 42"/>
            <p:cNvSpPr txBox="1"/>
            <p:nvPr/>
          </p:nvSpPr>
          <p:spPr>
            <a:xfrm>
              <a:off x="451104" y="6356985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正文｜先按材料意义限制，再组合；每个留下的组合都有材料解释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349568"/>
            <a:ext cx="11293602" cy="917067"/>
            <a:chOff x="441198" y="349568"/>
            <a:chExt cx="11293602" cy="9170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49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目前状态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50558"/>
              <a:ext cx="379567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目前能说到哪一步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181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8056" y="1520190"/>
            <a:ext cx="9226296" cy="352044"/>
            <a:chOff x="448056" y="1520190"/>
            <a:chExt cx="9226296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448056" y="1520190"/>
              <a:ext cx="92262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框架建起来了，一部分规则在看新数据前冻结了，但统计闭环还有几个必须补的口子。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2000250"/>
            <a:ext cx="3657600" cy="3905250"/>
            <a:chOff x="457200" y="2000250"/>
            <a:chExt cx="3657600" cy="3905250"/>
          </a:xfrm>
        </p:grpSpPr>
        <p:sp>
          <p:nvSpPr>
            <p:cNvPr id="8" name="Rectangle 8"/>
            <p:cNvSpPr/>
            <p:nvPr/>
          </p:nvSpPr>
          <p:spPr>
            <a:xfrm>
              <a:off x="457200" y="2000250"/>
              <a:ext cx="3657600" cy="3905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57200" y="2000250"/>
              <a:ext cx="3657600" cy="4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1218" y="2126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已经能做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9323" y="2662714"/>
              <a:ext cx="1943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41 个描述符的计算入口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866" y="2896552"/>
              <a:ext cx="1600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38 个进入搜索，3 个排除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2866" y="3087052"/>
              <a:ext cx="1947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（1 个别名、2 个永久不可用）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323" y="3443764"/>
              <a:ext cx="23912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扣掉体系差异后的主排序指标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9323" y="3824764"/>
              <a:ext cx="18742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反复换一半样本看候选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866" y="40586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能不能留下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9323" y="4415314"/>
              <a:ext cx="1796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受约束的二/三描述符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2866" y="46491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组合搜索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9323" y="5005864"/>
              <a:ext cx="20465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组合的分体系小样本检查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267200" y="2000250"/>
            <a:ext cx="3657600" cy="3905250"/>
            <a:chOff x="4267200" y="2000250"/>
            <a:chExt cx="3657600" cy="3905250"/>
          </a:xfrm>
        </p:grpSpPr>
        <p:sp>
          <p:nvSpPr>
            <p:cNvPr id="21" name="Rectangle 21"/>
            <p:cNvSpPr/>
            <p:nvPr/>
          </p:nvSpPr>
          <p:spPr>
            <a:xfrm>
              <a:off x="4267200" y="2000250"/>
              <a:ext cx="3657600" cy="39052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267200" y="2000250"/>
              <a:ext cx="36576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11218" y="21269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正在补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89323" y="2662714"/>
              <a:ext cx="18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205 处身份字段没查完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42866" y="2896552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（41 个描述符里）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89323" y="3253264"/>
              <a:ext cx="1701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留一体系验证被删了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42866" y="3487102"/>
              <a:ext cx="2286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必须补回，是谈“跨体系外推”的前提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89323" y="3843814"/>
              <a:ext cx="17277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主检验 p 值现在偏小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42866" y="40776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自由度没按控制列数扣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42866" y="42681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规则已冻结但代码还没改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89323" y="4624864"/>
              <a:ext cx="22188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统计相关簇自动去重没实现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42866" y="48587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阈值定了但没代码用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077200" y="2000250"/>
            <a:ext cx="3657600" cy="3905250"/>
            <a:chOff x="8077200" y="2000250"/>
            <a:chExt cx="3657600" cy="3905250"/>
          </a:xfrm>
        </p:grpSpPr>
        <p:sp>
          <p:nvSpPr>
            <p:cNvPr id="34" name="Rectangle 34"/>
            <p:cNvSpPr/>
            <p:nvPr/>
          </p:nvSpPr>
          <p:spPr>
            <a:xfrm>
              <a:off x="8077200" y="2000250"/>
              <a:ext cx="3657600" cy="390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077200" y="2000250"/>
              <a:ext cx="36576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21218" y="2126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还不能说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229600" y="25717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98942" y="28260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BE5DF"/>
                  </a:solidFill>
                  <a:latin typeface="+mn-lt"/>
                  <a:ea typeface="+mn-ea"/>
                  <a:cs typeface="+mn-cs"/>
                </a:rPr>
                <a:t>第二代在新数据上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98942" y="30737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BE5DF"/>
                  </a:solidFill>
                  <a:latin typeface="+mn-lt"/>
                  <a:ea typeface="+mn-ea"/>
                  <a:cs typeface="+mn-cs"/>
                </a:rPr>
                <a:t>没有任何最终结果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98942" y="3530918"/>
              <a:ext cx="1385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不能说“已经复现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98942" y="3778568"/>
              <a:ext cx="13949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第一代的 0.597”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98942" y="423576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不能说“能预测一个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98942" y="448341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完全没见过的体系”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229600" y="49911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00085" y="51744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FDAD7"/>
                  </a:solidFill>
                  <a:latin typeface="+mn-lt"/>
                  <a:ea typeface="+mn-ea"/>
                  <a:cs typeface="+mn-cs"/>
                </a:rPr>
                <a:t>哪怕最后没有任何描述符通过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00085" y="54030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FDAD7"/>
                  </a:solidFill>
                  <a:latin typeface="+mn-lt"/>
                  <a:ea typeface="+mn-ea"/>
                  <a:cs typeface="+mn-cs"/>
                </a:rPr>
                <a:t>也如实报告，不回头调规则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451104" y="6356985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正文｜区分已经能做、正在补、还不能说的结论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5008" y="349568"/>
            <a:ext cx="11289792" cy="851344"/>
            <a:chOff x="445008" y="349568"/>
            <a:chExt cx="11289792" cy="851344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49568"/>
              <a:ext cx="1142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问答附录 Q1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731520"/>
              <a:ext cx="96724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103 条还是 84 条？A2 和 NaNa 为什么不能跨代对应？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181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449580" y="1476375"/>
            <a:ext cx="11285220" cy="1514475"/>
            <a:chOff x="449580" y="1476375"/>
            <a:chExt cx="11285220" cy="1514475"/>
          </a:xfrm>
        </p:grpSpPr>
        <p:sp>
          <p:nvSpPr>
            <p:cNvPr id="6" name="TextBox 6"/>
            <p:cNvSpPr txBox="1"/>
            <p:nvPr/>
          </p:nvSpPr>
          <p:spPr>
            <a:xfrm>
              <a:off x="449580" y="1476375"/>
              <a:ext cx="42493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第一轮正式数据是 103 条记录、103 个 CIF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1809750"/>
              <a:ext cx="5524500" cy="1181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8942" y="1968818"/>
              <a:ext cx="1721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103 条（正式记录）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9704" y="2270760"/>
              <a:ext cx="2092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Excel 文件名仍叫 _107.xlsx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704" y="2499360"/>
              <a:ext cx="24790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删了 4 个含 Li 结构后实际 103 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9704" y="2727960"/>
              <a:ext cx="22657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文件名没跟着改，但数据是 103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10300" y="1809750"/>
              <a:ext cx="5524500" cy="118110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32042" y="1968818"/>
              <a:ext cx="25707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84 条（历史缓存，不能替代）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32804" y="2270760"/>
              <a:ext cx="2911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第二代目录里的 naconductor_raw.csv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32804" y="2499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是历史输入缓存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32804" y="2727960"/>
              <a:ext cx="279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不能拿来替代第一轮的 103 条正式记录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1104" y="3261360"/>
            <a:ext cx="10542478" cy="234696"/>
            <a:chOff x="451104" y="3261360"/>
            <a:chExt cx="10542478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451104" y="3261360"/>
              <a:ext cx="10542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历史七类分布：NASICON 30、硫化物 41、卤化物 13、氢化物/硼氢化物 14、β-Al₂O₃ 2、反钙钛矿 2、氧化物 1。第二代新研究锁定前三类。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49580" y="3667125"/>
            <a:ext cx="11285220" cy="2295525"/>
            <a:chOff x="449580" y="3667125"/>
            <a:chExt cx="11285220" cy="2295525"/>
          </a:xfrm>
        </p:grpSpPr>
        <p:sp>
          <p:nvSpPr>
            <p:cNvPr id="20" name="TextBox 20"/>
            <p:cNvSpPr txBox="1"/>
            <p:nvPr/>
          </p:nvSpPr>
          <p:spPr>
            <a:xfrm>
              <a:off x="449580" y="3667125"/>
              <a:ext cx="45642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两代 A2 / NaNa：名字像，公式单位聚合都不同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7200" y="3943350"/>
              <a:ext cx="1143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7793" y="4061460"/>
              <a:ext cx="181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600200" y="3943350"/>
              <a:ext cx="49149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97122" y="406146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15100" y="3943350"/>
              <a:ext cx="52197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4422" y="406146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第二代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57200" y="4762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3504" y="438531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47266" y="4363402"/>
              <a:ext cx="14481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全结构最长 Na-X 键长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47266" y="4553902"/>
              <a:ext cx="2975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÷（有效 Na 半径 + 有效阴离子半径），无量纲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2166" y="4363402"/>
              <a:ext cx="2811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a2_max_dist：每个 Na 位点最长键长的均值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2166" y="4553902"/>
              <a:ext cx="2825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 Å，无目标键长分母，非全结构最大值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3504" y="5013960"/>
              <a:ext cx="395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NaNa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47266" y="49920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整批样本做百分位秩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47266" y="5182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换一批材料同结构的值会变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2166" y="49920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单结构上的另一套近似公式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2166" y="51825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不是同一个量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57200" y="5524500"/>
              <a:ext cx="11277600" cy="43815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3885" y="5688806"/>
              <a:ext cx="852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第一代 A2 的历史相关系数 0.597 不能直接算到第二代头上；代码里“已知 Spearman 0.597”的注释是错误沿用，要改。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1866" y="6373178"/>
            <a:ext cx="11288268" cy="205359"/>
            <a:chOff x="451866" y="6373178"/>
            <a:chExt cx="11288268" cy="205359"/>
          </a:xfrm>
        </p:grpSpPr>
        <p:sp>
          <p:nvSpPr>
            <p:cNvPr id="41" name="TextBox 41"/>
            <p:cNvSpPr txBox="1"/>
            <p:nvPr/>
          </p:nvSpPr>
          <p:spPr>
            <a:xfrm>
              <a:off x="451866" y="6373178"/>
              <a:ext cx="39162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 附录｜区分正式主数据和目录缓存；同名量跨代不对应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5008" y="349568"/>
            <a:ext cx="11289792" cy="851344"/>
            <a:chOff x="445008" y="349568"/>
            <a:chExt cx="11289792" cy="851344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49568"/>
              <a:ext cx="1142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问答附录 Q2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731520"/>
              <a:ext cx="54189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0.793 是什么？主程序执行到哪？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181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449580" y="1476375"/>
            <a:ext cx="11285220" cy="1371314"/>
            <a:chOff x="449580" y="1476375"/>
            <a:chExt cx="11285220" cy="1371314"/>
          </a:xfrm>
        </p:grpSpPr>
        <p:sp>
          <p:nvSpPr>
            <p:cNvPr id="6" name="TextBox 6"/>
            <p:cNvSpPr txBox="1"/>
            <p:nvPr/>
          </p:nvSpPr>
          <p:spPr>
            <a:xfrm>
              <a:off x="449580" y="1476375"/>
              <a:ext cx="68770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0.793 是第一代模型预测性能，不是“A2×NaNa 组合描述符的相关系数”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1809750"/>
              <a:ext cx="3657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3504" y="1985010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0.793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3885" y="2259806"/>
              <a:ext cx="1856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第一代 ExtraTrees 模型的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885" y="2469356"/>
              <a:ext cx="1362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交叉验证 Spearman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4647" y="2656999"/>
              <a:ext cx="20176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（A2 + NaNa + SoftBV + Zeo++）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267200" y="1809750"/>
              <a:ext cx="3657600" cy="9906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413504" y="1985010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0.755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13885" y="2259806"/>
              <a:ext cx="15781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 A2 + NaNa 的历史值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13885" y="2469356"/>
              <a:ext cx="10743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（不是 0.793）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77200" y="1809750"/>
              <a:ext cx="3657600" cy="99060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23504" y="1985010"/>
              <a:ext cx="12080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正文不把 0.793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23885" y="22598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当组合描述符结果用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23885" y="25265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是模型预测性能，不是描述符相关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49580" y="3133725"/>
            <a:ext cx="11285220" cy="1971675"/>
            <a:chOff x="449580" y="3133725"/>
            <a:chExt cx="11285220" cy="1971675"/>
          </a:xfrm>
        </p:grpSpPr>
        <p:sp>
          <p:nvSpPr>
            <p:cNvPr id="21" name="TextBox 21"/>
            <p:cNvSpPr txBox="1"/>
            <p:nvPr/>
          </p:nvSpPr>
          <p:spPr>
            <a:xfrm>
              <a:off x="449580" y="3133725"/>
              <a:ext cx="35672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run_pipeline.py 当前执行到 Stage 4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7200" y="3448050"/>
              <a:ext cx="2057400" cy="64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5785" y="3555206"/>
              <a:ext cx="587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Stage 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6166" y="37728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算描述符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547" y="3933349"/>
              <a:ext cx="7835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CIF → 结构量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514600" y="37719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2667000" y="37242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781300" y="3448050"/>
              <a:ext cx="2057400" cy="64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889885" y="3555206"/>
              <a:ext cx="587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Stage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90266" y="3772852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原始相关 + 扣体系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90647" y="39333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差异相关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838700" y="37719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4991100" y="37242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105400" y="3448050"/>
              <a:ext cx="2057400" cy="64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13985" y="3555206"/>
              <a:ext cx="587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Stage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14366" y="37728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半样本稳定性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4747" y="3933349"/>
              <a:ext cx="9136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+ 物理类别代表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162800" y="37719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7315200" y="37242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429500" y="3448050"/>
              <a:ext cx="2057400" cy="64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38085" y="3555206"/>
              <a:ext cx="587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Stage 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38466" y="37728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受约束组合搜索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38847" y="3933349"/>
              <a:ext cx="742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二/三描述符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9486900" y="37719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9639300" y="37242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753600" y="3448050"/>
              <a:ext cx="1981200" cy="64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862185" y="3555206"/>
              <a:ext cx="587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Stage 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62566" y="37728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靠前组合的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62947" y="39333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FDAD7"/>
                  </a:solidFill>
                  <a:latin typeface="+mn-lt"/>
                  <a:ea typeface="+mn-ea"/>
                  <a:cs typeface="+mn-cs"/>
                </a:rPr>
                <a:t>探索性验证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1485" y="4260056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主程序到此为止。以下工具已实现但不是主程序自动调的：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57200" y="4533900"/>
              <a:ext cx="11277600" cy="571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4266" y="4649152"/>
              <a:ext cx="41663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数据校验 ｜ 室温选择 ｜ 等价写法探针 ｜ 数值指纹 ｜ 注册表闸门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4647" y="4885849"/>
              <a:ext cx="38621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可以画“完整研究治理流程”，但要和“一键能跑的主程序”分开说。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51866" y="6373178"/>
            <a:ext cx="11288268" cy="205359"/>
            <a:chOff x="451866" y="6373178"/>
            <a:chExt cx="11288268" cy="205359"/>
          </a:xfrm>
        </p:grpSpPr>
        <p:sp>
          <p:nvSpPr>
            <p:cNvPr id="55" name="TextBox 55"/>
            <p:cNvSpPr txBox="1"/>
            <p:nvPr/>
          </p:nvSpPr>
          <p:spPr>
            <a:xfrm>
              <a:off x="451866" y="6373178"/>
              <a:ext cx="45136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 附录｜区分模型性能与描述符相关；区分主程序与独立审计工具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5008" y="349568"/>
            <a:ext cx="11289792" cy="851344"/>
            <a:chOff x="445008" y="349568"/>
            <a:chExt cx="11289792" cy="851344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49568"/>
              <a:ext cx="1142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问答附录 Q3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731520"/>
              <a:ext cx="50426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为什么统计证据仍是探索性的？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181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8056" y="1520190"/>
            <a:ext cx="9032443" cy="352044"/>
            <a:chOff x="448056" y="1520190"/>
            <a:chExt cx="9032443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448056" y="1520190"/>
              <a:ext cx="90324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当前检查能减少误判，但没覆盖两件事——所以结果标为 exploratory，不能当定论。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2019300"/>
            <a:ext cx="5562600" cy="2152650"/>
            <a:chOff x="457200" y="2019300"/>
            <a:chExt cx="5562600" cy="2152650"/>
          </a:xfrm>
        </p:grpSpPr>
        <p:sp>
          <p:nvSpPr>
            <p:cNvPr id="8" name="Rectangle 8"/>
            <p:cNvSpPr/>
            <p:nvPr/>
          </p:nvSpPr>
          <p:spPr>
            <a:xfrm>
              <a:off x="457200" y="2019300"/>
              <a:ext cx="5562600" cy="2152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2203132"/>
              <a:ext cx="23140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选择不确定性没覆盖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255270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8942" y="2768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整个选择过程试了多少候选，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942" y="30356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没有体现在显著性里。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9704" y="3470910"/>
              <a:ext cx="26049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35 候选 + 7000 多个组合在全样本上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704" y="36995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选和评，试多了必然撞上巧合，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9704" y="392811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但当前 p 值没按这个校正。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72200" y="2019300"/>
            <a:ext cx="5562600" cy="2152650"/>
            <a:chOff x="6172200" y="2019300"/>
            <a:chExt cx="5562600" cy="2152650"/>
          </a:xfrm>
        </p:grpSpPr>
        <p:sp>
          <p:nvSpPr>
            <p:cNvPr id="17" name="Rectangle 17"/>
            <p:cNvSpPr/>
            <p:nvPr/>
          </p:nvSpPr>
          <p:spPr>
            <a:xfrm>
              <a:off x="6172200" y="2019300"/>
              <a:ext cx="5562600" cy="2152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92418" y="2203132"/>
              <a:ext cx="13811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外推未覆盖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400800" y="255270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93942" y="27689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完全没见过的体系能不能预测，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93942" y="30356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当前检查回答不了。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94704" y="34709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扣体系差异只比同类内部高低，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94704" y="36995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不等于证明能预测新体系。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94704" y="39281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跨体系外推是独立的更强要求。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7200" y="4362450"/>
            <a:ext cx="11277600" cy="930211"/>
            <a:chOff x="457200" y="4362450"/>
            <a:chExt cx="11277600" cy="930211"/>
          </a:xfrm>
        </p:grpSpPr>
        <p:sp>
          <p:nvSpPr>
            <p:cNvPr id="26" name="Rectangle 26"/>
            <p:cNvSpPr/>
            <p:nvPr/>
          </p:nvSpPr>
          <p:spPr>
            <a:xfrm>
              <a:off x="457200" y="4362450"/>
              <a:ext cx="11277600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7418" y="4508182"/>
              <a:ext cx="32819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BE5DF"/>
                  </a:solidFill>
                  <a:latin typeface="+mn-lt"/>
                  <a:ea typeface="+mn-ea"/>
                  <a:cs typeface="+mn-cs"/>
                </a:rPr>
                <a:t>关键缺口：留一体系验证被删了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8942" y="4845368"/>
              <a:ext cx="6392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这是能谈“跨体系外推”的前提，必须补回；补齐之前第二代结果不进论文结论。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0466" y="5087302"/>
              <a:ext cx="3565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DAD7"/>
                  </a:solidFill>
                  <a:latin typeface="+mn-lt"/>
                  <a:ea typeface="+mn-ea"/>
                  <a:cs typeface="+mn-cs"/>
                </a:rPr>
                <a:t>同时还有：主检验 p 值的计算方式、统计相关簇自动去重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7200" y="5448300"/>
            <a:ext cx="11277600" cy="600456"/>
            <a:chOff x="457200" y="5448300"/>
            <a:chExt cx="11277600" cy="600456"/>
          </a:xfrm>
        </p:grpSpPr>
        <p:sp>
          <p:nvSpPr>
            <p:cNvPr id="31" name="Rectangle 31"/>
            <p:cNvSpPr/>
            <p:nvPr/>
          </p:nvSpPr>
          <p:spPr>
            <a:xfrm>
              <a:off x="457200" y="5448300"/>
              <a:ext cx="11277600" cy="57150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8180" y="5553075"/>
              <a:ext cx="47010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结论：所有结果标为 exploratory，不能当定论。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9704" y="5814060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哪怕最后没有任何描述符通过，也如实报告，不回头调规则。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51866" y="6373178"/>
            <a:ext cx="11288268" cy="205359"/>
            <a:chOff x="451866" y="6373178"/>
            <a:chExt cx="11288268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451866" y="6373178"/>
              <a:ext cx="4364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 附录｜选择不确定性和外推未覆盖，留一体系验证是关键缺口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5008" y="349568"/>
            <a:ext cx="11289792" cy="851344"/>
            <a:chOff x="445008" y="349568"/>
            <a:chExt cx="11289792" cy="851344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49568"/>
              <a:ext cx="1142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问答附录 Q4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731520"/>
              <a:ext cx="75517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冗余能识别到什么程度？空位探针证明了什么？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181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449580" y="1495425"/>
            <a:ext cx="5494020" cy="3918109"/>
            <a:chOff x="449580" y="1495425"/>
            <a:chExt cx="5494020" cy="3918109"/>
          </a:xfrm>
        </p:grpSpPr>
        <p:sp>
          <p:nvSpPr>
            <p:cNvPr id="6" name="TextBox 6"/>
            <p:cNvSpPr txBox="1"/>
            <p:nvPr/>
          </p:nvSpPr>
          <p:spPr>
            <a:xfrm>
              <a:off x="449580" y="149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冗余识别：从强到弱四层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1485" y="18407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① 精确别名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1866" y="20583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两个入口调同一函数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1866" y="2248852"/>
              <a:ext cx="878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能直接排除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3619500" y="1866900"/>
              <a:ext cx="1714500" cy="476250"/>
            </a:xfrm>
            <a:custGeom>
              <a:avLst/>
              <a:gdLst/>
              <a:ahLst/>
              <a:cxnLst/>
              <a:rect l="l" t="t" r="r" b="b"/>
              <a:pathLst>
                <a:path w="1714500" h="476250">
                  <a:moveTo>
                    <a:pt x="0" y="0"/>
                  </a:moveTo>
                  <a:lnTo>
                    <a:pt x="1714500" y="0"/>
                  </a:lnTo>
                  <a:lnTo>
                    <a:pt x="1524000" y="476250"/>
                  </a:lnTo>
                  <a:lnTo>
                    <a:pt x="190500" y="476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174579" y="20583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精确别名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57200" y="253365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1485" y="2640806"/>
              <a:ext cx="1095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② 共用底层计算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1866" y="2858452"/>
              <a:ext cx="20935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 个描述符共用 Na-X 壳层规则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866" y="30489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能标记同源风险，不能断言数值重复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3810000" y="2628900"/>
              <a:ext cx="1333500" cy="476250"/>
            </a:xfrm>
            <a:custGeom>
              <a:avLst/>
              <a:gdLst/>
              <a:ahLst/>
              <a:cxnLst/>
              <a:rect l="l" t="t" r="r" b="b"/>
              <a:pathLst>
                <a:path w="1333500" h="476250">
                  <a:moveTo>
                    <a:pt x="0" y="0"/>
                  </a:moveTo>
                  <a:lnTo>
                    <a:pt x="1333500" y="0"/>
                  </a:lnTo>
                  <a:lnTo>
                    <a:pt x="1143000" y="476250"/>
                  </a:lnTo>
                  <a:lnTo>
                    <a:pt x="190500" y="476250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174579" y="28203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同源计算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57200" y="329565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1485" y="3402806"/>
              <a:ext cx="1570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 同数学形式不同中心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1866" y="3620452"/>
              <a:ext cx="1601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 侧畸变 vs 骨架侧畸变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1866" y="38109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是同类量，不是别名</a:t>
              </a:r>
            </a:p>
          </p:txBody>
        </p:sp>
        <p:sp>
          <p:nvSpPr>
            <p:cNvPr id="22" name="Polygon 22"/>
            <p:cNvSpPr/>
            <p:nvPr/>
          </p:nvSpPr>
          <p:spPr>
            <a:xfrm>
              <a:off x="4000500" y="339090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0"/>
                  </a:moveTo>
                  <a:lnTo>
                    <a:pt x="952500" y="0"/>
                  </a:lnTo>
                  <a:lnTo>
                    <a:pt x="762000" y="476250"/>
                  </a:lnTo>
                  <a:lnTo>
                    <a:pt x="190500" y="476250"/>
                  </a:lnTo>
                  <a:close/>
                </a:path>
              </a:pathLst>
            </a:cu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48788" y="358235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同类量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57200" y="405765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1485" y="41648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④ 数据相关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1866" y="43824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新数据上取值高度相关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1866" y="45729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自动去重没实现，要等数据到位</a:t>
              </a:r>
            </a:p>
          </p:txBody>
        </p:sp>
        <p:sp>
          <p:nvSpPr>
            <p:cNvPr id="28" name="Polygon 28"/>
            <p:cNvSpPr/>
            <p:nvPr/>
          </p:nvSpPr>
          <p:spPr>
            <a:xfrm>
              <a:off x="4191000" y="4152900"/>
              <a:ext cx="571500" cy="476250"/>
            </a:xfrm>
            <a:custGeom>
              <a:avLst/>
              <a:gdLst/>
              <a:ahLst/>
              <a:cxnLst/>
              <a:rect l="l" t="t" r="r" b="b"/>
              <a:pathLst>
                <a:path w="571500" h="476250">
                  <a:moveTo>
                    <a:pt x="0" y="0"/>
                  </a:moveTo>
                  <a:lnTo>
                    <a:pt x="571500" y="0"/>
                  </a:lnTo>
                  <a:lnTo>
                    <a:pt x="381000" y="476250"/>
                  </a:lnTo>
                  <a:lnTo>
                    <a:pt x="190500" y="476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322997" y="43443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相关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57200" y="4857750"/>
              <a:ext cx="54864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504" y="4975860"/>
              <a:ext cx="1555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能说“哪里可能重复”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3885" y="5193506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不能说“最终候选已经完全去重”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393180" y="1495425"/>
            <a:ext cx="5341620" cy="4406836"/>
            <a:chOff x="6393180" y="1495425"/>
            <a:chExt cx="5341620" cy="4406836"/>
          </a:xfrm>
        </p:grpSpPr>
        <p:sp>
          <p:nvSpPr>
            <p:cNvPr id="34" name="TextBox 34"/>
            <p:cNvSpPr txBox="1"/>
            <p:nvPr/>
          </p:nvSpPr>
          <p:spPr>
            <a:xfrm>
              <a:off x="6393180" y="1495425"/>
              <a:ext cx="25701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occupancy_split 空位探针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95466" y="1810702"/>
              <a:ext cx="265099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操作：满占非 Na 位点拆成两个各 0.5 占位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的同种元素位点——同一晶体，CIF 写法不同。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00800" y="2343150"/>
              <a:ext cx="5334000" cy="1695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22542" y="24831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证明了什么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629400" y="27432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23304" y="2899410"/>
              <a:ext cx="2231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部分描述符会受等价 CIF 占位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23304" y="31280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写法影响：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23685" y="34218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多面体畸变、平均键长、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23685" y="3631406"/>
              <a:ext cx="162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 浓度、部分占位比例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24066" y="3849052"/>
              <a:ext cx="2025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部分描述符对 CIF 写法敏感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00800" y="4152900"/>
              <a:ext cx="5334000" cy="171450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22542" y="42929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没证明什么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629400" y="45529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23304" y="4709160"/>
              <a:ext cx="1407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 空位的实验真值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23304" y="4956810"/>
              <a:ext cx="1937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CIF 没报告的潜在 Na 位点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23304" y="5204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热平衡空位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23304" y="5452110"/>
              <a:ext cx="25465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pymatgen 识别真实 Na 空位准确率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24066" y="5696902"/>
              <a:ext cx="2704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不能说“已实证 pymatgen 找空位不准”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51866" y="6373178"/>
            <a:ext cx="11288268" cy="205359"/>
            <a:chOff x="451866" y="6373178"/>
            <a:chExt cx="11288268" cy="205359"/>
          </a:xfrm>
        </p:grpSpPr>
        <p:sp>
          <p:nvSpPr>
            <p:cNvPr id="53" name="TextBox 53"/>
            <p:cNvSpPr txBox="1"/>
            <p:nvPr/>
          </p:nvSpPr>
          <p:spPr>
            <a:xfrm>
              <a:off x="451866" y="6373178"/>
              <a:ext cx="58577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 附录｜冗余从别名到数据相关四层；探针证明 CIF 写法敏感，不等于测了空位准确率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5008" y="349568"/>
            <a:ext cx="11289792" cy="851344"/>
            <a:chOff x="445008" y="349568"/>
            <a:chExt cx="11289792" cy="851344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49568"/>
              <a:ext cx="1142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问答附录 Q5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731520"/>
              <a:ext cx="83044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低成本空位方案缺在哪？“扣体系差异”准确指什么？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181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450342" y="1473518"/>
            <a:ext cx="5493258" cy="4431982"/>
            <a:chOff x="450342" y="1473518"/>
            <a:chExt cx="5493258" cy="4431982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473518"/>
              <a:ext cx="32901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空位分层：几何 → 键价 → DFT → AIMD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1866" y="1715452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低成本找候选，高成本验证。能设计，但不能说已经在二代跑通。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57200" y="1962150"/>
              <a:ext cx="54864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3123" y="2091214"/>
              <a:ext cx="36117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第一层：几何空腔（Zeo++，不用 Na 坐标）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885" y="2374106"/>
              <a:ext cx="3636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旧 103 条有预计算列，但二代没接 Zeo++ 可执行后端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4266" y="2572702"/>
              <a:ext cx="35709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二代 D' 族间隙点用 SciPy Voronoi 近似，不等于 Zeo++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57200" y="2857500"/>
              <a:ext cx="54864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3123" y="2986564"/>
              <a:ext cx="35938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第二层：键价能量（BVSE，不用 Na 坐标）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3885" y="3269456"/>
              <a:ext cx="3446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SoftBV 批处理脚本在仓库里，但要外部 softBV.x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4266" y="3468052"/>
              <a:ext cx="29678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二代注册的 BVSE 能垒入口当前永远返回空值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" y="3752850"/>
              <a:ext cx="5486400" cy="7048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3123" y="3881914"/>
              <a:ext cx="15327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第三层：DFT 静态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3885" y="41648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要外部算力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7200" y="4552950"/>
              <a:ext cx="5486400" cy="7048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3123" y="4682014"/>
              <a:ext cx="16283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第四层：AIMD 动态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3885" y="49649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要外部算力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7200" y="5372100"/>
              <a:ext cx="5486400" cy="53340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3885" y="5479256"/>
              <a:ext cx="34154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“几何候选 → 键价筛选 → 少量 DFT/AIMD 验证”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4266" y="569690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这条分层路线能设计，但不能说已经在二代跑通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393942" y="1473518"/>
            <a:ext cx="5340858" cy="4451032"/>
            <a:chOff x="6393942" y="1473518"/>
            <a:chExt cx="5340858" cy="4451032"/>
          </a:xfrm>
        </p:grpSpPr>
        <p:sp>
          <p:nvSpPr>
            <p:cNvPr id="26" name="TextBox 26"/>
            <p:cNvSpPr txBox="1"/>
            <p:nvPr/>
          </p:nvSpPr>
          <p:spPr>
            <a:xfrm>
              <a:off x="6393942" y="1473518"/>
              <a:ext cx="21318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“扣体系差异”准确指什么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00800" y="1771650"/>
              <a:ext cx="53340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47104" y="1908810"/>
              <a:ext cx="30568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主量：rank_corr_of_linear_residuals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94704" y="23279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它做什么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95085" y="2621756"/>
              <a:ext cx="1647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体系类别转成分组控制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95085" y="2869406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只保留体系之外还能提供独立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23685" y="30789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信息的阴离子对比列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95085" y="3326606"/>
              <a:ext cx="2265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分别从描述符 X 和电导率 Y 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23685" y="35361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扣除控制能线性解释的部分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95085" y="3783806"/>
              <a:ext cx="1643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 对剩余量算 Spearman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400800" y="40957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94704" y="42519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它不是什么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95085" y="45458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不是先排名再扣控制的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23685" y="4755356"/>
              <a:ext cx="16081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标准 partial Spearman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95085" y="5003006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叫“线性残差的秩相关”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00800" y="5295900"/>
              <a:ext cx="5334000" cy="62865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47485" y="5422106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它不能自动扣：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47485" y="565070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致密度、烧结条件、测试方法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1866" y="6373178"/>
            <a:ext cx="11288268" cy="205359"/>
            <a:chOff x="451866" y="6373178"/>
            <a:chExt cx="112882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451866" y="6373178"/>
              <a:ext cx="55355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 附录｜分层空位各层当前状态；主量是线性残差秩相关不是标准 partial Spearman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349568"/>
            <a:ext cx="11293602" cy="917067"/>
            <a:chOff x="441198" y="349568"/>
            <a:chExt cx="11293602" cy="9170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49568"/>
              <a:ext cx="1142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问答附录 Q6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50558"/>
              <a:ext cx="42661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下一步怎样验证才够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181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8056" y="1539240"/>
            <a:ext cx="7045452" cy="352044"/>
            <a:chOff x="448056" y="1539240"/>
            <a:chExt cx="7045452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448056" y="1539240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冗余和空位都要从低成本线索逐层走向更强证据，同时补三道门。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7200" y="2038350"/>
            <a:ext cx="11277600" cy="1714500"/>
            <a:chOff x="457200" y="2038350"/>
            <a:chExt cx="11277600" cy="1714500"/>
          </a:xfrm>
        </p:grpSpPr>
        <p:sp>
          <p:nvSpPr>
            <p:cNvPr id="8" name="Rectangle 8"/>
            <p:cNvSpPr/>
            <p:nvPr/>
          </p:nvSpPr>
          <p:spPr>
            <a:xfrm>
              <a:off x="457200" y="2038350"/>
              <a:ext cx="55245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180" y="22002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冗余验证：逐层走向更强证据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253365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323" y="2700814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精确别名 → 共用底层计算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9323" y="2986564"/>
              <a:ext cx="17102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同数学形式不同中心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9323" y="3272314"/>
              <a:ext cx="2571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新数据上取值高度相关（待做）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0466" y="35252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最后一步要等数据到位做相关簇分析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10300" y="2038350"/>
              <a:ext cx="55245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31280" y="22002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空位验证：逐层走向更强证据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438900" y="253365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32423" y="270081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几何空腔 → 键价能量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32423" y="2986564"/>
              <a:ext cx="19064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DFT 静态 → AIMD 动态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32423" y="32723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低成本找候选，高成本验证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33566" y="352520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前两层当前缺后端，三四层要外部算力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49580" y="4029075"/>
            <a:ext cx="11285220" cy="1438275"/>
            <a:chOff x="449580" y="4029075"/>
            <a:chExt cx="11285220" cy="1438275"/>
          </a:xfrm>
        </p:grpSpPr>
        <p:sp>
          <p:nvSpPr>
            <p:cNvPr id="23" name="TextBox 23"/>
            <p:cNvSpPr txBox="1"/>
            <p:nvPr/>
          </p:nvSpPr>
          <p:spPr>
            <a:xfrm>
              <a:off x="449580" y="40290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同时补三道门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57200" y="4324350"/>
              <a:ext cx="365760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2742" y="4483418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门一：主检验 p 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885" y="47744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FDAD7"/>
                  </a:solidFill>
                  <a:latin typeface="+mn-lt"/>
                  <a:ea typeface="+mn-ea"/>
                  <a:cs typeface="+mn-cs"/>
                </a:rPr>
                <a:t>现在偏小，自由度没按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3885" y="49839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FDAD7"/>
                  </a:solidFill>
                  <a:latin typeface="+mn-lt"/>
                  <a:ea typeface="+mn-ea"/>
                  <a:cs typeface="+mn-cs"/>
                </a:rPr>
                <a:t>控制列数扣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4266" y="52397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BE5DF"/>
                  </a:solidFill>
                  <a:latin typeface="+mn-lt"/>
                  <a:ea typeface="+mn-ea"/>
                  <a:cs typeface="+mn-cs"/>
                </a:rPr>
                <a:t>规则已冻结，代码还没改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67200" y="4324350"/>
              <a:ext cx="365760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412742" y="4483418"/>
              <a:ext cx="1921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门二：相关簇自动去重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13885" y="47744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FDAD7"/>
                  </a:solidFill>
                  <a:latin typeface="+mn-lt"/>
                  <a:ea typeface="+mn-ea"/>
                  <a:cs typeface="+mn-cs"/>
                </a:rPr>
                <a:t>阈值定了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13885" y="49839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FDAD7"/>
                  </a:solidFill>
                  <a:latin typeface="+mn-lt"/>
                  <a:ea typeface="+mn-ea"/>
                  <a:cs typeface="+mn-cs"/>
                </a:rPr>
                <a:t>但没代码用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14266" y="52397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BE5DF"/>
                  </a:solidFill>
                  <a:latin typeface="+mn-lt"/>
                  <a:ea typeface="+mn-ea"/>
                  <a:cs typeface="+mn-cs"/>
                </a:rPr>
                <a:t>要等数据到位实现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77200" y="4324350"/>
              <a:ext cx="365760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22742" y="44834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门三：留一体系验证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23885" y="47744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BE5DF"/>
                  </a:solidFill>
                  <a:latin typeface="+mn-lt"/>
                  <a:ea typeface="+mn-ea"/>
                  <a:cs typeface="+mn-cs"/>
                </a:rPr>
                <a:t>被删了，必须补回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23885" y="4983956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BE5DF"/>
                  </a:solidFill>
                  <a:latin typeface="+mn-lt"/>
                  <a:ea typeface="+mn-ea"/>
                  <a:cs typeface="+mn-cs"/>
                </a:rPr>
                <a:t>是谈“跨体系外推”的前提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4266" y="52397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最关键的缺口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5695950"/>
            <a:ext cx="11277600" cy="457200"/>
            <a:chOff x="457200" y="5695950"/>
            <a:chExt cx="11277600" cy="457200"/>
          </a:xfrm>
        </p:grpSpPr>
        <p:sp>
          <p:nvSpPr>
            <p:cNvPr id="40" name="Rectangle 40"/>
            <p:cNvSpPr/>
            <p:nvPr/>
          </p:nvSpPr>
          <p:spPr>
            <a:xfrm>
              <a:off x="457200" y="5695950"/>
              <a:ext cx="112776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074128" y="5819775"/>
              <a:ext cx="4043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这三道补齐之前，第二代结果不进论文结论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1866" y="6373178"/>
            <a:ext cx="11288268" cy="205359"/>
            <a:chOff x="451866" y="6373178"/>
            <a:chExt cx="1128826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451866" y="6373178"/>
              <a:ext cx="349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 附录｜分层证据 + 三道门；补齐前结果不进结论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12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两代描述符筛选阶段性汇报">
  <a:themeElements>
    <a:clrScheme name="两代描述符筛选阶段性汇报">
      <a:dk1>
        <a:srgbClr val="182229"/>
      </a:dk1>
      <a:lt1>
        <a:srgbClr val="FFFFFF"/>
      </a:lt1>
      <a:dk2>
        <a:srgbClr val="1F497D"/>
      </a:dk2>
      <a:lt2>
        <a:srgbClr val="EFF3F1"/>
      </a:lt2>
      <a:accent1>
        <a:srgbClr val="113B4A"/>
      </a:accent1>
      <a:accent2>
        <a:srgbClr val="C75B39"/>
      </a:accent2>
      <a:accent3>
        <a:srgbClr val="2E7D6E"/>
      </a:accent3>
      <a:accent4>
        <a:srgbClr val="113B4A"/>
      </a:accent4>
      <a:accent5>
        <a:srgbClr val="CFDAD7"/>
      </a:accent5>
      <a:accent6>
        <a:srgbClr val="647176"/>
      </a:accent6>
      <a:hlink>
        <a:srgbClr val="C75B39"/>
      </a:hlink>
      <a:folHlink>
        <a:srgbClr val="2E7D6E"/>
      </a:folHlink>
    </a:clrScheme>
    <a:fontScheme name="两代描述符筛选阶段性汇报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两代描述符筛选阶段性汇报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2888</Words>
  <Application>Microsoft Office PowerPoint</Application>
  <PresentationFormat>宽屏</PresentationFormat>
  <Paragraphs>358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4" baseType="lpstr">
      <vt:lpstr>Arial</vt:lpstr>
      <vt:lpstr>两代描述符筛选阶段性汇报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Wang Zhangyin(21C LAB)</cp:lastModifiedBy>
  <cp:revision>2</cp:revision>
  <dcterms:created xsi:type="dcterms:W3CDTF">2026-08-16T10:11:38Z</dcterms:created>
  <dcterms:modified xsi:type="dcterms:W3CDTF">2026-08-17T12:59:32Z</dcterms:modified>
  <cp:category/>
  <cp:contentStatus/>
  <dc:language/>
</cp:coreProperties>
</file>