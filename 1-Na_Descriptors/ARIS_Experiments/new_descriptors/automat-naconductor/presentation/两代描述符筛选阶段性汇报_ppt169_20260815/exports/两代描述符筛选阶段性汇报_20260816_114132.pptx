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  <Relationship Id="rId20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今天我不先报一个最高相关系数，因为找到高分并不是这项工作的难点。真正困难的是确认这个高分反映了材料结构本身，而不是材料体系、测量口径或者晶体文件写法。第二轮的目标因此不只是继续找高分，而是逐步排除会制造假象的来源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第一轮正式分析的是 103 条材料记录和 103 个对应的 CIF，流程已经从结构计算跑到候选比较、重复抽样和分组检查。它足够支持方法探索，但跨文献的 total/bulk、晶界、致密度、温度和测试方法并不完全统一，所以第一轮结果更适合作为候选方向，而不是最终材料规律。第二轮扩大数据集上的最终搜索结果目前还没有形成。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第一轮不是一个单独算法直接给出答案，而是几个环节各有分工：结构计算把 CIF 变成局域配位、Na 网络、骨架和组成等可比较的量；单项比较和简单预测先看这些量是否与电导率同向；组合环节检查不同结构信息能否互补；反复换样本检查结果是否依赖偶然材料；按材料类别留出则是对迁移性的初步检查。这样做的价值，是先建立从结构到候选的完整路径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描述符重复和空位识别看似不同，实际上都在追问信息来源。对描述符，第二轮先查是否是同一个计算，再查是否共享结构输入，最后用新数据看数值是否高度相似；对空位，则把证据分成文件占位、几何空腔、能量或动态验证三层。当前程序可以先筛出可能的几何位置，但完整的高层验证尚未自动接入，所以要把线索和结论分开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如果硫化物整体电导率较高，而某个结构量也整体较高，把所有材料混在一起就可能得到假相关。第二轮先在 NASICON、硫化物和卤化物内部比较，再扣除各体系共同的整体起点，最后看剩余的排序是否仍然同向。这个步骤能减少体系身份的影响，但不能自动消除致密度、烧结条件和测试方法的差异。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第一轮先产生较多表达式，再按分数排序，优点是探索快，风险是同一结构信息可能被重复使用，公式也可能难以解释。第二轮先按局域配位、Na 网络、骨架或组成等材料角色分组，每类选代表量，只保留含义清楚、量纲自洽的组合，并且每次换一半材料重新筛选。这样候选更少、重复信息更少、材料解释更清楚，但仍属于探索性筛选。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现在已经能在材料体系内部比较结构量与电导率的排序，反复换一半材料观察候选稳定性，并按材料角色限制组合。正在补齐的是描述符公式、单位、来源、等价写法和数值相关的核对。现在还不能说第二轮已经找到最终候选，也不能说高分一定能解释完全没见过的新体系，更不能把 CIF 占位直接等同于真实 Na 空位。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第一轮正式口径是主表 103 条记录和 103 个 CIF。`automat-naconductor/data/` 里的 84 条原始输入和 84 条特征缓存属于旧目录中的历史输入，不能替代第一轮正式数据，也不能当作扩大后的第二轮最终数据。准确说法是第二轮尚无扩大数据集上的最终搜索结果。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第一代 A2 是全结构最长 Na–X 键长除以有效 Na 半径与有效阴离子半径之和，取全结构最大值；第二代 `a2_max_dist` 是每个 Na 位点最长键长的均值，没有目标键长分母。第一代 NaNa 依赖整批样本的百分位秩，第二代 `nana_composite` 是另一套单结构近似，因此两个版本不能按名称直接对应，旧相关性也不能直接搬到新变量。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0.793 是第一代 ExtraTrees 使用 A2、NaNa、SoftBV 和 Zeo++ 基线后的交叉验证 Spearman，是模型预测性能，不是 `A2×NaNa` 单一描述符的相关系数；只用 A2 与 NaNa 网络量时历史值为 0.755。41→38 表示注册入口中去掉一个兼容别名和两个当前不可用入口后，剩下可进入搜索的数量，实际比较还会受到数据覆盖率影响。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当前主程序按五步运行：计算描述符并形成覆盖率表，计算原始和扣除体系差异后的排序相关，反复抽取一半材料做稳定性选择，搜索受类别与量纲约束的二元或三元组合，再对靠前组合做分体系小样本检查。数据字段校验、室温值选择、等价 CIF 写法探针、数值指纹和注册表检查是独立工具，目前不是每次主程序运行都会自动调用的步骤。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当前主量是线性残差的排序相关：先扣除体系控制项能够解释的部分，再比较两组残差的排序，它不是标准定义下的偏 Spearman。主检验的显著性、多重比较和真正留出一个体系的外推仍需补齐；占位探针检验的是等价 CIF 写法是否改变描述符，也不能直接证明真实 Na 空位识别的准确率。因此现阶段的高分只能作为继续验证的线索。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下一步先排除精确别名，再检查共同结构输入，最后在新数据中识别数值相关簇；空位则从几何候选走向键价或能量筛选，再用少量 DFT/AIMD 做动态验证。还需要修正主检验显著性、实现相关簇选择并补回真正的体系外推。当前没有可直接运行的 Zeo++ 后端，BVSE 入口也没有有效输出，所以这是一条待完成的证据路线，不是已经完成的能力。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两代描述符筛选阶段性汇报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两代描述符筛选阶段性汇报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1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3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41198" y="425768"/>
            <a:ext cx="11293602" cy="1050417"/>
            <a:chOff x="441198" y="425768"/>
            <a:chExt cx="11293602" cy="1050417"/>
          </a:xfrm>
        </p:grpSpPr>
        <p:sp>
          <p:nvSpPr>
            <p:cNvPr id="2" name="TextBox 2"/>
            <p:cNvSpPr txBox="1"/>
            <p:nvPr/>
          </p:nvSpPr>
          <p:spPr>
            <a:xfrm>
              <a:off x="450342" y="425768"/>
              <a:ext cx="28760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阶段性工作汇报｜两轮描述符筛选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860108"/>
              <a:ext cx="708888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高分不难，难的是知道它为什么高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457200" y="14287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445770" y="2157412"/>
            <a:ext cx="4793456" cy="2553272"/>
            <a:chOff x="445770" y="2157412"/>
            <a:chExt cx="4793456" cy="2553272"/>
          </a:xfrm>
        </p:grpSpPr>
        <p:sp>
          <p:nvSpPr>
            <p:cNvPr id="6" name="TextBox 6"/>
            <p:cNvSpPr txBox="1"/>
            <p:nvPr/>
          </p:nvSpPr>
          <p:spPr>
            <a:xfrm>
              <a:off x="445770" y="2157412"/>
              <a:ext cx="415737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找到一个高分描述符并不难。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45770" y="2614612"/>
              <a:ext cx="479345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难的是确认它反映的是材料结构。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48056" y="3215640"/>
              <a:ext cx="31683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本次汇报关注三个材料问题：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48056" y="3634740"/>
              <a:ext cx="29260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不同体系中是否仍然成立？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48056" y="3996690"/>
              <a:ext cx="34107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拿掉体系差异后是否仍然同向？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48056" y="4358640"/>
              <a:ext cx="365302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名字、公式和实际计算是否一致？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7629978" y="2197418"/>
            <a:ext cx="3866243" cy="2898267"/>
            <a:chOff x="7629978" y="2197418"/>
            <a:chExt cx="3866243" cy="2898267"/>
          </a:xfrm>
        </p:grpSpPr>
        <p:sp>
          <p:nvSpPr>
            <p:cNvPr id="13" name="TextBox 13"/>
            <p:cNvSpPr txBox="1"/>
            <p:nvPr/>
          </p:nvSpPr>
          <p:spPr>
            <a:xfrm>
              <a:off x="7689342" y="2197418"/>
              <a:ext cx="26852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一个高相关，可能混进三种来源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7696200" y="2571750"/>
              <a:ext cx="2857500" cy="4762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916418" y="26984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材料体系差异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10553700" y="2809875"/>
              <a:ext cx="495300" cy="9525"/>
            </a:xfrm>
            <a:custGeom>
              <a:avLst/>
              <a:gdLst/>
              <a:ahLst/>
              <a:cxnLst/>
              <a:rect l="l" t="t" r="r" b="b"/>
              <a:pathLst>
                <a:path w="495300" h="9525">
                  <a:moveTo>
                    <a:pt x="0" y="0"/>
                  </a:moveTo>
                  <a:lnTo>
                    <a:pt x="49530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7696200" y="3276600"/>
              <a:ext cx="2857500" cy="4762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916418" y="340328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测量口径差异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10553700" y="3514725"/>
              <a:ext cx="495300" cy="9525"/>
            </a:xfrm>
            <a:custGeom>
              <a:avLst/>
              <a:gdLst/>
              <a:ahLst/>
              <a:cxnLst/>
              <a:rect l="l" t="t" r="r" b="b"/>
              <a:pathLst>
                <a:path w="495300" h="9525">
                  <a:moveTo>
                    <a:pt x="0" y="0"/>
                  </a:moveTo>
                  <a:lnTo>
                    <a:pt x="49530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7696200" y="3981450"/>
              <a:ext cx="2857500" cy="476250"/>
            </a:xfrm>
            <a:prstGeom prst="rect">
              <a:avLst/>
            </a:prstGeom>
            <a:solidFill>
              <a:srgbClr val="FBE5D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916418" y="4108132"/>
              <a:ext cx="135453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CIF 写法差异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11049000" y="2809875"/>
              <a:ext cx="9525" cy="704850"/>
            </a:xfrm>
            <a:custGeom>
              <a:avLst/>
              <a:gdLst/>
              <a:ahLst/>
              <a:cxnLst/>
              <a:rect l="l" t="t" r="r" b="b"/>
              <a:pathLst>
                <a:path w="9525" h="704850">
                  <a:moveTo>
                    <a:pt x="0" y="0"/>
                  </a:moveTo>
                  <a:lnTo>
                    <a:pt x="0" y="70485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11049000" y="3514725"/>
              <a:ext cx="9525" cy="704850"/>
            </a:xfrm>
            <a:custGeom>
              <a:avLst/>
              <a:gdLst/>
              <a:ahLst/>
              <a:cxnLst/>
              <a:rect l="l" t="t" r="r" b="b"/>
              <a:pathLst>
                <a:path w="9525" h="704850">
                  <a:moveTo>
                    <a:pt x="0" y="0"/>
                  </a:moveTo>
                  <a:lnTo>
                    <a:pt x="0" y="70485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10953750" y="4124325"/>
              <a:ext cx="190500" cy="19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9978" y="4479608"/>
              <a:ext cx="386624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高相关 ≠ 结构规律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51104" y="6356985"/>
            <a:ext cx="11289030" cy="234696"/>
            <a:chOff x="451104" y="6356985"/>
            <a:chExt cx="11289030" cy="234696"/>
          </a:xfrm>
        </p:grpSpPr>
        <p:sp>
          <p:nvSpPr>
            <p:cNvPr id="27" name="TextBox 27"/>
            <p:cNvSpPr txBox="1"/>
            <p:nvPr/>
          </p:nvSpPr>
          <p:spPr>
            <a:xfrm>
              <a:off x="451104" y="6356985"/>
              <a:ext cx="30815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材料筛选中的问题，推动了两轮方法的差别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255940" y="637317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01 / 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41198" y="330518"/>
            <a:ext cx="11293602" cy="936117"/>
            <a:chOff x="441198" y="330518"/>
            <a:chExt cx="11293602" cy="936117"/>
          </a:xfrm>
        </p:grpSpPr>
        <p:sp>
          <p:nvSpPr>
            <p:cNvPr id="2" name="TextBox 2"/>
            <p:cNvSpPr txBox="1"/>
            <p:nvPr/>
          </p:nvSpPr>
          <p:spPr>
            <a:xfrm>
              <a:off x="450342" y="330518"/>
              <a:ext cx="13685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01｜第一轮数据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650558"/>
              <a:ext cx="661842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第一轮数据集现在是什么情况？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457200" y="12001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457200" y="1809750"/>
            <a:ext cx="4191000" cy="3115056"/>
            <a:chOff x="457200" y="1809750"/>
            <a:chExt cx="4191000" cy="3115056"/>
          </a:xfrm>
        </p:grpSpPr>
        <p:sp>
          <p:nvSpPr>
            <p:cNvPr id="6" name="Rectangle 6"/>
            <p:cNvSpPr/>
            <p:nvPr/>
          </p:nvSpPr>
          <p:spPr>
            <a:xfrm>
              <a:off x="457200" y="1809750"/>
              <a:ext cx="4191000" cy="3105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73430" y="2200275"/>
              <a:ext cx="19234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第一轮正式数据口径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0" y="2636520"/>
              <a:ext cx="2108119" cy="1619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103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10006" y="380619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条材料记录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10006" y="4168140"/>
              <a:ext cx="28986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对应 103 个 CIF 结构文件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781050" y="4591050"/>
              <a:ext cx="3505200" cy="9525"/>
            </a:xfrm>
            <a:custGeom>
              <a:avLst/>
              <a:gdLst/>
              <a:ahLst/>
              <a:cxnLst/>
              <a:rect l="l" t="t" r="r" b="b"/>
              <a:pathLst>
                <a:path w="3505200" h="9525">
                  <a:moveTo>
                    <a:pt x="0" y="0"/>
                  </a:moveTo>
                  <a:lnTo>
                    <a:pt x="350520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74954" y="4690110"/>
              <a:ext cx="25968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第一轮筛选已在这套数据上完整运行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324856" y="2069782"/>
            <a:ext cx="6409944" cy="2786063"/>
            <a:chOff x="5324856" y="2069782"/>
            <a:chExt cx="6409944" cy="2786063"/>
          </a:xfrm>
        </p:grpSpPr>
        <p:sp>
          <p:nvSpPr>
            <p:cNvPr id="14" name="TextBox 14"/>
            <p:cNvSpPr txBox="1"/>
            <p:nvPr/>
          </p:nvSpPr>
          <p:spPr>
            <a:xfrm>
              <a:off x="5325618" y="2069782"/>
              <a:ext cx="23490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这套数据能支持什么？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5334000" y="2419350"/>
              <a:ext cx="6400800" cy="9525"/>
            </a:xfrm>
            <a:custGeom>
              <a:avLst/>
              <a:gdLst/>
              <a:ahLst/>
              <a:cxnLst/>
              <a:rect l="l" t="t" r="r" b="b"/>
              <a:pathLst>
                <a:path w="6400800" h="9525">
                  <a:moveTo>
                    <a:pt x="0" y="0"/>
                  </a:moveTo>
                  <a:lnTo>
                    <a:pt x="64008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324856" y="268224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可以做探索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326380" y="3057525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比较不同结构量与室温钠离子电导率的关系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326380" y="340042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观察哪些结构方向值得继续研究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324856" y="3844290"/>
              <a:ext cx="20537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还不能直接下结论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326380" y="4219575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样本量有限，跨文献测量口径也不完全一致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326380" y="4562475"/>
              <a:ext cx="4053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本次重点是方法升级，不报告第二轮最终候选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457200" y="5257800"/>
            <a:ext cx="11277600" cy="609600"/>
            <a:chOff x="457200" y="5257800"/>
            <a:chExt cx="11277600" cy="609600"/>
          </a:xfrm>
        </p:grpSpPr>
        <p:sp>
          <p:nvSpPr>
            <p:cNvPr id="23" name="Rectangle 23"/>
            <p:cNvSpPr/>
            <p:nvPr/>
          </p:nvSpPr>
          <p:spPr>
            <a:xfrm>
              <a:off x="457200" y="5257800"/>
              <a:ext cx="11277600" cy="609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2499368" y="5454015"/>
              <a:ext cx="719326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下一步要问的不是“还能不能继续算”，而是“算出来能不能相信”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451104" y="6356985"/>
            <a:ext cx="11289030" cy="234696"/>
            <a:chOff x="451104" y="6356985"/>
            <a:chExt cx="11289030" cy="234696"/>
          </a:xfrm>
        </p:grpSpPr>
        <p:sp>
          <p:nvSpPr>
            <p:cNvPr id="26" name="TextBox 26"/>
            <p:cNvSpPr txBox="1"/>
            <p:nvPr/>
          </p:nvSpPr>
          <p:spPr>
            <a:xfrm>
              <a:off x="451104" y="6356985"/>
              <a:ext cx="30815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正文｜先说清楚第一轮结果所处的数据边界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255940" y="637317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02 / 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41198" y="330518"/>
            <a:ext cx="11293602" cy="936117"/>
            <a:chOff x="441198" y="330518"/>
            <a:chExt cx="11293602" cy="936117"/>
          </a:xfrm>
        </p:grpSpPr>
        <p:sp>
          <p:nvSpPr>
            <p:cNvPr id="2" name="TextBox 2"/>
            <p:cNvSpPr txBox="1"/>
            <p:nvPr/>
          </p:nvSpPr>
          <p:spPr>
            <a:xfrm>
              <a:off x="450342" y="330518"/>
              <a:ext cx="13685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02｜第一轮方法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650558"/>
              <a:ext cx="661842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第一轮怎样把结构量变成候选？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457200" y="12001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447294" y="1484948"/>
            <a:ext cx="7107555" cy="381381"/>
            <a:chOff x="447294" y="1484948"/>
            <a:chExt cx="7107555" cy="381381"/>
          </a:xfrm>
        </p:grpSpPr>
        <p:sp>
          <p:nvSpPr>
            <p:cNvPr id="6" name="TextBox 6"/>
            <p:cNvSpPr txBox="1"/>
            <p:nvPr/>
          </p:nvSpPr>
          <p:spPr>
            <a:xfrm>
              <a:off x="447294" y="1484948"/>
              <a:ext cx="710755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第一轮不是一个单独算法，而是几个环节接力回答不同问题。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57200" y="2247900"/>
            <a:ext cx="1485900" cy="2266950"/>
            <a:chOff x="457200" y="2247900"/>
            <a:chExt cx="1485900" cy="2266950"/>
          </a:xfrm>
        </p:grpSpPr>
        <p:sp>
          <p:nvSpPr>
            <p:cNvPr id="8" name="Rectangle 8"/>
            <p:cNvSpPr/>
            <p:nvPr/>
          </p:nvSpPr>
          <p:spPr>
            <a:xfrm>
              <a:off x="457200" y="2247900"/>
              <a:ext cx="1485900" cy="2266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80504" y="2505075"/>
              <a:ext cx="4392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输入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4454" y="2882265"/>
              <a:ext cx="871393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30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CIF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29818" y="34547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D9E4E1"/>
                  </a:solidFill>
                  <a:latin typeface="+mn-lt"/>
                  <a:ea typeface="+mn-ea"/>
                  <a:cs typeface="+mn-cs"/>
                </a:rPr>
                <a:t>结构文件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723900" y="3829050"/>
              <a:ext cx="952500" cy="9525"/>
            </a:xfrm>
            <a:custGeom>
              <a:avLst/>
              <a:gdLst/>
              <a:ahLst/>
              <a:cxnLst/>
              <a:rect l="l" t="t" r="r" b="b"/>
              <a:pathLst>
                <a:path w="952500" h="9525">
                  <a:moveTo>
                    <a:pt x="0" y="0"/>
                  </a:moveTo>
                  <a:lnTo>
                    <a:pt x="952500" y="0"/>
                  </a:lnTo>
                </a:path>
              </a:pathLst>
            </a:custGeom>
            <a:noFill/>
            <a:ln w="19050">
              <a:solidFill>
                <a:srgbClr val="6EA89C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20686" y="402621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电导率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51738" y="427101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D9E4E1"/>
                  </a:solidFill>
                  <a:latin typeface="+mn-lt"/>
                  <a:ea typeface="+mn-ea"/>
                  <a:cs typeface="+mn-cs"/>
                </a:rPr>
                <a:t>目标值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2209800" y="2247900"/>
            <a:ext cx="1676400" cy="2266950"/>
            <a:chOff x="2209800" y="2247900"/>
            <a:chExt cx="1676400" cy="2266950"/>
          </a:xfrm>
        </p:grpSpPr>
        <p:sp>
          <p:nvSpPr>
            <p:cNvPr id="16" name="Rectangle 16"/>
            <p:cNvSpPr/>
            <p:nvPr/>
          </p:nvSpPr>
          <p:spPr>
            <a:xfrm>
              <a:off x="2209800" y="2247900"/>
              <a:ext cx="1676400" cy="226695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2209800" y="2247900"/>
              <a:ext cx="1676400" cy="4381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2373630" y="2371725"/>
              <a:ext cx="2392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一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659380" y="2371725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构造结构量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374392" y="2959418"/>
              <a:ext cx="13494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把结构变成数字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375154" y="331851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键长、畸变、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375154" y="3585210"/>
              <a:ext cx="12414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Na 网络、浓度等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2381250" y="4000500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2375154" y="4156710"/>
              <a:ext cx="13691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回答：看哪些量？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4114800" y="2247900"/>
            <a:ext cx="1704137" cy="2266950"/>
            <a:chOff x="4114800" y="2247900"/>
            <a:chExt cx="1704137" cy="2266950"/>
          </a:xfrm>
        </p:grpSpPr>
        <p:sp>
          <p:nvSpPr>
            <p:cNvPr id="26" name="Rectangle 26"/>
            <p:cNvSpPr/>
            <p:nvPr/>
          </p:nvSpPr>
          <p:spPr>
            <a:xfrm>
              <a:off x="4114800" y="2247900"/>
              <a:ext cx="1676400" cy="22669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4114800" y="2247900"/>
              <a:ext cx="1676400" cy="4381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278630" y="2371725"/>
              <a:ext cx="2392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二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07230" y="2371725"/>
              <a:ext cx="12873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先做单项比较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279392" y="2959418"/>
              <a:ext cx="967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看是否同向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280154" y="33185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相关性比较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280154" y="358521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简单预测复核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286250" y="4000500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280154" y="4156710"/>
              <a:ext cx="15387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回答：有没有关系？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019800" y="2247900"/>
            <a:ext cx="1792986" cy="2266950"/>
            <a:chOff x="6019800" y="2247900"/>
            <a:chExt cx="1792986" cy="2266950"/>
          </a:xfrm>
        </p:grpSpPr>
        <p:sp>
          <p:nvSpPr>
            <p:cNvPr id="36" name="Rectangle 36"/>
            <p:cNvSpPr/>
            <p:nvPr/>
          </p:nvSpPr>
          <p:spPr>
            <a:xfrm>
              <a:off x="6019800" y="2247900"/>
              <a:ext cx="1676400" cy="226695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6019800" y="2247900"/>
              <a:ext cx="1676400" cy="4381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183630" y="2371725"/>
              <a:ext cx="2392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三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469380" y="23717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尝试组合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184392" y="2959418"/>
              <a:ext cx="15403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看两个因素一起时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184392" y="3226118"/>
              <a:ext cx="13494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是否更有解释力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185154" y="360426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加、减、乘、除等形式</a:t>
              </a:r>
            </a:p>
          </p:txBody>
        </p:sp>
        <p:sp>
          <p:nvSpPr>
            <p:cNvPr id="43" name="Line 43"/>
            <p:cNvSpPr/>
            <p:nvPr/>
          </p:nvSpPr>
          <p:spPr>
            <a:xfrm>
              <a:off x="6191250" y="4000500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185154" y="4156710"/>
              <a:ext cx="13691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回答：能否互补？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7924800" y="2247900"/>
            <a:ext cx="1676400" cy="2266950"/>
            <a:chOff x="7924800" y="2247900"/>
            <a:chExt cx="1676400" cy="2266950"/>
          </a:xfrm>
        </p:grpSpPr>
        <p:sp>
          <p:nvSpPr>
            <p:cNvPr id="46" name="Rectangle 46"/>
            <p:cNvSpPr/>
            <p:nvPr/>
          </p:nvSpPr>
          <p:spPr>
            <a:xfrm>
              <a:off x="7924800" y="2247900"/>
              <a:ext cx="1676400" cy="22669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7924800" y="2247900"/>
              <a:ext cx="1676400" cy="4381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088630" y="2371725"/>
              <a:ext cx="2392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四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374380" y="2371725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反复换样本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089392" y="2959418"/>
              <a:ext cx="13494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看结果是否偶然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090154" y="331851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重复抽取材料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090154" y="358521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重新观察排名</a:t>
              </a:r>
            </a:p>
          </p:txBody>
        </p:sp>
        <p:sp>
          <p:nvSpPr>
            <p:cNvPr id="53" name="Line 53"/>
            <p:cNvSpPr/>
            <p:nvPr/>
          </p:nvSpPr>
          <p:spPr>
            <a:xfrm>
              <a:off x="8096250" y="4000500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8090154" y="4156710"/>
              <a:ext cx="13691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回答：稳不稳定？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9829800" y="2247900"/>
            <a:ext cx="1905000" cy="2266950"/>
            <a:chOff x="9829800" y="2247900"/>
            <a:chExt cx="1905000" cy="2266950"/>
          </a:xfrm>
        </p:grpSpPr>
        <p:sp>
          <p:nvSpPr>
            <p:cNvPr id="56" name="Rectangle 56"/>
            <p:cNvSpPr/>
            <p:nvPr/>
          </p:nvSpPr>
          <p:spPr>
            <a:xfrm>
              <a:off x="9829800" y="2247900"/>
              <a:ext cx="1905000" cy="2266950"/>
            </a:xfrm>
            <a:prstGeom prst="rect">
              <a:avLst/>
            </a:prstGeom>
            <a:solidFill>
              <a:srgbClr val="FBE5DF"/>
            </a:solidFill>
            <a:ln w="9525">
              <a:solidFill>
                <a:schemeClr val="accent2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9829800" y="2247900"/>
              <a:ext cx="1905000" cy="438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9993630" y="2371725"/>
              <a:ext cx="2392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五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0279380" y="2371725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按类别留出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994392" y="2959418"/>
              <a:ext cx="967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换一个体系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994392" y="3226118"/>
              <a:ext cx="13494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还能不能成立？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995154" y="360426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留出一个材料类别</a:t>
              </a:r>
            </a:p>
          </p:txBody>
        </p:sp>
        <p:sp>
          <p:nvSpPr>
            <p:cNvPr id="63" name="Line 63"/>
            <p:cNvSpPr/>
            <p:nvPr/>
          </p:nvSpPr>
          <p:spPr>
            <a:xfrm>
              <a:off x="10001250" y="4000500"/>
              <a:ext cx="1562100" cy="9525"/>
            </a:xfrm>
            <a:custGeom>
              <a:avLst/>
              <a:gdLst/>
              <a:ahLst/>
              <a:cxnLst/>
              <a:rect l="l" t="t" r="r" b="b"/>
              <a:pathLst>
                <a:path w="1562100" h="9525">
                  <a:moveTo>
                    <a:pt x="0" y="0"/>
                  </a:moveTo>
                  <a:lnTo>
                    <a:pt x="1562100" y="0"/>
                  </a:lnTo>
                </a:path>
              </a:pathLst>
            </a:custGeom>
            <a:noFill/>
            <a:ln w="9525">
              <a:solidFill>
                <a:srgbClr val="E3B4A6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9995154" y="4156710"/>
              <a:ext cx="13691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回答：能否迁移？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1943100" y="3333750"/>
            <a:ext cx="7886700" cy="9525"/>
            <a:chOff x="1943100" y="3333750"/>
            <a:chExt cx="7886700" cy="9525"/>
          </a:xfrm>
        </p:grpSpPr>
        <p:sp>
          <p:nvSpPr>
            <p:cNvPr id="66" name="Line 66"/>
            <p:cNvSpPr/>
            <p:nvPr/>
          </p:nvSpPr>
          <p:spPr>
            <a:xfrm>
              <a:off x="1943100" y="3333750"/>
              <a:ext cx="266700" cy="9525"/>
            </a:xfrm>
            <a:custGeom>
              <a:avLst/>
              <a:gdLst/>
              <a:ahLst/>
              <a:cxnLst/>
              <a:rect l="l" t="t" r="r" b="b"/>
              <a:pathLst>
                <a:path w="266700" h="9525">
                  <a:moveTo>
                    <a:pt x="0" y="0"/>
                  </a:moveTo>
                  <a:lnTo>
                    <a:pt x="26670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67" name="Line 67"/>
            <p:cNvSpPr/>
            <p:nvPr/>
          </p:nvSpPr>
          <p:spPr>
            <a:xfrm>
              <a:off x="3886200" y="3333750"/>
              <a:ext cx="228600" cy="9525"/>
            </a:xfrm>
            <a:custGeom>
              <a:avLst/>
              <a:gdLst/>
              <a:ahLst/>
              <a:cxnLst/>
              <a:rect l="l" t="t" r="r" b="b"/>
              <a:pathLst>
                <a:path w="228600" h="9525">
                  <a:moveTo>
                    <a:pt x="0" y="0"/>
                  </a:moveTo>
                  <a:lnTo>
                    <a:pt x="22860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68" name="Line 68"/>
            <p:cNvSpPr/>
            <p:nvPr/>
          </p:nvSpPr>
          <p:spPr>
            <a:xfrm>
              <a:off x="5791200" y="3333750"/>
              <a:ext cx="228600" cy="9525"/>
            </a:xfrm>
            <a:custGeom>
              <a:avLst/>
              <a:gdLst/>
              <a:ahLst/>
              <a:cxnLst/>
              <a:rect l="l" t="t" r="r" b="b"/>
              <a:pathLst>
                <a:path w="228600" h="9525">
                  <a:moveTo>
                    <a:pt x="0" y="0"/>
                  </a:moveTo>
                  <a:lnTo>
                    <a:pt x="22860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69" name="Line 69"/>
            <p:cNvSpPr/>
            <p:nvPr/>
          </p:nvSpPr>
          <p:spPr>
            <a:xfrm>
              <a:off x="7696200" y="3333750"/>
              <a:ext cx="228600" cy="9525"/>
            </a:xfrm>
            <a:custGeom>
              <a:avLst/>
              <a:gdLst/>
              <a:ahLst/>
              <a:cxnLst/>
              <a:rect l="l" t="t" r="r" b="b"/>
              <a:pathLst>
                <a:path w="228600" h="9525">
                  <a:moveTo>
                    <a:pt x="0" y="0"/>
                  </a:moveTo>
                  <a:lnTo>
                    <a:pt x="22860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70" name="Line 70"/>
            <p:cNvSpPr/>
            <p:nvPr/>
          </p:nvSpPr>
          <p:spPr>
            <a:xfrm>
              <a:off x="9601200" y="3333750"/>
              <a:ext cx="228600" cy="9525"/>
            </a:xfrm>
            <a:custGeom>
              <a:avLst/>
              <a:gdLst/>
              <a:ahLst/>
              <a:cxnLst/>
              <a:rect l="l" t="t" r="r" b="b"/>
              <a:pathLst>
                <a:path w="228600" h="9525">
                  <a:moveTo>
                    <a:pt x="0" y="0"/>
                  </a:moveTo>
                  <a:lnTo>
                    <a:pt x="22860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</p:grpSp>
      <p:grpSp>
        <p:nvGrpSpPr>
          <p:cNvPr id="75" name="Group 75"/>
          <p:cNvGrpSpPr/>
          <p:nvPr/>
        </p:nvGrpSpPr>
        <p:grpSpPr>
          <a:xfrm>
            <a:off x="457200" y="5010150"/>
            <a:ext cx="11277600" cy="876300"/>
            <a:chOff x="457200" y="5010150"/>
            <a:chExt cx="11277600" cy="876300"/>
          </a:xfrm>
        </p:grpSpPr>
        <p:sp>
          <p:nvSpPr>
            <p:cNvPr id="72" name="Rectangle 72"/>
            <p:cNvSpPr/>
            <p:nvPr/>
          </p:nvSpPr>
          <p:spPr>
            <a:xfrm>
              <a:off x="457200" y="5010150"/>
              <a:ext cx="11277600" cy="876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2847404" y="5191125"/>
              <a:ext cx="64971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第一轮把“找候选、做比较、看稳定、看迁移”串成了可以运行的探索流程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2652027" y="5501640"/>
              <a:ext cx="68879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但这些环节使用的是同一批历史数据，仍需要第二轮重新检查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451104" y="6356985"/>
            <a:ext cx="11289030" cy="234696"/>
            <a:chOff x="451104" y="6356985"/>
            <a:chExt cx="11289030" cy="234696"/>
          </a:xfrm>
        </p:grpSpPr>
        <p:sp>
          <p:nvSpPr>
            <p:cNvPr id="76" name="TextBox 76"/>
            <p:cNvSpPr txBox="1"/>
            <p:nvPr/>
          </p:nvSpPr>
          <p:spPr>
            <a:xfrm>
              <a:off x="451104" y="6356985"/>
              <a:ext cx="29199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正文｜每个环节回答一个不同的材料问题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255940" y="637317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03 / 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41198" y="330518"/>
            <a:ext cx="11293602" cy="936117"/>
            <a:chOff x="441198" y="330518"/>
            <a:chExt cx="11293602" cy="936117"/>
          </a:xfrm>
        </p:grpSpPr>
        <p:sp>
          <p:nvSpPr>
            <p:cNvPr id="2" name="TextBox 2"/>
            <p:cNvSpPr txBox="1"/>
            <p:nvPr/>
          </p:nvSpPr>
          <p:spPr>
            <a:xfrm>
              <a:off x="450342" y="330518"/>
              <a:ext cx="19410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03｜第二轮为什么改变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650558"/>
              <a:ext cx="708888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第二轮如何回应两个材料学问题？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457200" y="12001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446532" y="1506855"/>
            <a:ext cx="5661241" cy="410718"/>
            <a:chOff x="446532" y="1506855"/>
            <a:chExt cx="5661241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446532" y="1506855"/>
              <a:ext cx="566124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两个问题都在问：这个信息到底来自哪里？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57200" y="2114550"/>
            <a:ext cx="5219700" cy="3242501"/>
            <a:chOff x="457200" y="2114550"/>
            <a:chExt cx="5219700" cy="3242501"/>
          </a:xfrm>
        </p:grpSpPr>
        <p:sp>
          <p:nvSpPr>
            <p:cNvPr id="8" name="Rectangle 8"/>
            <p:cNvSpPr/>
            <p:nvPr/>
          </p:nvSpPr>
          <p:spPr>
            <a:xfrm>
              <a:off x="457200" y="2114550"/>
              <a:ext cx="5219700" cy="3200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52094" y="2304098"/>
              <a:ext cx="360306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问题一｜描述符会不会重复？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55142" y="2768918"/>
              <a:ext cx="41936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第二轮按信息来源逐层检查，而不是只看相关系数。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762000" y="3105150"/>
              <a:ext cx="4610100" cy="9525"/>
            </a:xfrm>
            <a:custGeom>
              <a:avLst/>
              <a:gdLst/>
              <a:ahLst/>
              <a:cxnLst/>
              <a:rect l="l" t="t" r="r" b="b"/>
              <a:pathLst>
                <a:path w="4610100" h="9525">
                  <a:moveTo>
                    <a:pt x="0" y="0"/>
                  </a:moveTo>
                  <a:lnTo>
                    <a:pt x="46101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54380" y="3324225"/>
              <a:ext cx="31956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第一层：同名是否调用同一个计算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5142" y="3645218"/>
              <a:ext cx="43754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能直接排除精确别名，避免一个量换个名字重复进入。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4380" y="4067175"/>
              <a:ext cx="31956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第二层：是否共享同一段结构信息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5142" y="4388168"/>
              <a:ext cx="383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先标记共同来源，再看它们是否真的数值相近。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4380" y="4810125"/>
              <a:ext cx="298361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第三层：新数据中是否高度相关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5142" y="5093018"/>
              <a:ext cx="383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这一步还没有自动完成，不能说已经完全去重。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515100" y="2114550"/>
            <a:ext cx="5219700" cy="3242501"/>
            <a:chOff x="6515100" y="2114550"/>
            <a:chExt cx="5219700" cy="3242501"/>
          </a:xfrm>
        </p:grpSpPr>
        <p:sp>
          <p:nvSpPr>
            <p:cNvPr id="19" name="Rectangle 19"/>
            <p:cNvSpPr/>
            <p:nvPr/>
          </p:nvSpPr>
          <p:spPr>
            <a:xfrm>
              <a:off x="6515100" y="2114550"/>
              <a:ext cx="5219700" cy="3200400"/>
            </a:xfrm>
            <a:prstGeom prst="rect">
              <a:avLst/>
            </a:prstGeom>
            <a:solidFill>
              <a:srgbClr val="FBE5D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809994" y="2304098"/>
              <a:ext cx="450485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问题二｜CIF中的占位就是空位吗？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813042" y="2768918"/>
              <a:ext cx="47752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第二轮把“文件里看到的占位”与“真正能迁移的空位”分开。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6819900" y="3105150"/>
              <a:ext cx="4610100" cy="9525"/>
            </a:xfrm>
            <a:custGeom>
              <a:avLst/>
              <a:gdLst/>
              <a:ahLst/>
              <a:cxnLst/>
              <a:rect l="l" t="t" r="r" b="b"/>
              <a:pathLst>
                <a:path w="4610100" h="9525">
                  <a:moveTo>
                    <a:pt x="0" y="0"/>
                  </a:moveTo>
                  <a:lnTo>
                    <a:pt x="4610100" y="0"/>
                  </a:lnTo>
                </a:path>
              </a:pathLst>
            </a:custGeom>
            <a:noFill/>
            <a:ln w="9525">
              <a:solidFill>
                <a:srgbClr val="E3B4A6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812280" y="3324225"/>
              <a:ext cx="255955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第一层：晶体文件中的占位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813042" y="3645218"/>
              <a:ext cx="47388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能告诉我们文件怎样记录结构，但不保证是有效迁移空位。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812280" y="4067175"/>
              <a:ext cx="255955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第二层：框架中的几何空腔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813042" y="4388168"/>
              <a:ext cx="2431161" cy="4926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可以筛出“可能放得下钠”的位置二代还未自动接入完整程序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812280" y="4810125"/>
              <a:ext cx="23475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第三层：能量与动态验证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813042" y="5093018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需要能量或动态验证，属于下一步更强证据。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3542538" y="5634990"/>
            <a:ext cx="5106924" cy="352044"/>
            <a:chOff x="3542538" y="5634990"/>
            <a:chExt cx="5106924" cy="352044"/>
          </a:xfrm>
        </p:grpSpPr>
        <p:sp>
          <p:nvSpPr>
            <p:cNvPr id="30" name="TextBox 30"/>
            <p:cNvSpPr txBox="1"/>
            <p:nvPr/>
          </p:nvSpPr>
          <p:spPr>
            <a:xfrm>
              <a:off x="3542538" y="5634990"/>
              <a:ext cx="51069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第二轮先审查信息来源，再让结构量进入比较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451104" y="6356985"/>
            <a:ext cx="11289030" cy="234696"/>
            <a:chOff x="451104" y="6356985"/>
            <a:chExt cx="11289030" cy="234696"/>
          </a:xfrm>
        </p:grpSpPr>
        <p:sp>
          <p:nvSpPr>
            <p:cNvPr id="32" name="TextBox 32"/>
            <p:cNvSpPr txBox="1"/>
            <p:nvPr/>
          </p:nvSpPr>
          <p:spPr>
            <a:xfrm>
              <a:off x="451104" y="6356985"/>
              <a:ext cx="29199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正文｜两个问题合并为两条证据检查路线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255940" y="637317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04 / 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41198" y="330518"/>
            <a:ext cx="11293602" cy="936117"/>
            <a:chOff x="441198" y="330518"/>
            <a:chExt cx="11293602" cy="936117"/>
          </a:xfrm>
        </p:grpSpPr>
        <p:sp>
          <p:nvSpPr>
            <p:cNvPr id="2" name="TextBox 2"/>
            <p:cNvSpPr txBox="1"/>
            <p:nvPr/>
          </p:nvSpPr>
          <p:spPr>
            <a:xfrm>
              <a:off x="450342" y="330518"/>
              <a:ext cx="15593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04｜第二轮第一步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650558"/>
              <a:ext cx="708888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先把体系差异拿掉，再比较结构量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457200" y="12001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447294" y="1580198"/>
            <a:ext cx="9233878" cy="381381"/>
            <a:chOff x="447294" y="1580198"/>
            <a:chExt cx="9233878" cy="381381"/>
          </a:xfrm>
        </p:grpSpPr>
        <p:sp>
          <p:nvSpPr>
            <p:cNvPr id="6" name="TextBox 6"/>
            <p:cNvSpPr txBox="1"/>
            <p:nvPr/>
          </p:nvSpPr>
          <p:spPr>
            <a:xfrm>
              <a:off x="447294" y="1580198"/>
              <a:ext cx="923387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如果某个结构量只是告诉我们“它属于哪一类材料”，它就不能被当成迁移规律。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57200" y="2209800"/>
            <a:ext cx="3242691" cy="2628900"/>
            <a:chOff x="457200" y="2209800"/>
            <a:chExt cx="3242691" cy="2628900"/>
          </a:xfrm>
        </p:grpSpPr>
        <p:sp>
          <p:nvSpPr>
            <p:cNvPr id="8" name="Rectangle 8"/>
            <p:cNvSpPr/>
            <p:nvPr/>
          </p:nvSpPr>
          <p:spPr>
            <a:xfrm>
              <a:off x="457200" y="2209800"/>
              <a:ext cx="3143250" cy="2628900"/>
            </a:xfrm>
            <a:prstGeom prst="rect">
              <a:avLst/>
            </a:prstGeom>
            <a:solidFill>
              <a:srgbClr val="FBE5D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14756" y="2415540"/>
              <a:ext cx="17993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全样本混在一起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6280" y="29051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硫化物整体电导率较高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6280" y="32480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某个结构量也整体较高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723900" y="3695700"/>
              <a:ext cx="2609850" cy="9525"/>
            </a:xfrm>
            <a:custGeom>
              <a:avLst/>
              <a:gdLst/>
              <a:ahLst/>
              <a:cxnLst/>
              <a:rect l="l" t="t" r="r" b="b"/>
              <a:pathLst>
                <a:path w="2609850" h="9525">
                  <a:moveTo>
                    <a:pt x="0" y="0"/>
                  </a:moveTo>
                  <a:lnTo>
                    <a:pt x="260985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16280" y="3933825"/>
              <a:ext cx="298361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看起来相关，可能只是类别标签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17042" y="431196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这不是我们真正想找的结构规律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457700" y="2209800"/>
            <a:ext cx="3219450" cy="2632901"/>
            <a:chOff x="4457700" y="2209800"/>
            <a:chExt cx="3219450" cy="2632901"/>
          </a:xfrm>
        </p:grpSpPr>
        <p:sp>
          <p:nvSpPr>
            <p:cNvPr id="16" name="Rectangle 16"/>
            <p:cNvSpPr/>
            <p:nvPr/>
          </p:nvSpPr>
          <p:spPr>
            <a:xfrm>
              <a:off x="4457700" y="2209800"/>
              <a:ext cx="3219450" cy="2628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715256" y="2415540"/>
              <a:ext cx="28170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第二轮先在体系内部比较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724400" y="2895600"/>
              <a:ext cx="1066800" cy="51435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3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867854" y="3073718"/>
              <a:ext cx="7798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NASICON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981700" y="2895600"/>
              <a:ext cx="1066800" cy="51435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3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222006" y="3073718"/>
              <a:ext cx="5861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硫化物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257800" y="3600450"/>
              <a:ext cx="1066800" cy="51435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3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498106" y="3778568"/>
              <a:ext cx="5861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卤化物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717542" y="4311968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分别看每一类材料内部，结构量高低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717542" y="457866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是否仍与电导率高低同向。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8534400" y="2209800"/>
            <a:ext cx="3200400" cy="2628900"/>
            <a:chOff x="8534400" y="2209800"/>
            <a:chExt cx="3200400" cy="2628900"/>
          </a:xfrm>
        </p:grpSpPr>
        <p:sp>
          <p:nvSpPr>
            <p:cNvPr id="27" name="Rectangle 27"/>
            <p:cNvSpPr/>
            <p:nvPr/>
          </p:nvSpPr>
          <p:spPr>
            <a:xfrm>
              <a:off x="8534400" y="2209800"/>
              <a:ext cx="3200400" cy="26289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3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791956" y="2415540"/>
              <a:ext cx="20537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最后汇总剩余趋势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793480" y="2943225"/>
              <a:ext cx="286245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先去掉“属于哪一类”的整体起点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793480" y="330517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再看不能由类别解释的部分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8801100" y="3714750"/>
              <a:ext cx="2667000" cy="9525"/>
            </a:xfrm>
            <a:custGeom>
              <a:avLst/>
              <a:gdLst/>
              <a:ahLst/>
              <a:cxnLst/>
              <a:rect l="l" t="t" r="r" b="b"/>
              <a:pathLst>
                <a:path w="2667000" h="9525">
                  <a:moveTo>
                    <a:pt x="0" y="0"/>
                  </a:moveTo>
                  <a:lnTo>
                    <a:pt x="266700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793480" y="3971925"/>
              <a:ext cx="23475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这样得到的相关性更接近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793480" y="4295775"/>
              <a:ext cx="21567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“结构量本身是否有用”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457200" y="5162550"/>
            <a:ext cx="11277600" cy="781050"/>
            <a:chOff x="457200" y="5162550"/>
            <a:chExt cx="11277600" cy="781050"/>
          </a:xfrm>
        </p:grpSpPr>
        <p:sp>
          <p:nvSpPr>
            <p:cNvPr id="35" name="Rectangle 35"/>
            <p:cNvSpPr/>
            <p:nvPr/>
          </p:nvSpPr>
          <p:spPr>
            <a:xfrm>
              <a:off x="457200" y="5162550"/>
              <a:ext cx="11277600" cy="7810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78180" y="5324475"/>
              <a:ext cx="14994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这一步能解决：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240280" y="532447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材料类别起点不同造成的假相关。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78942" y="5645468"/>
              <a:ext cx="62291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仍未解决：致密度、烧结条件、测试方法以及 total / bulk 的测量口径差异。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451104" y="6356985"/>
            <a:ext cx="11289030" cy="234696"/>
            <a:chOff x="451104" y="6356985"/>
            <a:chExt cx="11289030" cy="234696"/>
          </a:xfrm>
        </p:grpSpPr>
        <p:sp>
          <p:nvSpPr>
            <p:cNvPr id="40" name="TextBox 40"/>
            <p:cNvSpPr txBox="1"/>
            <p:nvPr/>
          </p:nvSpPr>
          <p:spPr>
            <a:xfrm>
              <a:off x="451104" y="6356985"/>
              <a:ext cx="42123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正文｜先比较同一体系内部，再汇总跨体系仍然存在的趋势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255940" y="637317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05 / 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41198" y="330518"/>
            <a:ext cx="11293602" cy="936117"/>
            <a:chOff x="441198" y="330518"/>
            <a:chExt cx="11293602" cy="936117"/>
          </a:xfrm>
        </p:grpSpPr>
        <p:sp>
          <p:nvSpPr>
            <p:cNvPr id="2" name="TextBox 2"/>
            <p:cNvSpPr txBox="1"/>
            <p:nvPr/>
          </p:nvSpPr>
          <p:spPr>
            <a:xfrm>
              <a:off x="450342" y="330518"/>
              <a:ext cx="17502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05｜第二轮组合方式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650558"/>
              <a:ext cx="520705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第二轮怎样组合描述符？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457200" y="12001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447294" y="1523048"/>
            <a:ext cx="7947584" cy="381381"/>
            <a:chOff x="447294" y="1523048"/>
            <a:chExt cx="7947584" cy="381381"/>
          </a:xfrm>
        </p:grpSpPr>
        <p:sp>
          <p:nvSpPr>
            <p:cNvPr id="6" name="TextBox 6"/>
            <p:cNvSpPr txBox="1"/>
            <p:nvPr/>
          </p:nvSpPr>
          <p:spPr>
            <a:xfrm>
              <a:off x="447294" y="1523048"/>
              <a:ext cx="794758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差别不在于“试得更多”，而在于“先规定什么样的组合有材料意义”。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57200" y="2114550"/>
            <a:ext cx="5181600" cy="2524506"/>
            <a:chOff x="457200" y="2114550"/>
            <a:chExt cx="5181600" cy="2524506"/>
          </a:xfrm>
        </p:grpSpPr>
        <p:sp>
          <p:nvSpPr>
            <p:cNvPr id="8" name="Rectangle 8"/>
            <p:cNvSpPr/>
            <p:nvPr/>
          </p:nvSpPr>
          <p:spPr>
            <a:xfrm>
              <a:off x="457200" y="2114550"/>
              <a:ext cx="5181600" cy="2343150"/>
            </a:xfrm>
            <a:prstGeom prst="rect">
              <a:avLst/>
            </a:prstGeom>
            <a:solidFill>
              <a:srgbClr val="FBE5D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52094" y="2304098"/>
              <a:ext cx="305179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第一轮：先列出很多公式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53618" y="2793682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结构量先混合起来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3618" y="3155632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再统一比较谁的分数高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3618" y="3517582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最后留下看起来最好的组合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762000" y="3962400"/>
              <a:ext cx="4572000" cy="9525"/>
            </a:xfrm>
            <a:custGeom>
              <a:avLst/>
              <a:gdLst/>
              <a:ahLst/>
              <a:cxnLst/>
              <a:rect l="l" t="t" r="r" b="b"/>
              <a:pathLst>
                <a:path w="4572000" h="9525">
                  <a:moveTo>
                    <a:pt x="0" y="0"/>
                  </a:moveTo>
                  <a:lnTo>
                    <a:pt x="45720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55142" y="4140518"/>
              <a:ext cx="23036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优点：能快速找到研究方向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5904" y="4404360"/>
              <a:ext cx="34046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风险：同一信息可能重复，公式也可能难以解释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553200" y="2114550"/>
            <a:ext cx="5181600" cy="2524506"/>
            <a:chOff x="6553200" y="2114550"/>
            <a:chExt cx="5181600" cy="2524506"/>
          </a:xfrm>
        </p:grpSpPr>
        <p:sp>
          <p:nvSpPr>
            <p:cNvPr id="17" name="Rectangle 17"/>
            <p:cNvSpPr/>
            <p:nvPr/>
          </p:nvSpPr>
          <p:spPr>
            <a:xfrm>
              <a:off x="6553200" y="2114550"/>
              <a:ext cx="5181600" cy="2343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848094" y="2304098"/>
              <a:ext cx="332742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第二轮：先按材料意义分组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849618" y="2793682"/>
              <a:ext cx="35342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局域配位、Na 网络、骨架、组成等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849618" y="3155632"/>
              <a:ext cx="312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每类选能代表不同作用的结构量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849618" y="3517582"/>
              <a:ext cx="40149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只允许物理解释和单位都说得通的加乘除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6858000" y="3962400"/>
              <a:ext cx="4572000" cy="9525"/>
            </a:xfrm>
            <a:custGeom>
              <a:avLst/>
              <a:gdLst/>
              <a:ahLst/>
              <a:cxnLst/>
              <a:rect l="l" t="t" r="r" b="b"/>
              <a:pathLst>
                <a:path w="4572000" h="9525">
                  <a:moveTo>
                    <a:pt x="0" y="0"/>
                  </a:moveTo>
                  <a:lnTo>
                    <a:pt x="457200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851142" y="4140518"/>
              <a:ext cx="383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优势：候选更少、更容易解释、更少重复信息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851904" y="4404360"/>
              <a:ext cx="32430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仍需验证：选择过程本身会不会让分数偏乐观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450342" y="4857750"/>
            <a:ext cx="11284458" cy="666750"/>
            <a:chOff x="450342" y="4857750"/>
            <a:chExt cx="11284458" cy="666750"/>
          </a:xfrm>
        </p:grpSpPr>
        <p:sp>
          <p:nvSpPr>
            <p:cNvPr id="26" name="TextBox 26"/>
            <p:cNvSpPr txBox="1"/>
            <p:nvPr/>
          </p:nvSpPr>
          <p:spPr>
            <a:xfrm>
              <a:off x="450342" y="4978718"/>
              <a:ext cx="17311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第二轮实际怎样做：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2247900" y="4857750"/>
              <a:ext cx="2076450" cy="666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2611384" y="5016818"/>
              <a:ext cx="13494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每次换一半材料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633853" y="526161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D9E4E1"/>
                  </a:solidFill>
                  <a:latin typeface="+mn-lt"/>
                  <a:ea typeface="+mn-ea"/>
                  <a:cs typeface="+mn-cs"/>
                </a:rPr>
                <a:t>重新挑选少量代表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4324350" y="5191125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4610100" y="4857750"/>
              <a:ext cx="2076450" cy="66675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687348" y="5016818"/>
              <a:ext cx="19219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看哪些结构量反复出现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996053" y="526161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而不是只出现一次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6686550" y="5191125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6972300" y="4857750"/>
              <a:ext cx="2076450" cy="66675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335784" y="5016818"/>
              <a:ext cx="13494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再做允许的组合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277481" y="526161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检查材料解释和单位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9048750" y="5191125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9334500" y="4857750"/>
              <a:ext cx="2400300" cy="666750"/>
            </a:xfrm>
            <a:prstGeom prst="rect">
              <a:avLst/>
            </a:prstGeom>
            <a:solidFill>
              <a:srgbClr val="FBE5DF"/>
            </a:solidFill>
            <a:ln w="9525">
              <a:solidFill>
                <a:schemeClr val="accent2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669085" y="5016818"/>
              <a:ext cx="17311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只把靠前者交给复查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720834" y="526161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当前仍属于探索性结果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451104" y="6356985"/>
            <a:ext cx="11289030" cy="234696"/>
            <a:chOff x="451104" y="6356985"/>
            <a:chExt cx="11289030" cy="234696"/>
          </a:xfrm>
        </p:grpSpPr>
        <p:sp>
          <p:nvSpPr>
            <p:cNvPr id="43" name="TextBox 43"/>
            <p:cNvSpPr txBox="1"/>
            <p:nvPr/>
          </p:nvSpPr>
          <p:spPr>
            <a:xfrm>
              <a:off x="451104" y="6356985"/>
              <a:ext cx="35661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正文｜第二轮先限制候选的材料含义，再比较分数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255940" y="637317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06 / 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41198" y="330518"/>
            <a:ext cx="11293602" cy="936117"/>
            <a:chOff x="441198" y="330518"/>
            <a:chExt cx="11293602" cy="936117"/>
          </a:xfrm>
        </p:grpSpPr>
        <p:sp>
          <p:nvSpPr>
            <p:cNvPr id="2" name="TextBox 2"/>
            <p:cNvSpPr txBox="1"/>
            <p:nvPr/>
          </p:nvSpPr>
          <p:spPr>
            <a:xfrm>
              <a:off x="450342" y="330518"/>
              <a:ext cx="13685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06｜阶段性边界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650558"/>
              <a:ext cx="426613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目前能说到哪一步？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457200" y="12001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447294" y="1523048"/>
            <a:ext cx="9260129" cy="381381"/>
            <a:chOff x="447294" y="1523048"/>
            <a:chExt cx="9260129" cy="381381"/>
          </a:xfrm>
        </p:grpSpPr>
        <p:sp>
          <p:nvSpPr>
            <p:cNvPr id="6" name="TextBox 6"/>
            <p:cNvSpPr txBox="1"/>
            <p:nvPr/>
          </p:nvSpPr>
          <p:spPr>
            <a:xfrm>
              <a:off x="447294" y="1523048"/>
              <a:ext cx="926012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第二轮的筛选框架已经建立，但现在汇报的是“方法和边界”，不是“最终候选”。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57200" y="2152650"/>
            <a:ext cx="3371850" cy="2781300"/>
            <a:chOff x="457200" y="2152650"/>
            <a:chExt cx="3371850" cy="2781300"/>
          </a:xfrm>
        </p:grpSpPr>
        <p:sp>
          <p:nvSpPr>
            <p:cNvPr id="8" name="Rectangle 8"/>
            <p:cNvSpPr/>
            <p:nvPr/>
          </p:nvSpPr>
          <p:spPr>
            <a:xfrm>
              <a:off x="457200" y="2152650"/>
              <a:ext cx="3371850" cy="2781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457200" y="2152650"/>
              <a:ext cx="3371850" cy="5524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14756" y="23202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已经能做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5518" y="2984182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先在同一材料体系内部比较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15518" y="3384232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换一批材料重新挑候选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15518" y="3784282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按材料意义组合结构量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723900" y="4267200"/>
              <a:ext cx="2838450" cy="9525"/>
            </a:xfrm>
            <a:custGeom>
              <a:avLst/>
              <a:gdLst/>
              <a:ahLst/>
              <a:cxnLst/>
              <a:rect l="l" t="t" r="r" b="b"/>
              <a:pathLst>
                <a:path w="2838450" h="9525">
                  <a:moveTo>
                    <a:pt x="0" y="0"/>
                  </a:moveTo>
                  <a:lnTo>
                    <a:pt x="2838450" y="0"/>
                  </a:lnTo>
                </a:path>
              </a:pathLst>
            </a:custGeom>
            <a:noFill/>
            <a:ln w="9525">
              <a:solidFill>
                <a:srgbClr val="B8D8CF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17042" y="4464368"/>
              <a:ext cx="13494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方法骨架已具备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4171950" y="2152650"/>
            <a:ext cx="3371850" cy="2781300"/>
            <a:chOff x="4171950" y="2152650"/>
            <a:chExt cx="3371850" cy="2781300"/>
          </a:xfrm>
        </p:grpSpPr>
        <p:sp>
          <p:nvSpPr>
            <p:cNvPr id="17" name="Rectangle 17"/>
            <p:cNvSpPr/>
            <p:nvPr/>
          </p:nvSpPr>
          <p:spPr>
            <a:xfrm>
              <a:off x="4171950" y="2152650"/>
              <a:ext cx="3371850" cy="278130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4171950" y="2152650"/>
              <a:ext cx="3371850" cy="5524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429506" y="2320290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正在补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430268" y="2984182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逐个核对结构量的定义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430268" y="3384232"/>
              <a:ext cx="24601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识别同一信息的不同名字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430268" y="3784282"/>
              <a:ext cx="24601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把审计检查接入正式流程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4438650" y="4267200"/>
              <a:ext cx="2838450" cy="9525"/>
            </a:xfrm>
            <a:custGeom>
              <a:avLst/>
              <a:gdLst/>
              <a:ahLst/>
              <a:cxnLst/>
              <a:rect l="l" t="t" r="r" b="b"/>
              <a:pathLst>
                <a:path w="2838450" h="9525">
                  <a:moveTo>
                    <a:pt x="0" y="0"/>
                  </a:moveTo>
                  <a:lnTo>
                    <a:pt x="283845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431792" y="4464368"/>
              <a:ext cx="13494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证据链还在补齐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7886700" y="2152650"/>
            <a:ext cx="3848100" cy="2781300"/>
            <a:chOff x="7886700" y="2152650"/>
            <a:chExt cx="3848100" cy="2781300"/>
          </a:xfrm>
        </p:grpSpPr>
        <p:sp>
          <p:nvSpPr>
            <p:cNvPr id="26" name="Rectangle 26"/>
            <p:cNvSpPr/>
            <p:nvPr/>
          </p:nvSpPr>
          <p:spPr>
            <a:xfrm>
              <a:off x="7886700" y="2152650"/>
              <a:ext cx="3848100" cy="2781300"/>
            </a:xfrm>
            <a:prstGeom prst="rect">
              <a:avLst/>
            </a:prstGeom>
            <a:solidFill>
              <a:srgbClr val="FBE5DF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7886700" y="2152650"/>
              <a:ext cx="3848100" cy="5524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144256" y="232029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现在还不能说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145018" y="2984182"/>
              <a:ext cx="24601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第二轮已经找到最终候选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145018" y="3384232"/>
              <a:ext cx="312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某个结构量在新数据上已被确认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145018" y="3784282"/>
              <a:ext cx="312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可以预测完全没见过的材料体系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8153400" y="4267200"/>
              <a:ext cx="3314700" cy="9525"/>
            </a:xfrm>
            <a:custGeom>
              <a:avLst/>
              <a:gdLst/>
              <a:ahLst/>
              <a:cxnLst/>
              <a:rect l="l" t="t" r="r" b="b"/>
              <a:pathLst>
                <a:path w="3314700" h="9525">
                  <a:moveTo>
                    <a:pt x="0" y="0"/>
                  </a:moveTo>
                  <a:lnTo>
                    <a:pt x="3314700" y="0"/>
                  </a:lnTo>
                </a:path>
              </a:pathLst>
            </a:custGeom>
            <a:noFill/>
            <a:ln w="9525">
              <a:solidFill>
                <a:srgbClr val="E3B4A6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146542" y="4464368"/>
              <a:ext cx="24944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新数据和跨体系验证仍需完成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457200" y="5257800"/>
            <a:ext cx="11277600" cy="609600"/>
            <a:chOff x="457200" y="5257800"/>
            <a:chExt cx="11277600" cy="609600"/>
          </a:xfrm>
        </p:grpSpPr>
        <p:sp>
          <p:nvSpPr>
            <p:cNvPr id="35" name="Rectangle 35"/>
            <p:cNvSpPr/>
            <p:nvPr/>
          </p:nvSpPr>
          <p:spPr>
            <a:xfrm>
              <a:off x="457200" y="5257800"/>
              <a:ext cx="11277600" cy="609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3148169" y="5454015"/>
              <a:ext cx="58956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第二轮当前的成果，是把“什么时候可以相信”说清楚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451104" y="6356985"/>
            <a:ext cx="11289030" cy="234696"/>
            <a:chOff x="451104" y="6356985"/>
            <a:chExt cx="11289030" cy="234696"/>
          </a:xfrm>
        </p:grpSpPr>
        <p:sp>
          <p:nvSpPr>
            <p:cNvPr id="38" name="TextBox 38"/>
            <p:cNvSpPr txBox="1"/>
            <p:nvPr/>
          </p:nvSpPr>
          <p:spPr>
            <a:xfrm>
              <a:off x="451104" y="6356985"/>
              <a:ext cx="30815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正文结束｜下面进入精确口径与可能的追问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255940" y="637317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07 / 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41198" y="330518"/>
            <a:ext cx="11293602" cy="936117"/>
            <a:chOff x="441198" y="330518"/>
            <a:chExt cx="11293602" cy="936117"/>
          </a:xfrm>
        </p:grpSpPr>
        <p:sp>
          <p:nvSpPr>
            <p:cNvPr id="2" name="TextBox 2"/>
            <p:cNvSpPr txBox="1"/>
            <p:nvPr/>
          </p:nvSpPr>
          <p:spPr>
            <a:xfrm>
              <a:off x="450342" y="330518"/>
              <a:ext cx="12839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Q1｜数据口径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650558"/>
              <a:ext cx="753582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第一轮到底是 103 条，还是 84 条？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457200" y="12001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457200" y="1809750"/>
            <a:ext cx="4914900" cy="3105150"/>
            <a:chOff x="457200" y="1809750"/>
            <a:chExt cx="4914900" cy="3105150"/>
          </a:xfrm>
        </p:grpSpPr>
        <p:sp>
          <p:nvSpPr>
            <p:cNvPr id="6" name="Rectangle 6"/>
            <p:cNvSpPr/>
            <p:nvPr/>
          </p:nvSpPr>
          <p:spPr>
            <a:xfrm>
              <a:off x="457200" y="1809750"/>
              <a:ext cx="4914900" cy="3105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54380" y="2085975"/>
              <a:ext cx="17114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第一轮正式主数据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42950" y="2579370"/>
              <a:ext cx="2108119" cy="1619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103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90956" y="376809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条材料记录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92480" y="4162425"/>
              <a:ext cx="22021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与 103 个 CIF 一一对应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762000" y="4572000"/>
              <a:ext cx="4305300" cy="9525"/>
            </a:xfrm>
            <a:custGeom>
              <a:avLst/>
              <a:gdLst/>
              <a:ahLst/>
              <a:cxnLst/>
              <a:rect l="l" t="t" r="r" b="b"/>
              <a:pathLst>
                <a:path w="4305300" h="9525">
                  <a:moveTo>
                    <a:pt x="0" y="0"/>
                  </a:moveTo>
                  <a:lnTo>
                    <a:pt x="430530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55904" y="4671060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第一轮筛选结果使用这一口径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819900" y="1809750"/>
            <a:ext cx="4914900" cy="3105150"/>
            <a:chOff x="6819900" y="1809750"/>
            <a:chExt cx="4914900" cy="3105150"/>
          </a:xfrm>
        </p:grpSpPr>
        <p:sp>
          <p:nvSpPr>
            <p:cNvPr id="14" name="Rectangle 14"/>
            <p:cNvSpPr/>
            <p:nvPr/>
          </p:nvSpPr>
          <p:spPr>
            <a:xfrm>
              <a:off x="6819900" y="1809750"/>
              <a:ext cx="4914900" cy="3105150"/>
            </a:xfrm>
            <a:prstGeom prst="rect">
              <a:avLst/>
            </a:prstGeom>
            <a:solidFill>
              <a:srgbClr val="FBE5D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117080" y="2085975"/>
              <a:ext cx="23475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第二代目录中的历史缓存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05650" y="2579370"/>
              <a:ext cx="1418112" cy="1619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4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84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53656" y="3768090"/>
              <a:ext cx="234633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行旧输入 / 特征缓存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155180" y="4162425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不是第一轮主数据，也不是新扩充数据集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7124700" y="4572000"/>
              <a:ext cx="4305300" cy="9525"/>
            </a:xfrm>
            <a:custGeom>
              <a:avLst/>
              <a:gdLst/>
              <a:ahLst/>
              <a:cxnLst/>
              <a:rect l="l" t="t" r="r" b="b"/>
              <a:pathLst>
                <a:path w="4305300" h="9525">
                  <a:moveTo>
                    <a:pt x="0" y="0"/>
                  </a:moveTo>
                  <a:lnTo>
                    <a:pt x="430530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118604" y="4671060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不能用来替代正式运行口径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809750" y="5257800"/>
            <a:ext cx="8572500" cy="609600"/>
            <a:chOff x="1809750" y="5257800"/>
            <a:chExt cx="8572500" cy="609600"/>
          </a:xfrm>
        </p:grpSpPr>
        <p:sp>
          <p:nvSpPr>
            <p:cNvPr id="22" name="Rectangle 22"/>
            <p:cNvSpPr/>
            <p:nvPr/>
          </p:nvSpPr>
          <p:spPr>
            <a:xfrm>
              <a:off x="1809750" y="5257800"/>
              <a:ext cx="8572500" cy="609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288106" y="5454015"/>
              <a:ext cx="561578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两个数字来自不同文件角色，不能直接相加或互换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51104" y="6356985"/>
            <a:ext cx="11289030" cy="234696"/>
            <a:chOff x="451104" y="6356985"/>
            <a:chExt cx="11289030" cy="234696"/>
          </a:xfrm>
        </p:grpSpPr>
        <p:sp>
          <p:nvSpPr>
            <p:cNvPr id="25" name="TextBox 25"/>
            <p:cNvSpPr txBox="1"/>
            <p:nvPr/>
          </p:nvSpPr>
          <p:spPr>
            <a:xfrm>
              <a:off x="451104" y="6356985"/>
              <a:ext cx="34003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Q&amp;A附录｜先确认样本口径，再解释任何结果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255940" y="637317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08 / 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41198" y="330518"/>
            <a:ext cx="11293602" cy="936117"/>
            <a:chOff x="441198" y="330518"/>
            <a:chExt cx="11293602" cy="936117"/>
          </a:xfrm>
        </p:grpSpPr>
        <p:sp>
          <p:nvSpPr>
            <p:cNvPr id="2" name="TextBox 2"/>
            <p:cNvSpPr txBox="1"/>
            <p:nvPr/>
          </p:nvSpPr>
          <p:spPr>
            <a:xfrm>
              <a:off x="450342" y="330518"/>
              <a:ext cx="12839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Q2｜公式口径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650558"/>
              <a:ext cx="810238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A2 和 NaNa 为什么不能跨代对应？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457200" y="12001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446532" y="1392555"/>
            <a:ext cx="9067800" cy="410718"/>
            <a:chOff x="446532" y="1392555"/>
            <a:chExt cx="9067800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446532" y="1392555"/>
              <a:ext cx="906780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同名不代表同一个物理量：公式、单位、聚合方式和数据依赖都要核对。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57200" y="1924050"/>
            <a:ext cx="11277600" cy="1504950"/>
            <a:chOff x="457200" y="1924050"/>
            <a:chExt cx="11277600" cy="1504950"/>
          </a:xfrm>
        </p:grpSpPr>
        <p:sp>
          <p:nvSpPr>
            <p:cNvPr id="8" name="Rectangle 8"/>
            <p:cNvSpPr/>
            <p:nvPr/>
          </p:nvSpPr>
          <p:spPr>
            <a:xfrm>
              <a:off x="457200" y="1924050"/>
              <a:ext cx="11277600" cy="4000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457200" y="2324100"/>
              <a:ext cx="1238250" cy="1104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1695450" y="2324100"/>
              <a:ext cx="3667125" cy="1104900"/>
            </a:xfrm>
            <a:prstGeom prst="rect">
              <a:avLst/>
            </a:prstGeom>
            <a:solidFill>
              <a:srgbClr val="F6F8F7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5362575" y="2324100"/>
              <a:ext cx="3667125" cy="1104900"/>
            </a:xfrm>
            <a:prstGeom prst="rect">
              <a:avLst/>
            </a:prstGeom>
            <a:solidFill>
              <a:srgbClr val="E9F2EF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9029700" y="2324100"/>
              <a:ext cx="2705100" cy="1104900"/>
            </a:xfrm>
            <a:prstGeom prst="rect">
              <a:avLst/>
            </a:prstGeom>
            <a:solidFill>
              <a:srgbClr val="F8EDE9"/>
            </a:solidFill>
            <a:ln>
              <a:noFill/>
            </a:ln>
          </p:spPr>
        </p:sp>
        <p:sp>
          <p:nvSpPr>
            <p:cNvPr id="13" name="Line 13"/>
            <p:cNvSpPr/>
            <p:nvPr/>
          </p:nvSpPr>
          <p:spPr>
            <a:xfrm>
              <a:off x="1695450" y="1924050"/>
              <a:ext cx="9525" cy="1504950"/>
            </a:xfrm>
            <a:custGeom>
              <a:avLst/>
              <a:gdLst/>
              <a:ahLst/>
              <a:cxnLst/>
              <a:rect l="l" t="t" r="r" b="b"/>
              <a:pathLst>
                <a:path w="9525" h="1504950">
                  <a:moveTo>
                    <a:pt x="0" y="0"/>
                  </a:moveTo>
                  <a:lnTo>
                    <a:pt x="0" y="150495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5362575" y="1924050"/>
              <a:ext cx="9525" cy="1504950"/>
            </a:xfrm>
            <a:custGeom>
              <a:avLst/>
              <a:gdLst/>
              <a:ahLst/>
              <a:cxnLst/>
              <a:rect l="l" t="t" r="r" b="b"/>
              <a:pathLst>
                <a:path w="9525" h="1504950">
                  <a:moveTo>
                    <a:pt x="0" y="0"/>
                  </a:moveTo>
                  <a:lnTo>
                    <a:pt x="0" y="150495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9029700" y="1924050"/>
              <a:ext cx="9525" cy="1504950"/>
            </a:xfrm>
            <a:custGeom>
              <a:avLst/>
              <a:gdLst/>
              <a:ahLst/>
              <a:cxnLst/>
              <a:rect l="l" t="t" r="r" b="b"/>
              <a:pathLst>
                <a:path w="9525" h="1504950">
                  <a:moveTo>
                    <a:pt x="0" y="0"/>
                  </a:moveTo>
                  <a:lnTo>
                    <a:pt x="0" y="150495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83231" y="2035492"/>
              <a:ext cx="5861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描述符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231156" y="2035492"/>
              <a:ext cx="5861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第一代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907806" y="2035492"/>
              <a:ext cx="5861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第二代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802920" y="2035492"/>
              <a:ext cx="1158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不能直接对应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46124" y="2574608"/>
              <a:ext cx="66040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A2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860804" y="2461260"/>
              <a:ext cx="2427732" cy="6537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65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全结构最长 Na–X 键长 ÷（有效 Na 半径 + 有效阴离子半径）无量纲；取全结构最大值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527929" y="2461260"/>
              <a:ext cx="1947672" cy="6537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65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a2_max_dist：每个 Na 位点最长 Na–X 键长的均值单位 Å；无目标键长分母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195054" y="2556510"/>
              <a:ext cx="972312" cy="6918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单位不同分母不同聚合方式不同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457200" y="3638550"/>
            <a:ext cx="11277600" cy="1562100"/>
            <a:chOff x="457200" y="3638550"/>
            <a:chExt cx="11277600" cy="1562100"/>
          </a:xfrm>
        </p:grpSpPr>
        <p:sp>
          <p:nvSpPr>
            <p:cNvPr id="25" name="Rectangle 25"/>
            <p:cNvSpPr/>
            <p:nvPr/>
          </p:nvSpPr>
          <p:spPr>
            <a:xfrm>
              <a:off x="457200" y="3638550"/>
              <a:ext cx="11277600" cy="4000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57200" y="4038600"/>
              <a:ext cx="1238250" cy="11620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1695450" y="4038600"/>
              <a:ext cx="3667125" cy="1162050"/>
            </a:xfrm>
            <a:prstGeom prst="rect">
              <a:avLst/>
            </a:prstGeom>
            <a:solidFill>
              <a:srgbClr val="F6F8F7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62575" y="4038600"/>
              <a:ext cx="3667125" cy="1162050"/>
            </a:xfrm>
            <a:prstGeom prst="rect">
              <a:avLst/>
            </a:prstGeom>
            <a:solidFill>
              <a:srgbClr val="E9F2EF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9029700" y="4038600"/>
              <a:ext cx="2705100" cy="1162050"/>
            </a:xfrm>
            <a:prstGeom prst="rect">
              <a:avLst/>
            </a:prstGeom>
            <a:solidFill>
              <a:srgbClr val="F8EDE9"/>
            </a:solidFill>
            <a:ln>
              <a:noFill/>
            </a:ln>
          </p:spPr>
        </p:sp>
        <p:sp>
          <p:nvSpPr>
            <p:cNvPr id="30" name="Line 30"/>
            <p:cNvSpPr/>
            <p:nvPr/>
          </p:nvSpPr>
          <p:spPr>
            <a:xfrm>
              <a:off x="1695450" y="3638550"/>
              <a:ext cx="9525" cy="1562100"/>
            </a:xfrm>
            <a:custGeom>
              <a:avLst/>
              <a:gdLst/>
              <a:ahLst/>
              <a:cxnLst/>
              <a:rect l="l" t="t" r="r" b="b"/>
              <a:pathLst>
                <a:path w="9525" h="1562100">
                  <a:moveTo>
                    <a:pt x="0" y="0"/>
                  </a:moveTo>
                  <a:lnTo>
                    <a:pt x="0" y="156210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5362575" y="3638550"/>
              <a:ext cx="9525" cy="1562100"/>
            </a:xfrm>
            <a:custGeom>
              <a:avLst/>
              <a:gdLst/>
              <a:ahLst/>
              <a:cxnLst/>
              <a:rect l="l" t="t" r="r" b="b"/>
              <a:pathLst>
                <a:path w="9525" h="1562100">
                  <a:moveTo>
                    <a:pt x="0" y="0"/>
                  </a:moveTo>
                  <a:lnTo>
                    <a:pt x="0" y="156210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  <p:sp>
          <p:nvSpPr>
            <p:cNvPr id="32" name="Line 32"/>
            <p:cNvSpPr/>
            <p:nvPr/>
          </p:nvSpPr>
          <p:spPr>
            <a:xfrm>
              <a:off x="9029700" y="3638550"/>
              <a:ext cx="9525" cy="1562100"/>
            </a:xfrm>
            <a:custGeom>
              <a:avLst/>
              <a:gdLst/>
              <a:ahLst/>
              <a:cxnLst/>
              <a:rect l="l" t="t" r="r" b="b"/>
              <a:pathLst>
                <a:path w="9525" h="1562100">
                  <a:moveTo>
                    <a:pt x="0" y="0"/>
                  </a:moveTo>
                  <a:lnTo>
                    <a:pt x="0" y="156210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83231" y="3749992"/>
              <a:ext cx="5861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描述符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231156" y="3749992"/>
              <a:ext cx="5861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第一代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907806" y="3749992"/>
              <a:ext cx="5861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第二代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802920" y="3749992"/>
              <a:ext cx="1158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不能直接对应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27598" y="4408170"/>
              <a:ext cx="89745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NaNa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860804" y="4194810"/>
              <a:ext cx="1840992" cy="6537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65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两个网络量在整批样本中先做百分位秩，再取均值同一结构会随同批材料改变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527929" y="4137660"/>
              <a:ext cx="1696212" cy="86334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65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最大连通分量占比 ×</a:t>
              </a:r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</a:t>
              </a: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min(平均邻居数/8, 1) ×</a:t>
              </a:r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</a:t>
              </a: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(估计维度+1)/4单结构近似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195054" y="4309110"/>
              <a:ext cx="1292352" cy="7299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第一代依赖数据集第二代是另一套单结构公式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457200" y="5467350"/>
            <a:ext cx="11277600" cy="476250"/>
            <a:chOff x="457200" y="5467350"/>
            <a:chExt cx="11277600" cy="476250"/>
          </a:xfrm>
        </p:grpSpPr>
        <p:sp>
          <p:nvSpPr>
            <p:cNvPr id="42" name="Rectangle 42"/>
            <p:cNvSpPr/>
            <p:nvPr/>
          </p:nvSpPr>
          <p:spPr>
            <a:xfrm>
              <a:off x="457200" y="5467350"/>
              <a:ext cx="11277600" cy="4762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2524811" y="5577840"/>
              <a:ext cx="714237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旧相关性不能直接贴到新变量名上，必须重新实现、重新检验。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451104" y="6356985"/>
            <a:ext cx="11289030" cy="234696"/>
            <a:chOff x="451104" y="6356985"/>
            <a:chExt cx="11289030" cy="234696"/>
          </a:xfrm>
        </p:grpSpPr>
        <p:sp>
          <p:nvSpPr>
            <p:cNvPr id="45" name="TextBox 45"/>
            <p:cNvSpPr txBox="1"/>
            <p:nvPr/>
          </p:nvSpPr>
          <p:spPr>
            <a:xfrm>
              <a:off x="451104" y="6356985"/>
              <a:ext cx="35710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Q&amp;A附录｜公式、单位和数据依赖必须同时核对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255940" y="637317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09 / 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41198" y="330518"/>
            <a:ext cx="11293602" cy="936117"/>
            <a:chOff x="441198" y="330518"/>
            <a:chExt cx="11293602" cy="936117"/>
          </a:xfrm>
        </p:grpSpPr>
        <p:sp>
          <p:nvSpPr>
            <p:cNvPr id="2" name="TextBox 2"/>
            <p:cNvSpPr txBox="1"/>
            <p:nvPr/>
          </p:nvSpPr>
          <p:spPr>
            <a:xfrm>
              <a:off x="450342" y="330518"/>
              <a:ext cx="12839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Q3｜数字口径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650558"/>
              <a:ext cx="680661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0.793 和 41→38 分别代表什么？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457200" y="12001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438150" y="1816418"/>
            <a:ext cx="4705350" cy="2816733"/>
            <a:chOff x="438150" y="1816418"/>
            <a:chExt cx="4705350" cy="2816733"/>
          </a:xfrm>
        </p:grpSpPr>
        <p:sp>
          <p:nvSpPr>
            <p:cNvPr id="6" name="TextBox 6"/>
            <p:cNvSpPr txBox="1"/>
            <p:nvPr/>
          </p:nvSpPr>
          <p:spPr>
            <a:xfrm>
              <a:off x="450342" y="1816418"/>
              <a:ext cx="17311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第一代历史模型性能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38150" y="2225992"/>
              <a:ext cx="2440800" cy="11334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58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0.793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48056" y="3044190"/>
              <a:ext cx="229875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交叉验证 Spearman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457200" y="3448050"/>
              <a:ext cx="4686300" cy="9525"/>
            </a:xfrm>
            <a:custGeom>
              <a:avLst/>
              <a:gdLst/>
              <a:ahLst/>
              <a:cxnLst/>
              <a:rect l="l" t="t" r="r" b="b"/>
              <a:pathLst>
                <a:path w="4686300" h="9525">
                  <a:moveTo>
                    <a:pt x="0" y="0"/>
                  </a:moveTo>
                  <a:lnTo>
                    <a:pt x="468630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50342" y="3645218"/>
              <a:ext cx="29664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输入：A2 + NaNa + SoftBV / Zeo++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50342" y="3969068"/>
              <a:ext cx="24189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仅 A2 + NaNa 网络量：0.755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50342" y="4369118"/>
              <a:ext cx="30620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不是 A2×NaNa 单一描述符的相关性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667500" y="1816418"/>
            <a:ext cx="5067300" cy="3026283"/>
            <a:chOff x="6667500" y="1816418"/>
            <a:chExt cx="5067300" cy="3026283"/>
          </a:xfrm>
        </p:grpSpPr>
        <p:sp>
          <p:nvSpPr>
            <p:cNvPr id="14" name="TextBox 14"/>
            <p:cNvSpPr txBox="1"/>
            <p:nvPr/>
          </p:nvSpPr>
          <p:spPr>
            <a:xfrm>
              <a:off x="6679692" y="1816418"/>
              <a:ext cx="1158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代码入口状态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667500" y="2225992"/>
              <a:ext cx="2965026" cy="11334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585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41 → 38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77406" y="3044190"/>
              <a:ext cx="260077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注册入口 → 可搜索入口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6686550" y="3448050"/>
              <a:ext cx="5048250" cy="9525"/>
            </a:xfrm>
            <a:custGeom>
              <a:avLst/>
              <a:gdLst/>
              <a:ahLst/>
              <a:cxnLst/>
              <a:rect l="l" t="t" r="r" b="b"/>
              <a:pathLst>
                <a:path w="5048250" h="9525">
                  <a:moveTo>
                    <a:pt x="0" y="0"/>
                  </a:moveTo>
                  <a:lnTo>
                    <a:pt x="504825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679692" y="364521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去掉一个兼容别名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679692" y="395001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去掉两个当前不可用入口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679692" y="425481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实际排序还会受有效覆盖率影响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679692" y="4578668"/>
              <a:ext cx="26852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不是第二轮已经得到的结果数量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2419350" y="5181600"/>
            <a:ext cx="7353300" cy="767334"/>
            <a:chOff x="2419350" y="5181600"/>
            <a:chExt cx="7353300" cy="767334"/>
          </a:xfrm>
        </p:grpSpPr>
        <p:sp>
          <p:nvSpPr>
            <p:cNvPr id="23" name="Rectangle 23"/>
            <p:cNvSpPr/>
            <p:nvPr/>
          </p:nvSpPr>
          <p:spPr>
            <a:xfrm>
              <a:off x="2419350" y="5181600"/>
              <a:ext cx="7353300" cy="7429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890124" y="5340668"/>
              <a:ext cx="44117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BE5DF"/>
                  </a:solidFill>
                  <a:latin typeface="+mn-lt"/>
                  <a:ea typeface="+mn-ea"/>
                  <a:cs typeface="+mn-cs"/>
                </a:rPr>
                <a:t>一个回答“旧模型表现怎样”，一个回答“代码入口多少”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420328" y="5596890"/>
              <a:ext cx="335134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都不回答“第二轮发现了什么”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51104" y="6356985"/>
            <a:ext cx="11289030" cy="234696"/>
            <a:chOff x="451104" y="6356985"/>
            <a:chExt cx="11289030" cy="234696"/>
          </a:xfrm>
        </p:grpSpPr>
        <p:sp>
          <p:nvSpPr>
            <p:cNvPr id="27" name="TextBox 27"/>
            <p:cNvSpPr txBox="1"/>
            <p:nvPr/>
          </p:nvSpPr>
          <p:spPr>
            <a:xfrm>
              <a:off x="451104" y="6356985"/>
              <a:ext cx="32296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Q&amp;A附录｜数字必须和对象、阶段一起陈述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255940" y="637317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10 / 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41198" y="330518"/>
            <a:ext cx="11293602" cy="936117"/>
            <a:chOff x="441198" y="330518"/>
            <a:chExt cx="11293602" cy="936117"/>
          </a:xfrm>
        </p:grpSpPr>
        <p:sp>
          <p:nvSpPr>
            <p:cNvPr id="2" name="TextBox 2"/>
            <p:cNvSpPr txBox="1"/>
            <p:nvPr/>
          </p:nvSpPr>
          <p:spPr>
            <a:xfrm>
              <a:off x="450342" y="330518"/>
              <a:ext cx="12839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Q4｜执行范围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650558"/>
              <a:ext cx="567751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主程序实际执行到哪一步？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457200" y="12001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450342" y="1530668"/>
            <a:ext cx="11290554" cy="264033"/>
            <a:chOff x="450342" y="1530668"/>
            <a:chExt cx="11290554" cy="264033"/>
          </a:xfrm>
        </p:grpSpPr>
        <p:sp>
          <p:nvSpPr>
            <p:cNvPr id="6" name="TextBox 6"/>
            <p:cNvSpPr txBox="1"/>
            <p:nvPr/>
          </p:nvSpPr>
          <p:spPr>
            <a:xfrm>
              <a:off x="450342" y="1530668"/>
              <a:ext cx="2908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一键主程序｜当前执行 Stage 0–4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982456" y="1546860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下面每一步的结果，作为下一步的输入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57200" y="1885950"/>
            <a:ext cx="2196465" cy="2362200"/>
            <a:chOff x="457200" y="1885950"/>
            <a:chExt cx="2196465" cy="2362200"/>
          </a:xfrm>
        </p:grpSpPr>
        <p:sp>
          <p:nvSpPr>
            <p:cNvPr id="9" name="Rectangle 9"/>
            <p:cNvSpPr/>
            <p:nvPr/>
          </p:nvSpPr>
          <p:spPr>
            <a:xfrm>
              <a:off x="457200" y="1885950"/>
              <a:ext cx="2133600" cy="23622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457200" y="1885950"/>
              <a:ext cx="2133600" cy="5143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38556" y="2015490"/>
              <a:ext cx="102756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Stage 0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38556" y="254889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把结构算成表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40842" y="29594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计算描述符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40842" y="324516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统计每列能覆盖多少材料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647700" y="3638550"/>
              <a:ext cx="1752600" cy="9525"/>
            </a:xfrm>
            <a:custGeom>
              <a:avLst/>
              <a:gdLst/>
              <a:ahLst/>
              <a:cxnLst/>
              <a:rect l="l" t="t" r="r" b="b"/>
              <a:pathLst>
                <a:path w="1752600" h="9525">
                  <a:moveTo>
                    <a:pt x="0" y="0"/>
                  </a:moveTo>
                  <a:lnTo>
                    <a:pt x="17526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1604" y="3813810"/>
              <a:ext cx="15387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得到：可分析的表格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2743200" y="1885950"/>
            <a:ext cx="2133600" cy="2362200"/>
            <a:chOff x="2743200" y="1885950"/>
            <a:chExt cx="2133600" cy="2362200"/>
          </a:xfrm>
        </p:grpSpPr>
        <p:sp>
          <p:nvSpPr>
            <p:cNvPr id="18" name="Rectangle 18"/>
            <p:cNvSpPr/>
            <p:nvPr/>
          </p:nvSpPr>
          <p:spPr>
            <a:xfrm>
              <a:off x="2743200" y="1885950"/>
              <a:ext cx="2133600" cy="236220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2743200" y="1885950"/>
              <a:ext cx="2133600" cy="5143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2924556" y="2015490"/>
              <a:ext cx="102756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Stage 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924556" y="254889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先找有用的量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926842" y="29594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先做原始比较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926842" y="32451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再做体系内部比较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2933700" y="3638550"/>
              <a:ext cx="1752600" cy="9525"/>
            </a:xfrm>
            <a:custGeom>
              <a:avLst/>
              <a:gdLst/>
              <a:ahLst/>
              <a:cxnLst/>
              <a:rect l="l" t="t" r="r" b="b"/>
              <a:pathLst>
                <a:path w="1752600" h="9525">
                  <a:moveTo>
                    <a:pt x="0" y="0"/>
                  </a:moveTo>
                  <a:lnTo>
                    <a:pt x="17526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2927604" y="3813810"/>
              <a:ext cx="13691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得到：候选结构量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029200" y="1885950"/>
            <a:ext cx="2133600" cy="2362200"/>
            <a:chOff x="5029200" y="1885950"/>
            <a:chExt cx="2133600" cy="2362200"/>
          </a:xfrm>
        </p:grpSpPr>
        <p:sp>
          <p:nvSpPr>
            <p:cNvPr id="27" name="Rectangle 27"/>
            <p:cNvSpPr/>
            <p:nvPr/>
          </p:nvSpPr>
          <p:spPr>
            <a:xfrm>
              <a:off x="5029200" y="1885950"/>
              <a:ext cx="2133600" cy="23622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5029200" y="1885950"/>
              <a:ext cx="2133600" cy="5143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210556" y="2015490"/>
              <a:ext cx="102756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Stage 2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210556" y="2548890"/>
              <a:ext cx="17993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换材料再挑一次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212842" y="295941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每次抽取一半材料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212842" y="32451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重新挑少量代表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5219700" y="3638550"/>
              <a:ext cx="1752600" cy="9525"/>
            </a:xfrm>
            <a:custGeom>
              <a:avLst/>
              <a:gdLst/>
              <a:ahLst/>
              <a:cxnLst/>
              <a:rect l="l" t="t" r="r" b="b"/>
              <a:pathLst>
                <a:path w="1752600" h="9525">
                  <a:moveTo>
                    <a:pt x="0" y="0"/>
                  </a:moveTo>
                  <a:lnTo>
                    <a:pt x="17526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213604" y="3813810"/>
              <a:ext cx="15387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得到：更稳定的代表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7315200" y="1885950"/>
            <a:ext cx="2133600" cy="2362200"/>
            <a:chOff x="7315200" y="1885950"/>
            <a:chExt cx="2133600" cy="2362200"/>
          </a:xfrm>
        </p:grpSpPr>
        <p:sp>
          <p:nvSpPr>
            <p:cNvPr id="36" name="Rectangle 36"/>
            <p:cNvSpPr/>
            <p:nvPr/>
          </p:nvSpPr>
          <p:spPr>
            <a:xfrm>
              <a:off x="7315200" y="1885950"/>
              <a:ext cx="2133600" cy="236220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7315200" y="1885950"/>
              <a:ext cx="2133600" cy="5143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496556" y="2015490"/>
              <a:ext cx="102756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Stage 3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496556" y="254889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有意义地组合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498842" y="29594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限制结构类别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498842" y="32451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检查运算和单位</a:t>
              </a:r>
            </a:p>
          </p:txBody>
        </p:sp>
        <p:sp>
          <p:nvSpPr>
            <p:cNvPr id="42" name="Line 42"/>
            <p:cNvSpPr/>
            <p:nvPr/>
          </p:nvSpPr>
          <p:spPr>
            <a:xfrm>
              <a:off x="7505700" y="3638550"/>
              <a:ext cx="1752600" cy="9525"/>
            </a:xfrm>
            <a:custGeom>
              <a:avLst/>
              <a:gdLst/>
              <a:ahLst/>
              <a:cxnLst/>
              <a:rect l="l" t="t" r="r" b="b"/>
              <a:pathLst>
                <a:path w="1752600" h="9525">
                  <a:moveTo>
                    <a:pt x="0" y="0"/>
                  </a:moveTo>
                  <a:lnTo>
                    <a:pt x="17526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499604" y="3813810"/>
              <a:ext cx="13691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得到：短组合清单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9601200" y="1885950"/>
            <a:ext cx="2133600" cy="2362200"/>
            <a:chOff x="9601200" y="1885950"/>
            <a:chExt cx="2133600" cy="2362200"/>
          </a:xfrm>
        </p:grpSpPr>
        <p:sp>
          <p:nvSpPr>
            <p:cNvPr id="45" name="Rectangle 45"/>
            <p:cNvSpPr/>
            <p:nvPr/>
          </p:nvSpPr>
          <p:spPr>
            <a:xfrm>
              <a:off x="9601200" y="1885950"/>
              <a:ext cx="2133600" cy="23622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9601200" y="1885950"/>
              <a:ext cx="2133600" cy="5143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9782556" y="2015490"/>
              <a:ext cx="102756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Stage 4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782556" y="2548890"/>
              <a:ext cx="17993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只复查靠前组合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784842" y="295941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按材料体系分别检查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784842" y="32451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目前属于探索性复查</a:t>
              </a:r>
            </a:p>
          </p:txBody>
        </p:sp>
        <p:sp>
          <p:nvSpPr>
            <p:cNvPr id="51" name="Line 51"/>
            <p:cNvSpPr/>
            <p:nvPr/>
          </p:nvSpPr>
          <p:spPr>
            <a:xfrm>
              <a:off x="9791700" y="3638550"/>
              <a:ext cx="1752600" cy="9525"/>
            </a:xfrm>
            <a:custGeom>
              <a:avLst/>
              <a:gdLst/>
              <a:ahLst/>
              <a:cxnLst/>
              <a:rect l="l" t="t" r="r" b="b"/>
              <a:pathLst>
                <a:path w="1752600" h="9525">
                  <a:moveTo>
                    <a:pt x="0" y="0"/>
                  </a:moveTo>
                  <a:lnTo>
                    <a:pt x="17526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9785604" y="3813810"/>
              <a:ext cx="13691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得到：待验证证据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2590800" y="3048000"/>
            <a:ext cx="7010400" cy="9525"/>
            <a:chOff x="2590800" y="3048000"/>
            <a:chExt cx="7010400" cy="9525"/>
          </a:xfrm>
        </p:grpSpPr>
        <p:sp>
          <p:nvSpPr>
            <p:cNvPr id="54" name="Line 54"/>
            <p:cNvSpPr/>
            <p:nvPr/>
          </p:nvSpPr>
          <p:spPr>
            <a:xfrm>
              <a:off x="2590800" y="3048000"/>
              <a:ext cx="152400" cy="9525"/>
            </a:xfrm>
            <a:custGeom>
              <a:avLst/>
              <a:gdLst/>
              <a:ahLst/>
              <a:cxnLst/>
              <a:rect l="l" t="t" r="r" b="b"/>
              <a:pathLst>
                <a:path w="152400" h="9525">
                  <a:moveTo>
                    <a:pt x="0" y="0"/>
                  </a:moveTo>
                  <a:lnTo>
                    <a:pt x="15240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55" name="Line 55"/>
            <p:cNvSpPr/>
            <p:nvPr/>
          </p:nvSpPr>
          <p:spPr>
            <a:xfrm>
              <a:off x="4876800" y="3048000"/>
              <a:ext cx="152400" cy="9525"/>
            </a:xfrm>
            <a:custGeom>
              <a:avLst/>
              <a:gdLst/>
              <a:ahLst/>
              <a:cxnLst/>
              <a:rect l="l" t="t" r="r" b="b"/>
              <a:pathLst>
                <a:path w="152400" h="9525">
                  <a:moveTo>
                    <a:pt x="0" y="0"/>
                  </a:moveTo>
                  <a:lnTo>
                    <a:pt x="15240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56" name="Line 56"/>
            <p:cNvSpPr/>
            <p:nvPr/>
          </p:nvSpPr>
          <p:spPr>
            <a:xfrm>
              <a:off x="7162800" y="3048000"/>
              <a:ext cx="152400" cy="9525"/>
            </a:xfrm>
            <a:custGeom>
              <a:avLst/>
              <a:gdLst/>
              <a:ahLst/>
              <a:cxnLst/>
              <a:rect l="l" t="t" r="r" b="b"/>
              <a:pathLst>
                <a:path w="152400" h="9525">
                  <a:moveTo>
                    <a:pt x="0" y="0"/>
                  </a:moveTo>
                  <a:lnTo>
                    <a:pt x="15240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57" name="Line 57"/>
            <p:cNvSpPr/>
            <p:nvPr/>
          </p:nvSpPr>
          <p:spPr>
            <a:xfrm>
              <a:off x="9448800" y="3048000"/>
              <a:ext cx="152400" cy="9525"/>
            </a:xfrm>
            <a:custGeom>
              <a:avLst/>
              <a:gdLst/>
              <a:ahLst/>
              <a:cxnLst/>
              <a:rect l="l" t="t" r="r" b="b"/>
              <a:pathLst>
                <a:path w="152400" h="9525">
                  <a:moveTo>
                    <a:pt x="0" y="0"/>
                  </a:moveTo>
                  <a:lnTo>
                    <a:pt x="15240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</p:grpSp>
      <p:grpSp>
        <p:nvGrpSpPr>
          <p:cNvPr id="73" name="Group 73"/>
          <p:cNvGrpSpPr/>
          <p:nvPr/>
        </p:nvGrpSpPr>
        <p:grpSpPr>
          <a:xfrm>
            <a:off x="457200" y="4591050"/>
            <a:ext cx="11277600" cy="1295400"/>
            <a:chOff x="457200" y="4591050"/>
            <a:chExt cx="11277600" cy="1295400"/>
          </a:xfrm>
        </p:grpSpPr>
        <p:sp>
          <p:nvSpPr>
            <p:cNvPr id="59" name="Rectangle 59"/>
            <p:cNvSpPr/>
            <p:nvPr/>
          </p:nvSpPr>
          <p:spPr>
            <a:xfrm>
              <a:off x="457200" y="4591050"/>
              <a:ext cx="11277600" cy="12954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457200" y="4591050"/>
              <a:ext cx="1866900" cy="1295400"/>
            </a:xfrm>
            <a:prstGeom prst="rect">
              <a:avLst/>
            </a:prstGeom>
            <a:solidFill>
              <a:srgbClr val="FBE5DF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78942" y="4807268"/>
              <a:ext cx="1158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需要单独运行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78942" y="51120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数据校验、室温值选择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79704" y="5433060"/>
              <a:ext cx="17084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不会自动并入上面五步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2602992" y="4807268"/>
              <a:ext cx="13494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数据能不能入场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2603754" y="5128260"/>
              <a:ext cx="12964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validate_raw.py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2603754" y="5394960"/>
              <a:ext cx="18537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registry integrity gate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5003292" y="4807268"/>
              <a:ext cx="1158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室温值怎样选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5004054" y="5128260"/>
              <a:ext cx="10379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select_rt.py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194042" y="4807268"/>
              <a:ext cx="21127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写法改变会不会影响结果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194804" y="5128260"/>
              <a:ext cx="25565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descriptor_invariance_probe.py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9556242" y="4807268"/>
              <a:ext cx="13494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数值能不能追溯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9557004" y="5128260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descriptor_fingerprint.py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451104" y="6356985"/>
            <a:ext cx="11289030" cy="234696"/>
            <a:chOff x="451104" y="6356985"/>
            <a:chExt cx="11289030" cy="234696"/>
          </a:xfrm>
        </p:grpSpPr>
        <p:sp>
          <p:nvSpPr>
            <p:cNvPr id="74" name="TextBox 74"/>
            <p:cNvSpPr txBox="1"/>
            <p:nvPr/>
          </p:nvSpPr>
          <p:spPr>
            <a:xfrm>
              <a:off x="451104" y="6356985"/>
              <a:ext cx="34003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Q&amp;A附录｜主程序和审计工具的边界要分开说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1255940" y="637317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11 / 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41198" y="330518"/>
            <a:ext cx="11293602" cy="936117"/>
            <a:chOff x="441198" y="330518"/>
            <a:chExt cx="11293602" cy="936117"/>
          </a:xfrm>
        </p:grpSpPr>
        <p:sp>
          <p:nvSpPr>
            <p:cNvPr id="2" name="TextBox 2"/>
            <p:cNvSpPr txBox="1"/>
            <p:nvPr/>
          </p:nvSpPr>
          <p:spPr>
            <a:xfrm>
              <a:off x="450342" y="330518"/>
              <a:ext cx="12839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Q5｜证据边界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650558"/>
              <a:ext cx="708888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为什么现在还只能叫探索性证据？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457200" y="12001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450342" y="1606868"/>
            <a:ext cx="3658452" cy="264033"/>
            <a:chOff x="450342" y="1606868"/>
            <a:chExt cx="3658452" cy="264033"/>
          </a:xfrm>
        </p:grpSpPr>
        <p:sp>
          <p:nvSpPr>
            <p:cNvPr id="6" name="TextBox 6"/>
            <p:cNvSpPr txBox="1"/>
            <p:nvPr/>
          </p:nvSpPr>
          <p:spPr>
            <a:xfrm>
              <a:off x="450342" y="1606868"/>
              <a:ext cx="36584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越往上，越接近“可以外推到没见过的材料”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57200" y="2038350"/>
            <a:ext cx="5391150" cy="3752850"/>
            <a:chOff x="457200" y="2038350"/>
            <a:chExt cx="5391150" cy="3752850"/>
          </a:xfrm>
        </p:grpSpPr>
        <p:sp>
          <p:nvSpPr>
            <p:cNvPr id="8" name="Freeform 8"/>
            <p:cNvSpPr/>
            <p:nvPr/>
          </p:nvSpPr>
          <p:spPr>
            <a:xfrm>
              <a:off x="457200" y="4933950"/>
              <a:ext cx="5391150" cy="857250"/>
            </a:xfrm>
            <a:custGeom>
              <a:avLst/>
              <a:gdLst/>
              <a:ahLst/>
              <a:cxnLst/>
              <a:rect l="l" t="t" r="r" b="b"/>
              <a:pathLst>
                <a:path w="5391150" h="857250">
                  <a:moveTo>
                    <a:pt x="0" y="857250"/>
                  </a:moveTo>
                  <a:lnTo>
                    <a:pt x="762000" y="0"/>
                  </a:lnTo>
                  <a:lnTo>
                    <a:pt x="4629150" y="0"/>
                  </a:lnTo>
                  <a:lnTo>
                    <a:pt x="5391150" y="8572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295400" y="3905250"/>
              <a:ext cx="3714750" cy="857250"/>
            </a:xfrm>
            <a:custGeom>
              <a:avLst/>
              <a:gdLst/>
              <a:ahLst/>
              <a:cxnLst/>
              <a:rect l="l" t="t" r="r" b="b"/>
              <a:pathLst>
                <a:path w="3714750" h="857250">
                  <a:moveTo>
                    <a:pt x="0" y="857250"/>
                  </a:moveTo>
                  <a:lnTo>
                    <a:pt x="647700" y="0"/>
                  </a:lnTo>
                  <a:lnTo>
                    <a:pt x="3067050" y="0"/>
                  </a:lnTo>
                  <a:lnTo>
                    <a:pt x="3714750" y="85725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2019300" y="2876550"/>
              <a:ext cx="2266950" cy="857250"/>
            </a:xfrm>
            <a:custGeom>
              <a:avLst/>
              <a:gdLst/>
              <a:ahLst/>
              <a:cxnLst/>
              <a:rect l="l" t="t" r="r" b="b"/>
              <a:pathLst>
                <a:path w="2266950" h="857250">
                  <a:moveTo>
                    <a:pt x="0" y="857250"/>
                  </a:moveTo>
                  <a:lnTo>
                    <a:pt x="552450" y="0"/>
                  </a:lnTo>
                  <a:lnTo>
                    <a:pt x="1714500" y="0"/>
                  </a:lnTo>
                  <a:lnTo>
                    <a:pt x="2266950" y="857250"/>
                  </a:lnTo>
                  <a:close/>
                </a:path>
              </a:pathLst>
            </a:custGeom>
            <a:solidFill>
              <a:schemeClr val="lt1"/>
            </a:solidFill>
            <a:ln w="28575">
              <a:solidFill>
                <a:schemeClr val="accent2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2647950" y="2038350"/>
              <a:ext cx="1009650" cy="666750"/>
            </a:xfrm>
            <a:custGeom>
              <a:avLst/>
              <a:gdLst/>
              <a:ahLst/>
              <a:cxnLst/>
              <a:rect l="l" t="t" r="r" b="b"/>
              <a:pathLst>
                <a:path w="1009650" h="666750">
                  <a:moveTo>
                    <a:pt x="0" y="666750"/>
                  </a:moveTo>
                  <a:lnTo>
                    <a:pt x="504825" y="0"/>
                  </a:lnTo>
                  <a:lnTo>
                    <a:pt x="1009650" y="666750"/>
                  </a:lnTo>
                  <a:close/>
                </a:path>
              </a:pathLst>
            </a:custGeom>
            <a:solidFill>
              <a:schemeClr val="lt1"/>
            </a:solidFill>
            <a:ln w="28575">
              <a:solidFill>
                <a:schemeClr val="accent2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468194" y="2346960"/>
              <a:ext cx="13691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完全没见过的体系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298573" y="3108960"/>
              <a:ext cx="17084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选择后会不会过于乐观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041585" y="4132421"/>
              <a:ext cx="222238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对靠前组合做体系内复查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941225" y="5161121"/>
              <a:ext cx="24230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先扣除体系整体起点再比较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015871" y="5452110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D9E4E1"/>
                  </a:solidFill>
                  <a:latin typeface="+mn-lt"/>
                  <a:ea typeface="+mn-ea"/>
                  <a:cs typeface="+mn-cs"/>
                </a:rPr>
                <a:t>精确口径：线性残差的排序相关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534150" y="1962150"/>
            <a:ext cx="5200650" cy="3829050"/>
            <a:chOff x="6534150" y="1962150"/>
            <a:chExt cx="5200650" cy="3829050"/>
          </a:xfrm>
        </p:grpSpPr>
        <p:sp>
          <p:nvSpPr>
            <p:cNvPr id="18" name="Rectangle 18"/>
            <p:cNvSpPr/>
            <p:nvPr/>
          </p:nvSpPr>
          <p:spPr>
            <a:xfrm>
              <a:off x="6534150" y="1962150"/>
              <a:ext cx="5200650" cy="819150"/>
            </a:xfrm>
            <a:prstGeom prst="rect">
              <a:avLst/>
            </a:prstGeom>
            <a:solidFill>
              <a:srgbClr val="FBE5DF"/>
            </a:solidFill>
            <a:ln w="9525">
              <a:solidFill>
                <a:schemeClr val="accent2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755892" y="2121218"/>
              <a:ext cx="22749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还缺 2｜真正的跨体系检验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755892" y="2426018"/>
              <a:ext cx="4011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当前不能宣称可以预测一个完全未见的材料体系。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534150" y="2952750"/>
              <a:ext cx="5200650" cy="93345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755892" y="3111818"/>
              <a:ext cx="36107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还缺 1｜挑选过以后再检验，分数可能偏高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755892" y="3416618"/>
              <a:ext cx="44026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主检验的 p 值偏小，尝试过多少候选还没有完整计入。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534150" y="4057650"/>
              <a:ext cx="5200650" cy="78105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3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755892" y="4216718"/>
              <a:ext cx="32577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已有｜对排名靠前的组合做分体系复查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755892" y="4521518"/>
              <a:ext cx="4011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样本太少的体系不报告，避免把离散值当成证据。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534150" y="5010150"/>
              <a:ext cx="5200650" cy="7810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755892" y="5169218"/>
              <a:ext cx="34485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已有｜先把体系类别能够解释的部分拿掉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755892" y="5474018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D9E4E1"/>
                  </a:solidFill>
                  <a:latin typeface="+mn-lt"/>
                  <a:ea typeface="+mn-ea"/>
                  <a:cs typeface="+mn-cs"/>
                </a:rPr>
                <a:t>再比较结构量和电导率的剩余排序是否同向。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528054" y="5966460"/>
            <a:ext cx="3913480" cy="234696"/>
            <a:chOff x="6528054" y="5966460"/>
            <a:chExt cx="3913480" cy="234696"/>
          </a:xfrm>
        </p:grpSpPr>
        <p:sp>
          <p:nvSpPr>
            <p:cNvPr id="31" name="TextBox 31"/>
            <p:cNvSpPr txBox="1"/>
            <p:nvPr/>
          </p:nvSpPr>
          <p:spPr>
            <a:xfrm>
              <a:off x="6528054" y="5966460"/>
              <a:ext cx="39134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所以：已有检查能减少误判，但还没有闭合证据链。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451104" y="6356985"/>
            <a:ext cx="11289030" cy="234696"/>
            <a:chOff x="451104" y="6356985"/>
            <a:chExt cx="11289030" cy="234696"/>
          </a:xfrm>
        </p:grpSpPr>
        <p:sp>
          <p:nvSpPr>
            <p:cNvPr id="33" name="TextBox 33"/>
            <p:cNvSpPr txBox="1"/>
            <p:nvPr/>
          </p:nvSpPr>
          <p:spPr>
            <a:xfrm>
              <a:off x="451104" y="6356985"/>
              <a:ext cx="27517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Q&amp;A附录｜“稳定”不等于“可以外推”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255940" y="637317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12 / 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41198" y="330518"/>
            <a:ext cx="11293602" cy="936117"/>
            <a:chOff x="441198" y="330518"/>
            <a:chExt cx="11293602" cy="936117"/>
          </a:xfrm>
        </p:grpSpPr>
        <p:sp>
          <p:nvSpPr>
            <p:cNvPr id="2" name="TextBox 2"/>
            <p:cNvSpPr txBox="1"/>
            <p:nvPr/>
          </p:nvSpPr>
          <p:spPr>
            <a:xfrm>
              <a:off x="450342" y="330518"/>
              <a:ext cx="14855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Q6｜下一步验证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650558"/>
              <a:ext cx="473659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下一步怎样验证才够？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457200" y="12001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449580" y="1552575"/>
            <a:ext cx="4891850" cy="293370"/>
            <a:chOff x="449580" y="1552575"/>
            <a:chExt cx="4891850" cy="293370"/>
          </a:xfrm>
        </p:grpSpPr>
        <p:sp>
          <p:nvSpPr>
            <p:cNvPr id="6" name="TextBox 6"/>
            <p:cNvSpPr txBox="1"/>
            <p:nvPr/>
          </p:nvSpPr>
          <p:spPr>
            <a:xfrm>
              <a:off x="449580" y="1552575"/>
              <a:ext cx="48918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低成本线索先缩小范围，再用更强证据验证材料含义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57200" y="2015490"/>
            <a:ext cx="3486150" cy="2861310"/>
            <a:chOff x="457200" y="2015490"/>
            <a:chExt cx="3486150" cy="2861310"/>
          </a:xfrm>
        </p:grpSpPr>
        <p:sp>
          <p:nvSpPr>
            <p:cNvPr id="8" name="TextBox 8"/>
            <p:cNvSpPr txBox="1"/>
            <p:nvPr/>
          </p:nvSpPr>
          <p:spPr>
            <a:xfrm>
              <a:off x="791756" y="2015490"/>
              <a:ext cx="28170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冗余：是不是同一信息？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457200" y="4324350"/>
              <a:ext cx="3486150" cy="552450"/>
            </a:xfrm>
            <a:custGeom>
              <a:avLst/>
              <a:gdLst/>
              <a:ahLst/>
              <a:cxnLst/>
              <a:rect l="l" t="t" r="r" b="b"/>
              <a:pathLst>
                <a:path w="3486150" h="552450">
                  <a:moveTo>
                    <a:pt x="0" y="552450"/>
                  </a:moveTo>
                  <a:lnTo>
                    <a:pt x="304800" y="0"/>
                  </a:lnTo>
                  <a:lnTo>
                    <a:pt x="3181350" y="0"/>
                  </a:lnTo>
                  <a:lnTo>
                    <a:pt x="3486150" y="5524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762000" y="3714750"/>
              <a:ext cx="2876550" cy="514350"/>
            </a:xfrm>
            <a:custGeom>
              <a:avLst/>
              <a:gdLst/>
              <a:ahLst/>
              <a:cxnLst/>
              <a:rect l="l" t="t" r="r" b="b"/>
              <a:pathLst>
                <a:path w="2876550" h="514350">
                  <a:moveTo>
                    <a:pt x="0" y="514350"/>
                  </a:moveTo>
                  <a:lnTo>
                    <a:pt x="304800" y="0"/>
                  </a:lnTo>
                  <a:lnTo>
                    <a:pt x="2571750" y="0"/>
                  </a:lnTo>
                  <a:lnTo>
                    <a:pt x="2876550" y="51435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066800" y="3105150"/>
              <a:ext cx="2266950" cy="514350"/>
            </a:xfrm>
            <a:custGeom>
              <a:avLst/>
              <a:gdLst/>
              <a:ahLst/>
              <a:cxnLst/>
              <a:rect l="l" t="t" r="r" b="b"/>
              <a:pathLst>
                <a:path w="2266950" h="514350">
                  <a:moveTo>
                    <a:pt x="0" y="514350"/>
                  </a:moveTo>
                  <a:lnTo>
                    <a:pt x="304800" y="0"/>
                  </a:lnTo>
                  <a:lnTo>
                    <a:pt x="1962150" y="0"/>
                  </a:lnTo>
                  <a:lnTo>
                    <a:pt x="2266950" y="51435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chemeClr val="accent3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371600" y="2457450"/>
              <a:ext cx="1657350" cy="552450"/>
            </a:xfrm>
            <a:custGeom>
              <a:avLst/>
              <a:gdLst/>
              <a:ahLst/>
              <a:cxnLst/>
              <a:rect l="l" t="t" r="r" b="b"/>
              <a:pathLst>
                <a:path w="1657350" h="552450">
                  <a:moveTo>
                    <a:pt x="0" y="552450"/>
                  </a:moveTo>
                  <a:lnTo>
                    <a:pt x="828675" y="0"/>
                  </a:lnTo>
                  <a:lnTo>
                    <a:pt x="1657350" y="552450"/>
                  </a:lnTo>
                  <a:close/>
                </a:path>
              </a:pathLst>
            </a:custGeom>
            <a:solidFill>
              <a:schemeClr val="lt1"/>
            </a:solidFill>
            <a:ln w="28575">
              <a:solidFill>
                <a:schemeClr val="accent2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515694" y="2708910"/>
              <a:ext cx="13691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新数据中高度相似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685315" y="3280410"/>
              <a:ext cx="10299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共同结构输入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770126" y="3870960"/>
              <a:ext cx="8602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同名同函数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600505" y="4499610"/>
              <a:ext cx="11995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保留一个代表量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133850" y="2015490"/>
            <a:ext cx="3486150" cy="2861310"/>
            <a:chOff x="4133850" y="2015490"/>
            <a:chExt cx="3486150" cy="2861310"/>
          </a:xfrm>
        </p:grpSpPr>
        <p:sp>
          <p:nvSpPr>
            <p:cNvPr id="18" name="TextBox 18"/>
            <p:cNvSpPr txBox="1"/>
            <p:nvPr/>
          </p:nvSpPr>
          <p:spPr>
            <a:xfrm>
              <a:off x="4341190" y="2015490"/>
              <a:ext cx="307147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空位：真的能帮助迁移吗？</a:t>
              </a:r>
            </a:p>
          </p:txBody>
        </p:sp>
        <p:sp>
          <p:nvSpPr>
            <p:cNvPr id="19" name="Freeform 19"/>
            <p:cNvSpPr/>
            <p:nvPr/>
          </p:nvSpPr>
          <p:spPr>
            <a:xfrm>
              <a:off x="4133850" y="4324350"/>
              <a:ext cx="3486150" cy="552450"/>
            </a:xfrm>
            <a:custGeom>
              <a:avLst/>
              <a:gdLst/>
              <a:ahLst/>
              <a:cxnLst/>
              <a:rect l="l" t="t" r="r" b="b"/>
              <a:pathLst>
                <a:path w="3486150" h="552450">
                  <a:moveTo>
                    <a:pt x="0" y="552450"/>
                  </a:moveTo>
                  <a:lnTo>
                    <a:pt x="304800" y="0"/>
                  </a:lnTo>
                  <a:lnTo>
                    <a:pt x="3181350" y="0"/>
                  </a:lnTo>
                  <a:lnTo>
                    <a:pt x="3486150" y="5524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4438650" y="3714750"/>
              <a:ext cx="2876550" cy="514350"/>
            </a:xfrm>
            <a:custGeom>
              <a:avLst/>
              <a:gdLst/>
              <a:ahLst/>
              <a:cxnLst/>
              <a:rect l="l" t="t" r="r" b="b"/>
              <a:pathLst>
                <a:path w="2876550" h="514350">
                  <a:moveTo>
                    <a:pt x="0" y="514350"/>
                  </a:moveTo>
                  <a:lnTo>
                    <a:pt x="304800" y="0"/>
                  </a:lnTo>
                  <a:lnTo>
                    <a:pt x="2571750" y="0"/>
                  </a:lnTo>
                  <a:lnTo>
                    <a:pt x="2876550" y="51435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chemeClr val="accent3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4743450" y="3105150"/>
              <a:ext cx="2266950" cy="514350"/>
            </a:xfrm>
            <a:custGeom>
              <a:avLst/>
              <a:gdLst/>
              <a:ahLst/>
              <a:cxnLst/>
              <a:rect l="l" t="t" r="r" b="b"/>
              <a:pathLst>
                <a:path w="2266950" h="514350">
                  <a:moveTo>
                    <a:pt x="0" y="514350"/>
                  </a:moveTo>
                  <a:lnTo>
                    <a:pt x="304800" y="0"/>
                  </a:lnTo>
                  <a:lnTo>
                    <a:pt x="1962150" y="0"/>
                  </a:lnTo>
                  <a:lnTo>
                    <a:pt x="2266950" y="514350"/>
                  </a:lnTo>
                  <a:close/>
                </a:path>
              </a:pathLst>
            </a:custGeom>
            <a:solidFill>
              <a:schemeClr val="lt1"/>
            </a:solidFill>
            <a:ln w="28575">
              <a:solidFill>
                <a:schemeClr val="accent2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5048250" y="2457450"/>
              <a:ext cx="1657350" cy="552450"/>
            </a:xfrm>
            <a:custGeom>
              <a:avLst/>
              <a:gdLst/>
              <a:ahLst/>
              <a:cxnLst/>
              <a:rect l="l" t="t" r="r" b="b"/>
              <a:pathLst>
                <a:path w="1657350" h="552450">
                  <a:moveTo>
                    <a:pt x="0" y="552450"/>
                  </a:moveTo>
                  <a:lnTo>
                    <a:pt x="828675" y="0"/>
                  </a:lnTo>
                  <a:lnTo>
                    <a:pt x="1657350" y="552450"/>
                  </a:lnTo>
                  <a:close/>
                </a:path>
              </a:pathLst>
            </a:custGeom>
            <a:solidFill>
              <a:schemeClr val="lt1"/>
            </a:solidFill>
            <a:ln w="28575">
              <a:solidFill>
                <a:schemeClr val="accent2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835820" y="2708910"/>
              <a:ext cx="208221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少量 DFT / AIMD 动态验证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107534" y="3280410"/>
              <a:ext cx="15387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键价或能量是否合适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192344" y="3870960"/>
              <a:ext cx="13691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几何上是否有空腔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091212" y="4499610"/>
              <a:ext cx="15714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CIF 中是否记录占位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8096250" y="1447800"/>
            <a:ext cx="3638550" cy="3457956"/>
            <a:chOff x="8096250" y="1447800"/>
            <a:chExt cx="3638550" cy="3457956"/>
          </a:xfrm>
        </p:grpSpPr>
        <p:sp>
          <p:nvSpPr>
            <p:cNvPr id="28" name="Rectangle 28"/>
            <p:cNvSpPr/>
            <p:nvPr/>
          </p:nvSpPr>
          <p:spPr>
            <a:xfrm>
              <a:off x="8096250" y="1447800"/>
              <a:ext cx="3638550" cy="3429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355330" y="1628775"/>
              <a:ext cx="19234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正式运行前的三道门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350758" y="2084070"/>
              <a:ext cx="41867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01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945118" y="2145982"/>
              <a:ext cx="191758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修正主检验的 p 值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8362950" y="2571750"/>
              <a:ext cx="3105150" cy="9525"/>
            </a:xfrm>
            <a:custGeom>
              <a:avLst/>
              <a:gdLst/>
              <a:ahLst/>
              <a:cxnLst/>
              <a:rect l="l" t="t" r="r" b="b"/>
              <a:pathLst>
                <a:path w="3105150" h="9525">
                  <a:moveTo>
                    <a:pt x="0" y="0"/>
                  </a:moveTo>
                  <a:lnTo>
                    <a:pt x="310515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350758" y="2846070"/>
              <a:ext cx="41867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02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945118" y="2907982"/>
              <a:ext cx="188259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自动识别重复信息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362950" y="3333750"/>
              <a:ext cx="3105150" cy="9525"/>
            </a:xfrm>
            <a:custGeom>
              <a:avLst/>
              <a:gdLst/>
              <a:ahLst/>
              <a:cxnLst/>
              <a:rect l="l" t="t" r="r" b="b"/>
              <a:pathLst>
                <a:path w="3105150" h="9525">
                  <a:moveTo>
                    <a:pt x="0" y="0"/>
                  </a:moveTo>
                  <a:lnTo>
                    <a:pt x="310515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350758" y="3608070"/>
              <a:ext cx="41867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03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945118" y="3669982"/>
              <a:ext cx="188259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真正留出一个体系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8362950" y="4095750"/>
              <a:ext cx="3105150" cy="9525"/>
            </a:xfrm>
            <a:custGeom>
              <a:avLst/>
              <a:gdLst/>
              <a:ahLst/>
              <a:cxnLst/>
              <a:rect l="l" t="t" r="r" b="b"/>
              <a:pathLst>
                <a:path w="3105150" h="9525">
                  <a:moveTo>
                    <a:pt x="0" y="0"/>
                  </a:moveTo>
                  <a:lnTo>
                    <a:pt x="310515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356854" y="4309110"/>
              <a:ext cx="260299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当前缺口：几何空腔程序尚未自动接入能量入口还需要外部程序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56854" y="4671060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这里只画路线，不表示能力已经完成。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457200" y="5219700"/>
            <a:ext cx="11277600" cy="786384"/>
            <a:chOff x="457200" y="5219700"/>
            <a:chExt cx="11277600" cy="786384"/>
          </a:xfrm>
        </p:grpSpPr>
        <p:sp>
          <p:nvSpPr>
            <p:cNvPr id="42" name="Rectangle 42"/>
            <p:cNvSpPr/>
            <p:nvPr/>
          </p:nvSpPr>
          <p:spPr>
            <a:xfrm>
              <a:off x="457200" y="5219700"/>
              <a:ext cx="11277600" cy="7810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3544824" y="5397818"/>
              <a:ext cx="51023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D9E4E1"/>
                  </a:solidFill>
                  <a:latin typeface="+mn-lt"/>
                  <a:ea typeface="+mn-ea"/>
                  <a:cs typeface="+mn-cs"/>
                </a:rPr>
                <a:t>低成本线索不是结论；跨层验证之后，候选才进入材料机制解释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639305" y="5654040"/>
              <a:ext cx="691339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第二轮让每个“强相关”都说清：证据来自哪一层，还缺哪一层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451104" y="6356985"/>
            <a:ext cx="11289030" cy="234696"/>
            <a:chOff x="451104" y="6356985"/>
            <a:chExt cx="11289030" cy="234696"/>
          </a:xfrm>
        </p:grpSpPr>
        <p:sp>
          <p:nvSpPr>
            <p:cNvPr id="46" name="TextBox 46"/>
            <p:cNvSpPr txBox="1"/>
            <p:nvPr/>
          </p:nvSpPr>
          <p:spPr>
            <a:xfrm>
              <a:off x="451104" y="6356985"/>
              <a:ext cx="39124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Q&amp;A附录｜下一步优先补证据链，而不是继续堆候选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255940" y="637317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13 / 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两代描述符筛选阶段性汇报">
  <a:themeElements>
    <a:clrScheme name="两代描述符筛选阶段性汇报">
      <a:dk1>
        <a:srgbClr val="182229"/>
      </a:dk1>
      <a:lt1>
        <a:srgbClr val="FFFFFF"/>
      </a:lt1>
      <a:dk2>
        <a:srgbClr val="1F497D"/>
      </a:dk2>
      <a:lt2>
        <a:srgbClr val="EFF3F1"/>
      </a:lt2>
      <a:accent1>
        <a:srgbClr val="113B4A"/>
      </a:accent1>
      <a:accent2>
        <a:srgbClr val="C75B39"/>
      </a:accent2>
      <a:accent3>
        <a:srgbClr val="2E7D6E"/>
      </a:accent3>
      <a:accent4>
        <a:srgbClr val="113B4A"/>
      </a:accent4>
      <a:accent5>
        <a:srgbClr val="CFDAD7"/>
      </a:accent5>
      <a:accent6>
        <a:srgbClr val="647176"/>
      </a:accent6>
      <a:hlink>
        <a:srgbClr val="C75B39"/>
      </a:hlink>
      <a:folHlink>
        <a:srgbClr val="2E7D6E"/>
      </a:folHlink>
    </a:clrScheme>
    <a:fontScheme name="两代描述符筛选阶段性汇报">
      <a:majorFont>
        <a:latin typeface="Georgia"/>
        <a:ea typeface="SimSun"/>
        <a:cs typeface="Georgia"/>
        <a:font script="Jpan" typeface="SimSun"/>
        <a:font script="Hang" typeface="SimSun"/>
        <a:font script="Hans" typeface="SimSun"/>
        <a:font script="Hant" typeface="SimSu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两代描述符筛选阶段性汇报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两代描述符筛选阶段性汇报">
  <a:themeElements>
    <a:clrScheme name="两代描述符筛选阶段性汇报">
      <a:dk1>
        <a:srgbClr val="182229"/>
      </a:dk1>
      <a:lt1>
        <a:srgbClr val="FFFFFF"/>
      </a:lt1>
      <a:dk2>
        <a:srgbClr val="1F497D"/>
      </a:dk2>
      <a:lt2>
        <a:srgbClr val="EFF3F1"/>
      </a:lt2>
      <a:accent1>
        <a:srgbClr val="113B4A"/>
      </a:accent1>
      <a:accent2>
        <a:srgbClr val="C75B39"/>
      </a:accent2>
      <a:accent3>
        <a:srgbClr val="2E7D6E"/>
      </a:accent3>
      <a:accent4>
        <a:srgbClr val="113B4A"/>
      </a:accent4>
      <a:accent5>
        <a:srgbClr val="CFDAD7"/>
      </a:accent5>
      <a:accent6>
        <a:srgbClr val="647176"/>
      </a:accent6>
      <a:hlink>
        <a:srgbClr val="C75B39"/>
      </a:hlink>
      <a:folHlink>
        <a:srgbClr val="2E7D6E"/>
      </a:folHlink>
    </a:clrScheme>
    <a:fontScheme name="两代描述符筛选阶段性汇报">
      <a:majorFont>
        <a:latin typeface="Georgia"/>
        <a:ea typeface="SimSun"/>
        <a:cs typeface="Georgia"/>
        <a:font script="Jpan" typeface="SimSun"/>
        <a:font script="Hang" typeface="SimSun"/>
        <a:font script="Hans" typeface="SimSun"/>
        <a:font script="Hant" typeface="SimSu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两代描述符筛选阶段性汇报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2026-08-16T03:41:32Z</dcterms:created>
  <dcterms:modified xsi:type="dcterms:W3CDTF">2026-08-16T03:41:32Z</dcterms:modified>
  <cp:category/>
  <cp:contentStatus/>
</cp:coreProperties>
</file>