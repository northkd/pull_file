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不是来宣布我们又找到了一个更高的相关系数。第一轮筛选已经告诉我们，光把候选量按分数排队，很容易得到漂亮的结果。但上次老师现场问的两个问题，一个问描述符会不会重复，一个问空位能不能只靠结构文件找准，其实都在追问同一件事：这个高分到底是不是材料本身的规律？</a:t>
            </a:r>
          </a:p>
          <a:p>
            <a:endParaRPr lang="en-US" dirty="0"/>
          </a:p>
          <a:p>
            <a:r>
              <a:rPr lang="zh-CN" dirty="0"/>
              <a:t>所以第二代算法不再只负责找高分，还要负责不断排除那些可能让我们误判的来源。要理解为什么算法要重写，先说清楚第一轮做了什么、跑完以后发现了什么问题。</a:t>
            </a:r>
          </a:p>
          <a:p>
            <a:endParaRPr lang="en-US" dirty="0"/>
          </a:p>
          <a:p>
            <a:r>
              <a:rPr lang="zh-CN" dirty="0"/>
              <a:t>这一页给三个目标：第一，在钠超离子导体、硫化物和卤化物里，找到与室温钠离子电导率稳定相关的结构量；第二，判断这个相关性在扣掉“材料属于哪一类”的影响之后还在不在；第三，确认每个描述符的名字、公式和实际算出来的数值说的是同一个物理量。</a:t>
            </a:r>
          </a:p>
          <a:p>
            <a:endParaRPr lang="en-US" dirty="0"/>
          </a:p>
          <a:p>
            <a:r>
              <a:rPr lang="zh-CN" dirty="0"/>
              <a:t>CIF 是晶体结构文件，记录原子种类和坐标的标准格式。NASICON 是钠超离子导体这一类材料的英文缩写，后面就直接说 NASICON 了。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第一轮的思路很直接：从结构里提取能解释离子迁移的量，看它们和电导率排序一不一致，再重复抽样看稳不稳。以当时的目标看，这套流程是合理的，它帮我们建起了可运行的筛选框架。</a:t>
            </a:r>
          </a:p>
          <a:p>
            <a:endParaRPr lang="en-US" dirty="0"/>
          </a:p>
          <a:p>
            <a:r>
              <a:rPr lang="zh-CN" dirty="0"/>
              <a:t>具体说，数据集里有晶体结构文件和对应的电导率记录。从每个结构里提取钠的键长、配位多面体的畸变程度、钠位点之间的连通网络，再叠加上两套现成工具的结果：用键价模型估算离子迁移路径的方法 SoftBV，和用几何方法找离子通道的程序 Zeo++。凑出 35 个候选量，看它们和电导率的排序是否一致。为了确认排名不是碰巧，重复抽样 200 次看排名稳不稳，还试着把一类材料整个留出来，看结论能不能迁移到没参与挑选的类别上。</a:t>
            </a:r>
          </a:p>
          <a:p>
            <a:endParaRPr lang="en-US" dirty="0"/>
          </a:p>
          <a:p>
            <a:r>
              <a:rPr lang="zh-CN" dirty="0"/>
              <a:t>但跑完以后发现五个问题。第一，全样本混在一起比，NASICON 本来电导率就高，一个只要能认出这是 NASICON 的量，全样本就会给它高分，但那不是结构规律。第二，测量标准不统一，有的文献报总电导率，有的报体相电导率，温度方法致密度都没记，我们却当成同一种东西在比。第三，候选和评价用同一批样本，试了七千多个组合，试多了必然撞上巧合。第四，描述符名字和公式不一定对得上，第一轮没查。第五，空位只靠结构文件占位，而结构文件只记被写出来的位点。</a:t>
            </a:r>
          </a:p>
          <a:p>
            <a:endParaRPr lang="en-US" dirty="0"/>
          </a:p>
          <a:p>
            <a:r>
              <a:rPr lang="zh-CN" dirty="0"/>
              <a:t>这五个问题不是加数据就能解决的，得重建筛选规则。所以现在分成两条线并行，而且算法的规则要在新数据到来之前就定死。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直接对着上一页五个问题说解法。</a:t>
            </a:r>
          </a:p>
          <a:p>
            <a:endParaRPr lang="en-US" dirty="0"/>
          </a:p>
          <a:p>
            <a:r>
              <a:rPr lang="zh-CN" dirty="0"/>
              <a:t>第一个，全样本混比。第二代先把每类材料的整体水平扣掉，只比同类内部谁高谁低。打个比方，赛跑前先把不同起跑线校正。这样能拦住一部分靠认出体系拿分的量，但它不是万能的，致密度没进表就控不了。</a:t>
            </a:r>
          </a:p>
          <a:p>
            <a:endParaRPr lang="en-US" dirty="0"/>
          </a:p>
          <a:p>
            <a:r>
              <a:rPr lang="zh-CN" dirty="0"/>
              <a:t>第二个，测量标准不统一。新数据表把总电导率、体相电导率、晶界、方法、温度、密度都分开记，一个材料多条测量时定死挑室温那条。表设计好了，规则冻结了，但体系分类还得人工填。</a:t>
            </a:r>
          </a:p>
          <a:p>
            <a:endParaRPr lang="en-US" dirty="0"/>
          </a:p>
          <a:p>
            <a:r>
              <a:rPr lang="zh-CN" dirty="0"/>
              <a:t>第三个，候选评价同批数据。所有判据在看数据前冻结，组合时限制物理意义和量纲，不让算法随便拼。但留一体系验证现在被删了，是必须补的。</a:t>
            </a:r>
          </a:p>
          <a:p>
            <a:endParaRPr lang="en-US" dirty="0"/>
          </a:p>
          <a:p>
            <a:r>
              <a:rPr lang="zh-CN" dirty="0"/>
              <a:t>第四个，名实不符。给每个描述符建身份证，还用七种等价写法去探：同一个晶体换原点、拆占位、抖坐标，描述符值变不变。41 个已登记，205 处身份字段还没查完。</a:t>
            </a:r>
          </a:p>
          <a:p>
            <a:endParaRPr lang="en-US" dirty="0"/>
          </a:p>
          <a:p>
            <a:r>
              <a:rPr lang="zh-CN" dirty="0"/>
              <a:t>第五个，空位。分四层，从几何空腔到键价能垒，再到密度泛函和分子动力学，低成本找候选，高成本做验证。但目前只有第一层有旧数据，第二层缺可执行文件，第三四层要外部算力。</a:t>
            </a:r>
          </a:p>
          <a:p>
            <a:endParaRPr lang="en-US" dirty="0"/>
          </a:p>
          <a:p>
            <a:r>
              <a:rPr lang="zh-CN" dirty="0"/>
              <a:t>四层方案展开说：几何空腔用 Zeo++ 找离子通道，完全不用钠的坐标；键价能垒 BVSE 是一种估算离子迁移能量的方法，也不用钠坐标；第三层是密度泛函理论计算 DFT，从量子力学算材料性质的方法；第四层是分子动力学模拟 AIMD，让原子在高温下运动来观察离子迁移。越往后越准，也越贵，所以用低成本方法筛候选，高成本方法做验证。</a:t>
            </a:r>
          </a:p>
          <a:p>
            <a:endParaRPr lang="en-US" dirty="0"/>
          </a:p>
          <a:p>
            <a:r>
              <a:rPr lang="zh-CN" dirty="0"/>
              <a:t>注意，这些是第二代打算怎么做和做到哪一步，不是已经跑出结果。第二代目前在新数据上零结果。其中组合描述符那块，单独说清楚。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第一轮组合描述符的方式，是把候选量用加减乘除任意组合，两批各试了 3544 个公式，按分数挑。问题在于容易拼出数学上能算、材料上说不通的式子，比如畸变乘最长键长除以目标键长，为什么这么乘？解释不清。</a:t>
            </a:r>
          </a:p>
          <a:p>
            <a:endParaRPr lang="en-US" dirty="0"/>
          </a:p>
          <a:p>
            <a:r>
              <a:rPr lang="zh-CN" dirty="0"/>
              <a:t>第二代换了个思路：先把描述符按材料意义分组，局域配位（键长、畸变）、钠的网络（钠钠连通）、骨架（多面体）、组成（浓度、电荷），每组挑一个代表，只允许有物理意义的组合，而且检查量纲：长度加长度可以，长度加一个无量纲的数就不行。这样组合空间小很多，每个留下来的组合都有材料解释。</a:t>
            </a:r>
          </a:p>
          <a:p>
            <a:endParaRPr lang="en-US" dirty="0"/>
          </a:p>
          <a:p>
            <a:r>
              <a:rPr lang="zh-CN" dirty="0"/>
              <a:t>但要说清楚，这还没完全解决试多了撞巧合的问题，统计上自动去重和嵌套外推验证还没做。把前面的内容收一下，看看现在到底能说到哪一步。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最准确的状态是：框架建起来了，一部分规则在看新数据前冻结了，但统计上还有几个必须补的口子。</a:t>
            </a:r>
          </a:p>
          <a:p>
            <a:endParaRPr lang="en-US" dirty="0"/>
          </a:p>
          <a:p>
            <a:r>
              <a:rPr lang="zh-CN" dirty="0"/>
              <a:t>已经能做的：41 个描述符的计算入口，38 个进入搜索，3 个排除（1 个别名、2 个永久不可用）；扣体系差异后的主排序指标；反复换一半样本看候选能不能留下；受约束的二或三描述符组合搜索；组合的分体系小样本检查。</a:t>
            </a:r>
          </a:p>
          <a:p>
            <a:endParaRPr lang="en-US" dirty="0"/>
          </a:p>
          <a:p>
            <a:r>
              <a:rPr lang="zh-CN" dirty="0"/>
              <a:t>正在补的：41 个描述符里还有 205 处身份字段没查完；留一体系验证被删了必须补回，这是能谈“跨体系外推”的前提；主检验的统计显著性 p 值现在偏小，因为自由度没按控制列数扣，规则已冻结但代码还没改；统计相关簇的自动去重没实现，阈值定了但没有代码在用。</a:t>
            </a:r>
          </a:p>
          <a:p>
            <a:endParaRPr lang="en-US" dirty="0"/>
          </a:p>
          <a:p>
            <a:r>
              <a:rPr lang="zh-CN" dirty="0"/>
              <a:t>还不能说的：第二代在新数据上没有任何最终结果，不能说已经复现第一代的 0.597，也不能说能预测一个完全没见过的体系。哪怕最后没有任何描述符通过检验，也如实报告，不回头调规则。</a:t>
            </a:r>
          </a:p>
          <a:p>
            <a:endParaRPr lang="en-US" dirty="0"/>
          </a:p>
          <a:p>
            <a:r>
              <a:rPr lang="zh-CN" dirty="0"/>
              <a:t>正文到这里。下面是问答附录，把几个容易被追问的细节说清楚。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先回答一个最容易被追问的问题：第一轮到底是多少条数据，84 又是哪来的。</a:t>
            </a:r>
          </a:p>
          <a:p>
            <a:endParaRPr lang="en-US" dirty="0"/>
          </a:p>
          <a:p>
            <a:r>
              <a:rPr lang="zh-CN" dirty="0"/>
              <a:t>第一轮正式用的是 103 条记录加 103 份晶体结构文件。现在数据表文件的名字还停留在更新前的样子，写着 107，其实删掉 4 个含锂结构后实际就是 103 行，只是文件名没跟着改。</a:t>
            </a:r>
          </a:p>
          <a:p>
            <a:endParaRPr lang="en-US" dirty="0"/>
          </a:p>
          <a:p>
            <a:r>
              <a:rPr lang="zh-CN" dirty="0"/>
              <a:t>84 这个数来自第二代目录里的历史输入缓存，是一份中间文件，不能拿来替代第一轮的 103 条正式记录。两者是不同来源的数。</a:t>
            </a:r>
          </a:p>
          <a:p>
            <a:endParaRPr lang="en-US" dirty="0"/>
          </a:p>
          <a:p>
            <a:r>
              <a:rPr lang="zh-CN" dirty="0"/>
              <a:t>历史数据的类别分布：NASICON 30、硫化物 41、卤化物 13、氢化物和硼氢化物 14、β-氧化铝 2、反钙钛矿 2、氧化物 1。第二代的新研究锁定前三类。</a:t>
            </a:r>
          </a:p>
          <a:p>
            <a:endParaRPr lang="en-US" dirty="0"/>
          </a:p>
          <a:p>
            <a:r>
              <a:rPr lang="zh-CN" dirty="0"/>
              <a:t>另一个容易踩的坑是跨代比“同名量”。第一代的局域宽松因子，代号 A2，公式是全结构最长钠阴离子键长除以有效钠半径加有效阴离子半径，是个无量纲比值；第二代重算的量叫“最长键长均值”，是每个钠位点最长键长的平均，单位是埃，没有目标键长做分母，也不是全结构最大值。</a:t>
            </a:r>
          </a:p>
          <a:p>
            <a:endParaRPr lang="en-US" dirty="0"/>
          </a:p>
          <a:p>
            <a:r>
              <a:rPr lang="zh-CN" dirty="0"/>
              <a:t>两个名字像，但公式、单位、聚合方式都不一样，第一代 A2 的历史相关系数 0.597 不能直接算到第二代头上。第二代代码里“已知秩相关系数 0.597”的注释是错误沿用，要改。</a:t>
            </a:r>
          </a:p>
          <a:p>
            <a:endParaRPr lang="en-US" dirty="0"/>
          </a:p>
          <a:p>
            <a:r>
              <a:rPr lang="zh-CN" dirty="0"/>
              <a:t>位点连通量，代号 NaNa，也类似：第一代是整批样本做百分位秩，换一批材料、同结构的值都会变；第二代是在单个结构上用另一套近似公式算的。不是同一个量。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0.793 这个数经常被误读成组合描述符的成绩。它来自第一代的一个机器学习模型 ExtraTrees，一种随机森林类的模型，输入是 A2、NaNa 和两套程序的基线值，得到的是交叉验证下的秩相关系数 Spearman 0.793。Spearman 是衡量两个变量排序是否一致的指标。所以 0.793 是模型预测性能，不是“A2 乘 NaNa 这个组合描述符的相关系数”。单看 A2 加 NaNa 的历史值是 0.755。所以正文不会把 0.793 当组合描述符的结果用。</a:t>
            </a:r>
          </a:p>
          <a:p>
            <a:endParaRPr lang="en-US" dirty="0"/>
          </a:p>
          <a:p>
            <a:r>
              <a:rPr lang="zh-CN" dirty="0"/>
              <a:t>主程序实际执行到哪一步，也要划清边界。程序现在的流程是：第 0 步算描述符；第 1 步算原始相关和扣体系差异后的相关；第 2 步做半样本稳定性和物理类别代表；第 3 步做受约束的组合搜索；第 4 步对靠前的组合做探索性验证。到此为止。</a:t>
            </a:r>
          </a:p>
          <a:p>
            <a:endParaRPr lang="en-US" dirty="0"/>
          </a:p>
          <a:p>
            <a:r>
              <a:rPr lang="zh-CN" dirty="0"/>
              <a:t>已经实现、但没有被主程序自动调用的工具有：数据校验、室温选择、等价写法探针、数值指纹、注册表闸门。这些可以作为“完整研究治理流程”单独讲，但要和“一键能跑的主程序”分开说，不能混为一谈。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冗余识别能做多深，按证据强度从强到弱分四档。</a:t>
            </a:r>
          </a:p>
          <a:p>
            <a:endParaRPr lang="en-US" dirty="0"/>
          </a:p>
          <a:p>
            <a:r>
              <a:rPr lang="zh-CN" dirty="0"/>
              <a:t>第一档是精确别名：两个入口调用同一个函数，可以直接排除。第二档是共用同一段底层计算，比如 16 个描述符共用同一套钠阴离子壳层规则，能标记同源风险，但不能据此断言数值重复。第三档是同一数学形式作用在不同中心上，比如钠侧的畸变和骨架侧的畸变，这是同类量，不是别名。第四档是等新数据到位后看取值是否高度相关，再做相关簇分析，当前自动去重还没实现。</a:t>
            </a:r>
          </a:p>
          <a:p>
            <a:endParaRPr lang="en-US" dirty="0"/>
          </a:p>
          <a:p>
            <a:r>
              <a:rPr lang="zh-CN" dirty="0"/>
              <a:t>所以第二代能说“哪里可能重复”，不能说“最终候选已经完全去重”。</a:t>
            </a:r>
          </a:p>
          <a:p>
            <a:endParaRPr lang="en-US" dirty="0"/>
          </a:p>
          <a:p>
            <a:r>
              <a:rPr lang="zh-CN" dirty="0"/>
              <a:t>那为什么说统计证据目前还只能算探索性，也就是还不能当定论的？现有检查能减少误判，但没有覆盖两件事：一是整个选择过程一共试了多少候选，这部分不确定性没被算进去；二是完全没见过的体系能不能预测，也就是外推。留一体系验证被删了是关键缺口。所以现在的结果标为探索性，不能当定论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占位拆分检验的操作是这样的：找一个满占的、不是钠的位点，拆成两个同坐标、各占 0.5 的同种元素位点。同一个晶体，只是结构文件的写法不同。</a:t>
            </a:r>
          </a:p>
          <a:p>
            <a:endParaRPr lang="en-US" dirty="0"/>
          </a:p>
          <a:p>
            <a:r>
              <a:rPr lang="zh-CN" dirty="0"/>
              <a:t>它证明的是：某些描述符，多面体畸变、平均键长、钠浓度、部分占位比例，会受结构文件占位写法的影响。</a:t>
            </a:r>
          </a:p>
          <a:p>
            <a:endParaRPr lang="en-US" dirty="0"/>
          </a:p>
          <a:p>
            <a:r>
              <a:rPr lang="zh-CN" dirty="0"/>
              <a:t>它没证明的是：钠空位的实验真值、结构文件没报告的潜在钠位点、热平衡空位，以及解析晶体结构的程序库 pymatgen 识别真实钠空位的准确率。所以只能说“部分描述符对结构文件写法敏感”，不能说“已经实证程序找钠空位不准”。</a:t>
            </a:r>
          </a:p>
          <a:p>
            <a:endParaRPr lang="en-US" dirty="0"/>
          </a:p>
          <a:p>
            <a:r>
              <a:rPr lang="zh-CN" dirty="0"/>
              <a:t>至于低成本空位方案缺在哪：旧数据里有几何方法 Zeo++ 的预计算列，但第二代新流程没接上几何方法的可执行后端；第二代的间隙点用的是另一种几何近似 SciPy Voronoi，一种空间分割计算，不等于几何方法本身；键价批处理脚本在仓库里，但要用外部程序才能跑，第二代注册的键价能垒入口当前永远返回空值。所以“几何候选 → 键价筛选 → 少量高成本计算验证”这条分层路线能设计，但不能说已经在第二代跑通。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正文里反复说的“扣体系差异后的排序相关”，准确指这样一种算法：把体系类别当作分组控制，只保留体系之外还能提供独立信息的阴离子对比列，从描述符和电导率里分别扣除这些控制能线性解释的部分，再对剩余部分算秩相关系数。</a:t>
            </a:r>
          </a:p>
          <a:p>
            <a:endParaRPr lang="en-US" dirty="0"/>
          </a:p>
          <a:p>
            <a:r>
              <a:rPr lang="zh-CN" dirty="0"/>
              <a:t>它在程序里的名字是“线性残差的秩相关”，不是标准的先排名再扣控制的偏秩相关。它也不能自动扣掉致密度、烧结、测试方法这些没进表的因素。</a:t>
            </a:r>
          </a:p>
          <a:p>
            <a:endParaRPr lang="en-US" dirty="0"/>
          </a:p>
          <a:p>
            <a:r>
              <a:rPr lang="zh-CN" dirty="0"/>
              <a:t>三步走：第一步，体系分组控制，只保留体系之外还能提供独立信息的阴离子对比列；第二步，从描述符和电导率里分别扣除控制变量能线性解释的部分；第三步，对残差算 Spearman 秩相关系数。</a:t>
            </a:r>
          </a:p>
          <a:p>
            <a:endParaRPr lang="en-US" dirty="0"/>
          </a:p>
          <a:p>
            <a:r>
              <a:rPr lang="zh-CN" dirty="0"/>
              <a:t>这一段是给追问“你说的扣体系差异到底是什么”的人看的，不能和标准偏秩相关混用名称。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冗余和空位两方面，都要从低成本线索逐层走向更强证据。冗余方面，从精确别名、共用底层、同数学形式，一直走到等新数据到位后的数据相关分析；空位方面，从几何空腔、键价能垒，走到密度泛函和分子动力学。两条路线当前都有缺口：冗余的第四档要等新数据，空位的前两层未接通。</a:t>
            </a:r>
          </a:p>
          <a:p>
            <a:endParaRPr lang="en-US" dirty="0"/>
          </a:p>
          <a:p>
            <a:r>
              <a:rPr lang="zh-CN" dirty="0"/>
              <a:t>同时要补三道门：第一道，主检验统计显著性的计算方式，p 值偏小，自由度未按控制列数扣，规则已冻结但代码还没改；第二道，相关簇自动去重，阈值定了但没有代码在用，候选是否完全去重未验证；第三道，留一体系验证，拿两类材料训练预测第三类，当前被删必须补回，这是谈“跨体系外推”的前提。</a:t>
            </a:r>
          </a:p>
          <a:p>
            <a:endParaRPr lang="en-US" dirty="0"/>
          </a:p>
          <a:p>
            <a:r>
              <a:rPr lang="zh-CN" dirty="0"/>
              <a:t>三道门补齐之前，第二代的结果不进论文结论。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两代描述符筛选阶段性汇报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两代描述符筛选阶段性汇报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463868"/>
            <a:ext cx="11293602" cy="955357"/>
            <a:chOff x="441198" y="463868"/>
            <a:chExt cx="11293602" cy="95535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46386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强相关描述符筛选｜阶段性汇报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41058"/>
              <a:ext cx="6894516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这次要解决的不是“谁的相关</a:t>
              </a:r>
              <a:r>
                <a:rPr lang="zh-CN" alt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性</a:t>
              </a:r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最</a:t>
              </a:r>
              <a:r>
                <a:rPr lang="zh-CN" alt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强</a:t>
              </a:r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”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409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445770" y="2081212"/>
            <a:ext cx="4873129" cy="1637539"/>
            <a:chOff x="445770" y="2081212"/>
            <a:chExt cx="4873129" cy="1637539"/>
          </a:xfrm>
        </p:grpSpPr>
        <p:sp>
          <p:nvSpPr>
            <p:cNvPr id="6" name="TextBox 6"/>
            <p:cNvSpPr txBox="1"/>
            <p:nvPr/>
          </p:nvSpPr>
          <p:spPr>
            <a:xfrm>
              <a:off x="445770" y="2081212"/>
              <a:ext cx="38393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找到一个高分描述符不难。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5770" y="2519362"/>
              <a:ext cx="479345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难的是确认它反映的是材料结构，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5770" y="2900362"/>
              <a:ext cx="4873129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而不是材料体系、数据记录方式或 CIF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0342" y="3454718"/>
              <a:ext cx="45070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CIF：晶体结构文件，记录原子种类与坐标的标准格式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150" y="4249006"/>
            <a:ext cx="7828514" cy="1820989"/>
            <a:chOff x="438150" y="4457700"/>
            <a:chExt cx="7828514" cy="1820989"/>
          </a:xfrm>
        </p:grpSpPr>
        <p:sp>
          <p:nvSpPr>
            <p:cNvPr id="11" name="Line 11"/>
            <p:cNvSpPr/>
            <p:nvPr/>
          </p:nvSpPr>
          <p:spPr>
            <a:xfrm>
              <a:off x="457200" y="4457700"/>
              <a:ext cx="2590800" cy="9525"/>
            </a:xfrm>
            <a:custGeom>
              <a:avLst/>
              <a:gdLst/>
              <a:ahLst/>
              <a:cxnLst/>
              <a:rect l="l" t="t" r="r" b="b"/>
              <a:pathLst>
                <a:path w="2590800" h="9525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8818" y="4641532"/>
              <a:ext cx="2815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本次汇报关注三个材料问题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8818" y="5022532"/>
              <a:ext cx="7817846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在 NASICON、硫化物和卤化物里，找到与</a:t>
              </a:r>
              <a:r>
                <a:rPr lang="zh-CN" alt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室温 </a:t>
              </a:r>
              <a:r>
                <a:rPr lang="en-US" alt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 </a:t>
              </a:r>
              <a:r>
                <a:rPr lang="zh-CN" alt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离子电导率稳定相关的结构量</a:t>
              </a:r>
            </a:p>
            <a:p>
              <a:pPr algn="l"/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5324475"/>
              <a:ext cx="6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8150" y="5487147"/>
              <a:ext cx="516006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</a:t>
              </a:r>
              <a:r>
                <a:rPr lang="zh-CN" alt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去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掉“材料属于哪一类”的影响后，相关性是否还在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8818" y="5955982"/>
              <a:ext cx="46480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描述符的名字、公式和实际算出的数是否一致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451104" y="6356985"/>
              <a:ext cx="35903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第一轮做了什么、发现问题 → 第二轮怎么逐条解决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01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463868"/>
            <a:ext cx="11293602" cy="993267"/>
            <a:chOff x="441198" y="463868"/>
            <a:chExt cx="11293602" cy="99326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46386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强相关描述符筛选｜阶段性汇报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41058"/>
              <a:ext cx="89707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第一轮做了什么，跑完以后发现了什么问题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409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450342" y="1759268"/>
            <a:ext cx="11284458" cy="1329856"/>
            <a:chOff x="450342" y="1759268"/>
            <a:chExt cx="11284458" cy="1329856"/>
          </a:xfrm>
        </p:grpSpPr>
        <p:sp>
          <p:nvSpPr>
            <p:cNvPr id="6" name="TextBox 6"/>
            <p:cNvSpPr txBox="1"/>
            <p:nvPr/>
          </p:nvSpPr>
          <p:spPr>
            <a:xfrm>
              <a:off x="450342" y="1759268"/>
              <a:ext cx="36393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第一轮流程（跑通可批量比较的筛选框架）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57200" y="2076450"/>
              <a:ext cx="1905000" cy="609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0236" y="21974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0562" y="2458402"/>
              <a:ext cx="11382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CIF + 电导率记录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667000" y="2076450"/>
              <a:ext cx="1905000" cy="609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158300" y="21974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提取结构量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07411" y="24584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键长、畸变、连通网络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876800" y="2076450"/>
              <a:ext cx="1905000" cy="609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77231" y="2197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叠加现成工具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13169" y="2458402"/>
              <a:ext cx="10322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SoftBV、Zeo++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086600" y="2076450"/>
              <a:ext cx="1905000" cy="609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32421" y="219741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35 候选量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39038" y="24584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看排序是否一致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296400" y="2076450"/>
              <a:ext cx="2438400" cy="609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68164" y="219741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重复抽样 + 留一类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15538" y="24584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看稳定、看迁移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2362200" y="238125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4572000" y="238125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6781800" y="238125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8991600" y="238125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68224" y="2904458"/>
              <a:ext cx="507831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SoftBV：用键价模型估算离子迁移路径；Zeo++：用几何方法找离子通道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50342" y="3359468"/>
            <a:ext cx="11284458" cy="2846936"/>
            <a:chOff x="450342" y="3359468"/>
            <a:chExt cx="11284458" cy="2846936"/>
          </a:xfrm>
        </p:grpSpPr>
        <p:sp>
          <p:nvSpPr>
            <p:cNvPr id="28" name="TextBox 28"/>
            <p:cNvSpPr txBox="1"/>
            <p:nvPr/>
          </p:nvSpPr>
          <p:spPr>
            <a:xfrm>
              <a:off x="450342" y="3359468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跑完以后暴露的五个问题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457200" y="36576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8066" y="381095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99666" y="38109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具体表现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57200" y="4019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6542" y="4121468"/>
              <a:ext cx="204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06823" y="4112419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全样本混在一起比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364604" y="4120515"/>
              <a:ext cx="51745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只要能区分 NASICON / 卤化物，全样本就自动跟电导率“强相关”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457200" y="4400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  <a:custDash>
                <a:ds d="200000" sp="400000"/>
              </a:custDash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6542" y="4502468"/>
              <a:ext cx="204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二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457200" y="4781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  <a:custDash>
                <a:ds d="200000" sp="400000"/>
              </a:custDash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6542" y="4883468"/>
              <a:ext cx="204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06823" y="4504277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候选和评价同批数据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364604" y="4489323"/>
              <a:ext cx="51048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35 候选 + 七千多符号组合全在同一样本上挑和打分，没有独立验证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457200" y="516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  <a:custDash>
                <a:ds d="200000" sp="400000"/>
              </a:custDash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6542" y="5264468"/>
              <a:ext cx="204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四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306823" y="5255419"/>
              <a:ext cx="1558119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350" dirty="0">
                  <a:solidFill>
                    <a:schemeClr val="dk1"/>
                  </a:solidFill>
                </a:rPr>
                <a:t>外推描述符是否可靠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64604" y="5263515"/>
              <a:ext cx="7453964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通过</a:t>
              </a:r>
              <a:r>
                <a:rPr lang="en-US" alt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LOFO</a:t>
              </a:r>
              <a:r>
                <a:rPr lang="zh-CN" alt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en-US" alt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LOAO</a:t>
              </a:r>
              <a:r>
                <a:rPr lang="zh-CN" alt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的手段计算描述符在不同体系，不同阴离子场景下的相关性，种类太少有过拟合风险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Line 48"/>
            <p:cNvSpPr/>
            <p:nvPr/>
          </p:nvSpPr>
          <p:spPr>
            <a:xfrm>
              <a:off x="457200" y="5543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  <a:custDash>
                <a:ds d="200000" sp="400000"/>
              </a:custDash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6542" y="5645468"/>
              <a:ext cx="204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五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306823" y="4877896"/>
              <a:ext cx="15499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空位只靠 CIF 占位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364604" y="4885992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只记被精修或建模写出来的位点，没写的不算，混合价无序也看不清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01396" y="5998655"/>
              <a:ext cx="467435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这五个问题</a:t>
              </a:r>
              <a:r>
                <a:rPr lang="zh-CN" alt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只靠扩充</a:t>
              </a:r>
              <a:r>
                <a:rPr lang="zh-CN" altLang="en-US" sz="1350" b="1" dirty="0">
                  <a:solidFill>
                    <a:schemeClr val="accent1"/>
                  </a:solidFill>
                </a:rPr>
                <a:t>数据集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解决</a:t>
              </a:r>
              <a:r>
                <a:rPr lang="zh-CN" sz="1350" b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不了，</a:t>
              </a:r>
              <a:r>
                <a:rPr lang="zh-CN" altLang="en-US" sz="1350" b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需要</a:t>
              </a:r>
              <a:r>
                <a:rPr lang="zh-CN" altLang="en-US" sz="1350" b="1">
                  <a:solidFill>
                    <a:schemeClr val="accent1"/>
                  </a:solidFill>
                </a:rPr>
                <a:t>添加</a:t>
              </a:r>
              <a:r>
                <a:rPr lang="zh-CN" altLang="en-US" sz="1350" b="1" dirty="0">
                  <a:solidFill>
                    <a:schemeClr val="accent1"/>
                  </a:solidFill>
                </a:rPr>
                <a:t>新的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筛选规则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54" name="TextBox 54"/>
            <p:cNvSpPr txBox="1"/>
            <p:nvPr/>
          </p:nvSpPr>
          <p:spPr>
            <a:xfrm>
              <a:off x="451104" y="6356985"/>
              <a:ext cx="35903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第一轮做了什么、发现问题 → 第二轮怎么逐条解决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 / 12</a:t>
              </a:r>
            </a:p>
          </p:txBody>
        </p:sp>
      </p:grpSp>
      <p:sp>
        <p:nvSpPr>
          <p:cNvPr id="59" name="TextBox 46">
            <a:extLst>
              <a:ext uri="{FF2B5EF4-FFF2-40B4-BE49-F238E27FC236}">
                <a16:creationId xmlns:a16="http://schemas.microsoft.com/office/drawing/2014/main" id="{0DF804D0-B741-0317-84A1-6A27F87E3856}"/>
              </a:ext>
            </a:extLst>
          </p:cNvPr>
          <p:cNvSpPr txBox="1"/>
          <p:nvPr/>
        </p:nvSpPr>
        <p:spPr>
          <a:xfrm>
            <a:off x="1306823" y="5648135"/>
            <a:ext cx="1837041" cy="2077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350" dirty="0">
                <a:solidFill>
                  <a:schemeClr val="dk1"/>
                </a:solidFill>
              </a:rPr>
              <a:t>描述符依靠精确</a:t>
            </a:r>
            <a:r>
              <a:rPr lang="en-US" altLang="zh-CN" sz="1350" dirty="0">
                <a:solidFill>
                  <a:schemeClr val="dk1"/>
                </a:solidFill>
              </a:rPr>
              <a:t>CIF</a:t>
            </a:r>
            <a:r>
              <a:rPr lang="zh-CN" altLang="en-US" sz="1350" dirty="0">
                <a:solidFill>
                  <a:schemeClr val="dk1"/>
                </a:solidFill>
              </a:rPr>
              <a:t>构建</a:t>
            </a:r>
            <a:endParaRPr lang="zh-CN" sz="13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1" name="TextBox 47">
            <a:extLst>
              <a:ext uri="{FF2B5EF4-FFF2-40B4-BE49-F238E27FC236}">
                <a16:creationId xmlns:a16="http://schemas.microsoft.com/office/drawing/2014/main" id="{1D641A37-2188-9CC6-1E35-7E7A6D0A4382}"/>
              </a:ext>
            </a:extLst>
          </p:cNvPr>
          <p:cNvSpPr txBox="1"/>
          <p:nvPr/>
        </p:nvSpPr>
        <p:spPr>
          <a:xfrm>
            <a:off x="3357803" y="5643563"/>
            <a:ext cx="2289088" cy="1969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很难从材料设计上给出可靠指导</a:t>
            </a:r>
            <a:endParaRPr lang="zh-CN" sz="128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463868"/>
            <a:ext cx="11293602" cy="993267"/>
            <a:chOff x="441198" y="463868"/>
            <a:chExt cx="11293602" cy="99326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46386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强相关描述符筛选｜阶段性汇报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41058"/>
              <a:ext cx="56775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第二代怎么解决这五个问题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409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49580" y="1704975"/>
            <a:ext cx="9304020" cy="293370"/>
            <a:chOff x="449580" y="1704975"/>
            <a:chExt cx="9304020" cy="293370"/>
          </a:xfrm>
        </p:grpSpPr>
        <p:sp>
          <p:nvSpPr>
            <p:cNvPr id="6" name="TextBox 6"/>
            <p:cNvSpPr txBox="1"/>
            <p:nvPr/>
          </p:nvSpPr>
          <p:spPr>
            <a:xfrm>
              <a:off x="449580" y="1704975"/>
              <a:ext cx="93040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直接对着上一页五个问题，一个一个处理；这张表说的是打算怎么做、做到哪一步，不是已经跑出结果。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57200" y="2057400"/>
            <a:ext cx="11277600" cy="3619500"/>
            <a:chOff x="457200" y="2057400"/>
            <a:chExt cx="11277600" cy="3619500"/>
          </a:xfrm>
        </p:grpSpPr>
        <p:sp>
          <p:nvSpPr>
            <p:cNvPr id="8" name="Rectangle 8"/>
            <p:cNvSpPr/>
            <p:nvPr/>
          </p:nvSpPr>
          <p:spPr>
            <a:xfrm>
              <a:off x="457200" y="2057400"/>
              <a:ext cx="112776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3504" y="21755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第一轮的问题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75304" y="21755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第二代怎么解决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23504" y="21755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现在能做到哪一步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429000" y="20574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077200" y="20574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57200" y="2438400"/>
              <a:ext cx="11277600" cy="64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3123" y="2567464"/>
              <a:ext cx="16955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 全样本混在一起比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75304" y="25755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先扣掉每一类体系的平均水平，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75304" y="28041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只比同类材料内部谁高谁低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23504" y="25755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已实现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24266" y="2820352"/>
              <a:ext cx="272350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dirty="0">
                  <a:solidFill>
                    <a:schemeClr val="accent6"/>
                  </a:solidFill>
                </a:rPr>
                <a:t>能做到分辨出这是 </a:t>
              </a:r>
              <a:r>
                <a:rPr lang="en-US" altLang="zh-CN" sz="1050" dirty="0">
                  <a:solidFill>
                    <a:schemeClr val="accent6"/>
                  </a:solidFill>
                </a:rPr>
                <a:t>NASICON </a:t>
              </a:r>
              <a:r>
                <a:rPr lang="zh-CN" altLang="en-US" sz="1050" dirty="0">
                  <a:solidFill>
                    <a:schemeClr val="accent6"/>
                  </a:solidFill>
                </a:rPr>
                <a:t>导致拿到高分的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457200" y="30861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57200" y="3086100"/>
              <a:ext cx="11277600" cy="647700"/>
            </a:xfrm>
            <a:prstGeom prst="rect">
              <a:avLst/>
            </a:prstGeom>
            <a:solidFill>
              <a:srgbClr val="F7F9F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3123" y="3215164"/>
              <a:ext cx="1679947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二 </a:t>
              </a:r>
              <a:r>
                <a:rPr lang="zh-CN" altLang="en-US" sz="1280" b="1" dirty="0">
                  <a:solidFill>
                    <a:schemeClr val="accent2"/>
                  </a:solidFill>
                </a:rPr>
                <a:t>候选和评价同批数据</a:t>
              </a:r>
              <a:endPara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75304" y="322326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新数据表把总/体相/晶界/方法/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75304" y="3451860"/>
              <a:ext cx="19668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温度/形态/相对密度分开记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3504" y="32232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表已设计、室温挑选规则冻结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24266" y="34680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体系分类枚举值待人工填定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57200" y="37338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7200" y="3733800"/>
              <a:ext cx="11277600" cy="64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3123" y="3862864"/>
              <a:ext cx="1453924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三 </a:t>
              </a:r>
              <a:r>
                <a:rPr lang="zh-CN" altLang="en-US" sz="1280" b="1" dirty="0">
                  <a:solidFill>
                    <a:schemeClr val="accent2"/>
                  </a:solidFill>
                </a:rPr>
                <a:t>空位只靠</a:t>
              </a:r>
              <a:r>
                <a:rPr lang="en-US" altLang="zh-CN" sz="1280" b="1" dirty="0">
                  <a:solidFill>
                    <a:schemeClr val="accent2"/>
                  </a:solidFill>
                </a:rPr>
                <a:t>CIF</a:t>
              </a:r>
              <a:r>
                <a:rPr lang="zh-CN" altLang="en-US" sz="1280" b="1" dirty="0">
                  <a:solidFill>
                    <a:schemeClr val="accent2"/>
                  </a:solidFill>
                </a:rPr>
                <a:t>占位</a:t>
              </a:r>
              <a:endPara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68532" y="3928491"/>
              <a:ext cx="200054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dirty="0">
                  <a:solidFill>
                    <a:schemeClr val="dk1"/>
                  </a:solidFill>
                </a:rPr>
                <a:t>未找到低成本准确的解决方案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23504" y="3870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阈值已冻结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24266" y="411575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留一体系验证被删，必须补回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457200" y="4381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457200" y="4381500"/>
              <a:ext cx="11277600" cy="647700"/>
            </a:xfrm>
            <a:prstGeom prst="rect">
              <a:avLst/>
            </a:prstGeom>
            <a:solidFill>
              <a:srgbClr val="F7F9F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3123" y="4510564"/>
              <a:ext cx="1679947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四 </a:t>
              </a:r>
              <a:r>
                <a:rPr lang="zh-CN" alt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外推</a:t>
              </a:r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描述符</a:t>
              </a:r>
              <a:r>
                <a:rPr lang="zh-CN" alt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是否可靠</a:t>
              </a:r>
              <a:endPara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75304" y="4518660"/>
              <a:ext cx="19668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给每个描述符建“身份证”；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75304" y="47472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七种等价写法探针看值变不变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23504" y="4518660"/>
              <a:ext cx="2152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41 个已登记、7 种探针已实现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24266" y="4763452"/>
              <a:ext cx="14171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205 处身份字段未查完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457200" y="50292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457200" y="5029200"/>
              <a:ext cx="11277600" cy="64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3123" y="5158264"/>
              <a:ext cx="1617430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五 </a:t>
              </a:r>
              <a:r>
                <a:rPr lang="zh-CN" altLang="en-US" sz="1280" b="1" dirty="0">
                  <a:solidFill>
                    <a:schemeClr val="accent2"/>
                  </a:solidFill>
                </a:rPr>
                <a:t>描述符依靠精确</a:t>
              </a:r>
              <a:r>
                <a:rPr lang="en-US" altLang="zh-CN" sz="1280" b="1" dirty="0">
                  <a:solidFill>
                    <a:schemeClr val="accent2"/>
                  </a:solidFill>
                </a:rPr>
                <a:t>CIF</a:t>
              </a:r>
              <a:endParaRPr lang="zh-CN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575304" y="5166360"/>
              <a:ext cx="21284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分四层：几何空腔→键价能垒→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575304" y="5394960"/>
              <a:ext cx="2201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密度泛函计算→分子动力学模拟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23504" y="51663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第一层有旧数据未接后端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24266" y="541115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第二层缺可执行文件、三四层要算力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51" name="TextBox 51"/>
            <p:cNvSpPr txBox="1"/>
            <p:nvPr/>
          </p:nvSpPr>
          <p:spPr>
            <a:xfrm>
              <a:off x="451104" y="6356985"/>
              <a:ext cx="35903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第一轮做了什么、发现问题 → 第二轮怎么逐条解决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04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463868"/>
            <a:ext cx="11293602" cy="993267"/>
            <a:chOff x="441198" y="463868"/>
            <a:chExt cx="11293602" cy="99326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46386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强相关描述符筛选｜阶段性汇报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41058"/>
              <a:ext cx="473659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第二代怎样组合描述符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409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49580" y="1743075"/>
            <a:ext cx="5265420" cy="293370"/>
            <a:chOff x="449580" y="1743075"/>
            <a:chExt cx="5265420" cy="293370"/>
          </a:xfrm>
        </p:grpSpPr>
        <p:sp>
          <p:nvSpPr>
            <p:cNvPr id="6" name="TextBox 6"/>
            <p:cNvSpPr txBox="1"/>
            <p:nvPr/>
          </p:nvSpPr>
          <p:spPr>
            <a:xfrm>
              <a:off x="449580" y="1743075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两个描述符搭在一起看，第一代和第二代的搭法完全不同。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7200" y="2133600"/>
            <a:ext cx="11277600" cy="2971800"/>
            <a:chOff x="457200" y="2133600"/>
            <a:chExt cx="11277600" cy="2971800"/>
          </a:xfrm>
        </p:grpSpPr>
        <p:sp>
          <p:nvSpPr>
            <p:cNvPr id="8" name="Rectangle 8"/>
            <p:cNvSpPr/>
            <p:nvPr/>
          </p:nvSpPr>
          <p:spPr>
            <a:xfrm>
              <a:off x="457200" y="2133600"/>
              <a:ext cx="112776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5904" y="2251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对比维度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61104" y="2251710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23504" y="2251710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第二代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038600" y="2133600"/>
              <a:ext cx="9525" cy="2971800"/>
            </a:xfrm>
            <a:custGeom>
              <a:avLst/>
              <a:gdLst/>
              <a:ahLst/>
              <a:cxnLst/>
              <a:rect l="l" t="t" r="r" b="b"/>
              <a:pathLst>
                <a:path w="9525" h="2971800">
                  <a:moveTo>
                    <a:pt x="0" y="0"/>
                  </a:moveTo>
                  <a:lnTo>
                    <a:pt x="0" y="297180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001000" y="2133600"/>
              <a:ext cx="9525" cy="2971800"/>
            </a:xfrm>
            <a:custGeom>
              <a:avLst/>
              <a:gdLst/>
              <a:ahLst/>
              <a:cxnLst/>
              <a:rect l="l" t="t" r="r" b="b"/>
              <a:pathLst>
                <a:path w="9525" h="2971800">
                  <a:moveTo>
                    <a:pt x="0" y="0"/>
                  </a:moveTo>
                  <a:lnTo>
                    <a:pt x="0" y="297180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57200" y="2514600"/>
              <a:ext cx="11277600" cy="64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5523" y="2643664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怎么搭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61104" y="2632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列出七千多个公式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61866" y="287750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加减乘除任意组合，按分数挑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23504" y="26327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先按材料意义分组挑代表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24266" y="28775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只允许有物理意义的组合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57200" y="31623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57200" y="3162300"/>
              <a:ext cx="11277600" cy="647700"/>
            </a:xfrm>
            <a:prstGeom prst="rect">
              <a:avLst/>
            </a:prstGeom>
            <a:solidFill>
              <a:srgbClr val="F7F9F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5523" y="329136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举个例子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61104" y="3280410"/>
              <a:ext cx="2176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“畸变 × 最长键长 ÷ 目标键长”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61866" y="352520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能算，但材料上说不清为什么这么乘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3504" y="32804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局域配位配网络配骨架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24266" y="352520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每类挑一个，看加减乘除是否说得通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57200" y="38100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7200" y="3810000"/>
              <a:ext cx="11277600" cy="64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5523" y="39390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量纲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61104" y="39471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不管，只看分数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23504" y="39090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长度加长度可以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23504" y="4156710"/>
              <a:ext cx="138499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长度加</a:t>
              </a:r>
              <a:r>
                <a:rPr lang="zh-CN" alt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无关参数</a:t>
              </a:r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不行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57200" y="4457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57200" y="4457700"/>
              <a:ext cx="11277600" cy="647700"/>
            </a:xfrm>
            <a:prstGeom prst="rect">
              <a:avLst/>
            </a:prstGeom>
            <a:solidFill>
              <a:srgbClr val="F7F9F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5523" y="45867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261104" y="4575810"/>
              <a:ext cx="171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容易拼出“高分但材料上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261104" y="4804410"/>
              <a:ext cx="12318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解释不通”的公式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23504" y="45758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组合空间小很多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23504" y="48044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每个组合都有材料解释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45" name="TextBox 45"/>
            <p:cNvSpPr txBox="1"/>
            <p:nvPr/>
          </p:nvSpPr>
          <p:spPr>
            <a:xfrm>
              <a:off x="451104" y="6356985"/>
              <a:ext cx="35903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第一轮做了什么、发现问题 → 第二轮怎么逐条解决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05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463868"/>
            <a:ext cx="11293602" cy="993267"/>
            <a:chOff x="441198" y="463868"/>
            <a:chExt cx="11293602" cy="99326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46386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强相关描述符筛选｜阶段性汇报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41058"/>
              <a:ext cx="379567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目前能说到哪一步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409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48818" y="1803082"/>
            <a:ext cx="8679561" cy="589407"/>
            <a:chOff x="448818" y="1803082"/>
            <a:chExt cx="8679561" cy="589407"/>
          </a:xfrm>
        </p:grpSpPr>
        <p:sp>
          <p:nvSpPr>
            <p:cNvPr id="6" name="TextBox 6"/>
            <p:cNvSpPr txBox="1"/>
            <p:nvPr/>
          </p:nvSpPr>
          <p:spPr>
            <a:xfrm>
              <a:off x="448818" y="1803082"/>
              <a:ext cx="5147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最准确的状态不是“算法封版、数据一到就出结论”，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8818" y="2069782"/>
              <a:ext cx="86795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而是框架建起来了，一部分规则在看新数据前冻结了，但统计上还有几个必须补的口子。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7200" y="2514600"/>
            <a:ext cx="11277600" cy="3429000"/>
            <a:chOff x="457200" y="2514600"/>
            <a:chExt cx="11277600" cy="3429000"/>
          </a:xfrm>
        </p:grpSpPr>
        <p:sp>
          <p:nvSpPr>
            <p:cNvPr id="9" name="Rectangle 9"/>
            <p:cNvSpPr/>
            <p:nvPr/>
          </p:nvSpPr>
          <p:spPr>
            <a:xfrm>
              <a:off x="457200" y="2514600"/>
              <a:ext cx="3657600" cy="3429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457200" y="2514600"/>
              <a:ext cx="3657600" cy="419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01980" y="26384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已经能做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3123" y="3081814"/>
              <a:ext cx="1838965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41 个</a:t>
              </a:r>
              <a:r>
                <a:rPr lang="zh-CN" alt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基础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描述符的计算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9600" y="3377517"/>
              <a:ext cx="1938351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体系差异后的主排序指标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9600" y="3682317"/>
              <a:ext cx="2428870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反复换一半样本看</a:t>
              </a:r>
              <a:r>
                <a:rPr lang="zh-CN" alt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描述符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稳定</a:t>
              </a:r>
              <a:r>
                <a:rPr lang="zh-CN" alt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性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9600" y="3987117"/>
              <a:ext cx="21413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受约束的二/三描述符组合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9600" y="4291917"/>
              <a:ext cx="20465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组合的分体系小样本检查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3885" y="51363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框架可用，规则部分冻结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267200" y="2514600"/>
              <a:ext cx="3657600" cy="3429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267200" y="2514600"/>
              <a:ext cx="3657600" cy="419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411980" y="263842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正在补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13123" y="3081814"/>
              <a:ext cx="18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205 处身份字段未查完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13123" y="3386614"/>
              <a:ext cx="23912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留一体系验证被删，必须补回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66666" y="3639502"/>
              <a:ext cx="15796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是谈“跨体系外推”的前提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13123" y="3920014"/>
              <a:ext cx="13831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主检验 p 值偏小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66666" y="4172902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自由度未按控制列数扣，规则已冻结代码未改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13123" y="4453414"/>
              <a:ext cx="18742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相关簇自动去重没实现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66666" y="47063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阈值定了但没有代码在用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13885" y="513635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统计口子必须补，否则结论不稳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077200" y="2514600"/>
              <a:ext cx="3657600" cy="3429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077200" y="2514600"/>
              <a:ext cx="36576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221980" y="26384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还不能说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23123" y="3081814"/>
              <a:ext cx="20465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chemeClr val="accent2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第二代在新数据上零结果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23123" y="3462814"/>
              <a:ext cx="2227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chemeClr val="accent2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不能说复现第一代的 0.597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23123" y="3843814"/>
              <a:ext cx="17019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chemeClr val="accent2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不能说预测未见体系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8229600" y="42672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  <a:custDash>
                <a:ds d="200000" sp="400000"/>
              </a:custDash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23123" y="44534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哪怕最后没有任何描述符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23123" y="47201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通过检验，也如实报告，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23123" y="498681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不回头调规则。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41" name="TextBox 41"/>
            <p:cNvSpPr txBox="1"/>
            <p:nvPr/>
          </p:nvSpPr>
          <p:spPr>
            <a:xfrm>
              <a:off x="451104" y="6356985"/>
              <a:ext cx="35903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第一轮做了什么、发现问题 → 第二轮怎么逐条解决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06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463868"/>
            <a:ext cx="11293602" cy="993267"/>
            <a:chOff x="441198" y="463868"/>
            <a:chExt cx="11293602" cy="99326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463868"/>
              <a:ext cx="850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 附录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41058"/>
              <a:ext cx="755934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数据量对不上，同名量也不能跨代比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409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450342" y="1759268"/>
            <a:ext cx="5798058" cy="2263616"/>
            <a:chOff x="450342" y="1759268"/>
            <a:chExt cx="5798058" cy="2263616"/>
          </a:xfrm>
        </p:grpSpPr>
        <p:sp>
          <p:nvSpPr>
            <p:cNvPr id="6" name="TextBox 6"/>
            <p:cNvSpPr txBox="1"/>
            <p:nvPr/>
          </p:nvSpPr>
          <p:spPr>
            <a:xfrm>
              <a:off x="450342" y="1759268"/>
              <a:ext cx="33245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先回答最容易被追问的：103 还是 84？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57200" y="2057400"/>
              <a:ext cx="2819400" cy="8382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1312" y="1935480"/>
              <a:ext cx="92372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103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3504" y="24422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第一轮正式记录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4266" y="2648902"/>
              <a:ext cx="1616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103 条记录 + 103 份 CIF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429000" y="2057400"/>
              <a:ext cx="2819400" cy="838200"/>
            </a:xfrm>
            <a:prstGeom prst="rect">
              <a:avLst/>
            </a:prstGeom>
            <a:solidFill>
              <a:srgbClr val="FBE5DF"/>
            </a:solidFill>
            <a:ln w="9525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563112" y="193548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84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75304" y="24422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第二代目录里的历史缓存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76066" y="264890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一份中间文件，不能替代正式记录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104" y="3032760"/>
              <a:ext cx="50765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数据表文件名仍写 107，删 4 个含锂结构后实际 103 行，文件名没改。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1104" y="32804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两者来源不同，不能拿来互相替换。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1485" y="3612356"/>
              <a:ext cx="54916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历史类别分布：NASICON 30、硫化物 41、卤化物 13、氢化物和硼氢化物 14、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1485" y="3802856"/>
              <a:ext cx="38787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β-氧化铝 2、反钙钛矿 2、氧化物 1。第二代锁定前三类。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546342" y="1759268"/>
            <a:ext cx="5188458" cy="3095243"/>
            <a:chOff x="6546342" y="1759268"/>
            <a:chExt cx="5188458" cy="3095243"/>
          </a:xfrm>
        </p:grpSpPr>
        <p:sp>
          <p:nvSpPr>
            <p:cNvPr id="20" name="TextBox 20"/>
            <p:cNvSpPr txBox="1"/>
            <p:nvPr/>
          </p:nvSpPr>
          <p:spPr>
            <a:xfrm>
              <a:off x="6546342" y="17592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同名量跨代不对应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53200" y="2057400"/>
              <a:ext cx="51816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00266" y="217265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同名量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67066" y="217265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129266" y="217265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第二代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7696200" y="2057400"/>
              <a:ext cx="9525" cy="1828800"/>
            </a:xfrm>
            <a:custGeom>
              <a:avLst/>
              <a:gdLst/>
              <a:ahLst/>
              <a:cxnLst/>
              <a:rect l="l" t="t" r="r" b="b"/>
              <a:pathLst>
                <a:path w="9525" h="1828800">
                  <a:moveTo>
                    <a:pt x="0" y="0"/>
                  </a:moveTo>
                  <a:lnTo>
                    <a:pt x="0" y="182880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0058400" y="2057400"/>
              <a:ext cx="9525" cy="1828800"/>
            </a:xfrm>
            <a:custGeom>
              <a:avLst/>
              <a:gdLst/>
              <a:ahLst/>
              <a:cxnLst/>
              <a:rect l="l" t="t" r="r" b="b"/>
              <a:pathLst>
                <a:path w="9525" h="1828800">
                  <a:moveTo>
                    <a:pt x="0" y="0"/>
                  </a:moveTo>
                  <a:lnTo>
                    <a:pt x="0" y="182880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553200" y="2400300"/>
              <a:ext cx="5181600" cy="7429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99504" y="24993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局域宽松因子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00647" y="2733199"/>
              <a:ext cx="4838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代号 A2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67066" y="25155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无量纲比值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67447" y="2714149"/>
              <a:ext cx="16310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全结构最长 Na–阴离子键长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67447" y="2904649"/>
              <a:ext cx="9136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÷ 有效半径之和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29266" y="25155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最长键长均值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129647" y="2714149"/>
              <a:ext cx="14614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每个 Na 位点最长键长的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129647" y="2904649"/>
              <a:ext cx="12017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平均，单位埃（Å）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553200" y="31432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553200" y="3143250"/>
              <a:ext cx="5181600" cy="742950"/>
            </a:xfrm>
            <a:prstGeom prst="rect">
              <a:avLst/>
            </a:prstGeom>
            <a:solidFill>
              <a:srgbClr val="F7F9F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99504" y="32423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位点连通量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00647" y="3476149"/>
              <a:ext cx="6203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代号 NaNa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67066" y="32585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整批样本做百分位秩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67447" y="34951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换一批材料、同结构的值都会变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29266" y="32585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单结构近似公式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129647" y="349519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不依赖整批样本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553200" y="3886200"/>
              <a:ext cx="5181600" cy="609600"/>
            </a:xfrm>
            <a:prstGeom prst="rect">
              <a:avLst/>
            </a:prstGeom>
            <a:solidFill>
              <a:srgbClr val="FBE5D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99504" y="40233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99885" y="4260056"/>
              <a:ext cx="42858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公式、单位、聚合方式都不同，历史 0.597 不能算到第二代头上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47866" y="4649152"/>
              <a:ext cx="34242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第二代代码里“已知 0.597”的注释是错误沿用，要改。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49" name="TextBox 49"/>
            <p:cNvSpPr txBox="1"/>
            <p:nvPr/>
          </p:nvSpPr>
          <p:spPr>
            <a:xfrm>
              <a:off x="451104" y="6356985"/>
              <a:ext cx="1573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Q&amp;A 附录｜精确细节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07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463868"/>
            <a:ext cx="11293602" cy="993267"/>
            <a:chOff x="441198" y="463868"/>
            <a:chExt cx="11293602" cy="99326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463868"/>
              <a:ext cx="850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 附录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41058"/>
              <a:ext cx="80533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0.793 是怎么回事，主程序到底跑到哪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409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450342" y="1759268"/>
            <a:ext cx="5493258" cy="2219610"/>
            <a:chOff x="450342" y="1759268"/>
            <a:chExt cx="5493258" cy="2219610"/>
          </a:xfrm>
        </p:grpSpPr>
        <p:sp>
          <p:nvSpPr>
            <p:cNvPr id="6" name="TextBox 6"/>
            <p:cNvSpPr txBox="1"/>
            <p:nvPr/>
          </p:nvSpPr>
          <p:spPr>
            <a:xfrm>
              <a:off x="450342" y="1759268"/>
              <a:ext cx="2694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0.793 经常被误读，先划清边界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57200" y="2095500"/>
              <a:ext cx="2667000" cy="952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2836" y="2044065"/>
              <a:ext cx="138889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0.793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3885" y="25455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机器学习模型交叉验证秩相关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4266" y="2763202"/>
              <a:ext cx="19405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ExtraTrees（随机森林一类）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276600" y="2095500"/>
              <a:ext cx="2667000" cy="952500"/>
            </a:xfrm>
            <a:prstGeom prst="rect">
              <a:avLst/>
            </a:prstGeom>
            <a:solidFill>
              <a:srgbClr val="FBE5DF"/>
            </a:solidFill>
            <a:ln w="9525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412236" y="2044065"/>
              <a:ext cx="138889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0.755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23285" y="2545556"/>
              <a:ext cx="1913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A2 加 NaNa 两个量的历史值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23666" y="276320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单变量相关，不是组合描述符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0723" y="3196114"/>
              <a:ext cx="19170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0.793 是模型预测性能，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0723" y="3462814"/>
              <a:ext cx="36234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不是“A2 乘 NaNa 这个组合描述符的相关”。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0723" y="3729514"/>
              <a:ext cx="37612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Spearman：衡量两个变量排序是否一致的指标。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546342" y="1759268"/>
            <a:ext cx="5188458" cy="2364771"/>
            <a:chOff x="6546342" y="1759268"/>
            <a:chExt cx="5188458" cy="2364771"/>
          </a:xfrm>
        </p:grpSpPr>
        <p:sp>
          <p:nvSpPr>
            <p:cNvPr id="19" name="TextBox 19"/>
            <p:cNvSpPr txBox="1"/>
            <p:nvPr/>
          </p:nvSpPr>
          <p:spPr>
            <a:xfrm>
              <a:off x="6546342" y="17592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主程序实际跑到哪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553200" y="2057400"/>
              <a:ext cx="51816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00266" y="2153602"/>
              <a:ext cx="4781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0 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14666" y="21536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算描述符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2362200"/>
              <a:ext cx="5181600" cy="304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00266" y="2458402"/>
              <a:ext cx="4781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 1 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14666" y="2458402"/>
              <a:ext cx="2010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原始相关 + 扣体系差异后的相关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553200" y="2667000"/>
              <a:ext cx="5181600" cy="304800"/>
            </a:xfrm>
            <a:prstGeom prst="rect">
              <a:avLst/>
            </a:prstGeom>
            <a:solidFill>
              <a:srgbClr val="F7F9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00266" y="2763202"/>
              <a:ext cx="4781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 2 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14666" y="2763202"/>
              <a:ext cx="1869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半样本稳定性 + 物理类别代表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53200" y="2971800"/>
              <a:ext cx="5181600" cy="304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00266" y="3068002"/>
              <a:ext cx="4781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 3 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14666" y="30680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受约束的组合搜索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53200" y="3276600"/>
              <a:ext cx="5181600" cy="304800"/>
            </a:xfrm>
            <a:prstGeom prst="rect">
              <a:avLst/>
            </a:prstGeom>
            <a:solidFill>
              <a:srgbClr val="F7F9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00266" y="3372802"/>
              <a:ext cx="4781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 4 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14666" y="33728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对靠前组合做探索性验证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553200" y="3581400"/>
              <a:ext cx="51816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00266" y="36776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到此为止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14666" y="36776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没有自动调用独立工具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48247" y="393334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主程序 ≠ 完整研究治理流程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450342" y="4350068"/>
            <a:ext cx="11284458" cy="1660588"/>
            <a:chOff x="450342" y="4350068"/>
            <a:chExt cx="11284458" cy="1660588"/>
          </a:xfrm>
        </p:grpSpPr>
        <p:sp>
          <p:nvSpPr>
            <p:cNvPr id="40" name="TextBox 40"/>
            <p:cNvSpPr txBox="1"/>
            <p:nvPr/>
          </p:nvSpPr>
          <p:spPr>
            <a:xfrm>
              <a:off x="450342" y="4350068"/>
              <a:ext cx="36393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已实现、但未被主程序自动调用的独立工具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57200" y="4648200"/>
              <a:ext cx="2133600" cy="6477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3504" y="47663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数据校验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4647" y="50382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检查输入完整性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743200" y="4648200"/>
              <a:ext cx="2133600" cy="6477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889504" y="47663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室温选择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890647" y="50382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多条测量挑室温那条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029200" y="4648200"/>
              <a:ext cx="2133600" cy="6477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175504" y="47663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等价写法探针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176647" y="5038249"/>
              <a:ext cx="11250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七种 CIF 等价写法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315200" y="4648200"/>
              <a:ext cx="2133600" cy="6477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461504" y="47663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数值指纹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62647" y="50382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描述符值可追溯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601200" y="4648200"/>
              <a:ext cx="2133600" cy="6477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747504" y="47663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注册表闸门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48647" y="503824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身份字段未全填则挡下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51104" y="5509260"/>
              <a:ext cx="5197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这些工具可单独讲，但要和“一键能跑的主程序”分开说，不能混为一谈。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51104" y="5775960"/>
              <a:ext cx="31380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正文不会把 0.793 当组合描述符的结果用。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59" name="TextBox 59"/>
            <p:cNvSpPr txBox="1"/>
            <p:nvPr/>
          </p:nvSpPr>
          <p:spPr>
            <a:xfrm>
              <a:off x="451104" y="6356985"/>
              <a:ext cx="1573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Q&amp;A 附录｜精确细节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08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3484" y="463868"/>
            <a:ext cx="11291316" cy="955357"/>
            <a:chOff x="443484" y="463868"/>
            <a:chExt cx="11291316" cy="95535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463868"/>
              <a:ext cx="850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 附录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3484" y="889635"/>
              <a:ext cx="1010869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冗余能识别到什么程度，统计证据为什么还只能算探索性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409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50342" y="1759268"/>
            <a:ext cx="3066898" cy="264033"/>
            <a:chOff x="450342" y="1759268"/>
            <a:chExt cx="3066898" cy="264033"/>
          </a:xfrm>
        </p:grpSpPr>
        <p:sp>
          <p:nvSpPr>
            <p:cNvPr id="6" name="TextBox 6"/>
            <p:cNvSpPr txBox="1"/>
            <p:nvPr/>
          </p:nvSpPr>
          <p:spPr>
            <a:xfrm>
              <a:off x="450342" y="1759268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冗余识别四档，按证据强度从强到弱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971800" y="2057400"/>
            <a:ext cx="1371600" cy="3276600"/>
            <a:chOff x="2971800" y="2057400"/>
            <a:chExt cx="1371600" cy="3276600"/>
          </a:xfrm>
        </p:grpSpPr>
        <p:sp>
          <p:nvSpPr>
            <p:cNvPr id="8" name="Polygon 8"/>
            <p:cNvSpPr/>
            <p:nvPr/>
          </p:nvSpPr>
          <p:spPr>
            <a:xfrm>
              <a:off x="2971800" y="2057400"/>
              <a:ext cx="1371600" cy="762000"/>
            </a:xfrm>
            <a:custGeom>
              <a:avLst/>
              <a:gdLst/>
              <a:ahLst/>
              <a:cxnLst/>
              <a:rect l="l" t="t" r="r" b="b"/>
              <a:pathLst>
                <a:path w="1371600" h="762000">
                  <a:moveTo>
                    <a:pt x="0" y="0"/>
                  </a:moveTo>
                  <a:lnTo>
                    <a:pt x="1371600" y="0"/>
                  </a:lnTo>
                  <a:lnTo>
                    <a:pt x="1143000" y="762000"/>
                  </a:lnTo>
                  <a:lnTo>
                    <a:pt x="228600" y="762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397072" y="2270760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69564" y="25155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精确别名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3200400" y="2895600"/>
              <a:ext cx="914400" cy="762000"/>
            </a:xfrm>
            <a:custGeom>
              <a:avLst/>
              <a:gdLst/>
              <a:ahLst/>
              <a:cxnLst/>
              <a:rect l="l" t="t" r="r" b="b"/>
              <a:pathLst>
                <a:path w="914400" h="762000">
                  <a:moveTo>
                    <a:pt x="0" y="0"/>
                  </a:moveTo>
                  <a:lnTo>
                    <a:pt x="914400" y="0"/>
                  </a:lnTo>
                  <a:lnTo>
                    <a:pt x="685800" y="762000"/>
                  </a:lnTo>
                  <a:lnTo>
                    <a:pt x="228600" y="7620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397072" y="3108960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28213" y="33537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共用底层计算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3429000" y="3733800"/>
              <a:ext cx="457200" cy="762000"/>
            </a:xfrm>
            <a:custGeom>
              <a:avLst/>
              <a:gdLst/>
              <a:ahLst/>
              <a:cxnLst/>
              <a:rect l="l" t="t" r="r" b="b"/>
              <a:pathLst>
                <a:path w="457200" h="762000">
                  <a:moveTo>
                    <a:pt x="0" y="0"/>
                  </a:moveTo>
                  <a:lnTo>
                    <a:pt x="457200" y="0"/>
                  </a:lnTo>
                  <a:lnTo>
                    <a:pt x="342900" y="762000"/>
                  </a:lnTo>
                  <a:lnTo>
                    <a:pt x="114300" y="7620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414415" y="395525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第三档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22828" y="42000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同数学形式</a:t>
              </a:r>
            </a:p>
          </p:txBody>
        </p:sp>
        <p:sp>
          <p:nvSpPr>
            <p:cNvPr id="17" name="Polygon 17"/>
            <p:cNvSpPr/>
            <p:nvPr/>
          </p:nvSpPr>
          <p:spPr>
            <a:xfrm>
              <a:off x="3543300" y="4572000"/>
              <a:ext cx="228600" cy="762000"/>
            </a:xfrm>
            <a:custGeom>
              <a:avLst/>
              <a:gdLst/>
              <a:ahLst/>
              <a:cxnLst/>
              <a:rect l="l" t="t" r="r" b="b"/>
              <a:pathLst>
                <a:path w="228600" h="762000">
                  <a:moveTo>
                    <a:pt x="0" y="0"/>
                  </a:moveTo>
                  <a:lnTo>
                    <a:pt x="228600" y="0"/>
                  </a:lnTo>
                  <a:lnTo>
                    <a:pt x="190500" y="762000"/>
                  </a:lnTo>
                  <a:lnTo>
                    <a:pt x="38100" y="762000"/>
                  </a:lnTo>
                  <a:close/>
                </a:path>
              </a:pathLst>
            </a:custGeom>
            <a:solidFill>
              <a:srgbClr val="64717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429638" y="480155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第四档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10522" y="50272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数据相关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72000" y="2057400"/>
            <a:ext cx="7162800" cy="3238500"/>
            <a:chOff x="4572000" y="2057400"/>
            <a:chExt cx="7162800" cy="3238500"/>
          </a:xfrm>
        </p:grpSpPr>
        <p:sp>
          <p:nvSpPr>
            <p:cNvPr id="21" name="Rectangle 21"/>
            <p:cNvSpPr/>
            <p:nvPr/>
          </p:nvSpPr>
          <p:spPr>
            <a:xfrm>
              <a:off x="4572000" y="2057400"/>
              <a:ext cx="7162800" cy="723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17923" y="2186464"/>
              <a:ext cx="1460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第一档｜精确别名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18685" y="246935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两个入口调用同一个函数，可以直接排除。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572000" y="2895600"/>
              <a:ext cx="7162800" cy="7239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717923" y="3024664"/>
              <a:ext cx="23650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第二档｜共用同一段底层计算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18685" y="3307556"/>
              <a:ext cx="4406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16 个描述符共用同一套 Na–阴离子壳层规则，能标记同源风险，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18685" y="347900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不能据此断言数值重复。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572000" y="3733800"/>
              <a:ext cx="7162800" cy="723900"/>
            </a:xfrm>
            <a:prstGeom prst="rect">
              <a:avLst/>
            </a:prstGeom>
            <a:solidFill>
              <a:srgbClr val="FBE5DF"/>
            </a:solidFill>
            <a:ln w="9525">
              <a:solidFill>
                <a:schemeClr val="accent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717923" y="3862864"/>
              <a:ext cx="30887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第三档｜同一数学形式作用在不同中心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18685" y="4145756"/>
              <a:ext cx="3584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钠侧的畸变 vs 骨架侧的畸变，是同类量，不是别名。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572000" y="4572000"/>
              <a:ext cx="7162800" cy="7239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17923" y="470106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第四档｜等新数据到位后看取值是否高度相关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18685" y="498395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再做相关簇分析，当前自动去重还没实现。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57200" y="5791200"/>
            <a:ext cx="11277600" cy="381000"/>
            <a:chOff x="457200" y="5791200"/>
            <a:chExt cx="11277600" cy="381000"/>
          </a:xfrm>
        </p:grpSpPr>
        <p:sp>
          <p:nvSpPr>
            <p:cNvPr id="35" name="Rectangle 35"/>
            <p:cNvSpPr/>
            <p:nvPr/>
          </p:nvSpPr>
          <p:spPr>
            <a:xfrm>
              <a:off x="457200" y="5791200"/>
              <a:ext cx="112776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452844" y="5910739"/>
              <a:ext cx="72863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能说“哪里可能重复”，不能说“最终候选已完全去重”｜统计证据目前标探索性，不能当定论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38" name="TextBox 38"/>
            <p:cNvSpPr txBox="1"/>
            <p:nvPr/>
          </p:nvSpPr>
          <p:spPr>
            <a:xfrm>
              <a:off x="451104" y="6356985"/>
              <a:ext cx="1573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Q&amp;A 附录｜精确细节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09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463868"/>
            <a:ext cx="11293602" cy="993267"/>
            <a:chOff x="441198" y="463868"/>
            <a:chExt cx="11293602" cy="99326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463868"/>
              <a:ext cx="850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 附录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41058"/>
              <a:ext cx="850026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空位探针证明了什么，低成本方案缺在哪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409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50342" y="1759268"/>
            <a:ext cx="5798058" cy="4184332"/>
            <a:chOff x="450342" y="1759268"/>
            <a:chExt cx="5798058" cy="4184332"/>
          </a:xfrm>
        </p:grpSpPr>
        <p:sp>
          <p:nvSpPr>
            <p:cNvPr id="6" name="TextBox 6"/>
            <p:cNvSpPr txBox="1"/>
            <p:nvPr/>
          </p:nvSpPr>
          <p:spPr>
            <a:xfrm>
              <a:off x="450342" y="1759268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占位拆分检验：操作和边界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57200" y="2057400"/>
              <a:ext cx="5791200" cy="952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3504" y="21945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3885" y="246935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找一个满占的、不是钠的位点，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3885" y="2678906"/>
              <a:ext cx="3064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拆成两个同坐标、各占 0.5 的同种元素位点。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4266" y="2896552"/>
              <a:ext cx="22509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同一个晶体，只是 CIF 写法不同。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57200" y="3124200"/>
              <a:ext cx="5791200" cy="12954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3504" y="32613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它证明的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3885" y="353615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多面体畸变、平均键长、钠浓度、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3885" y="3745706"/>
              <a:ext cx="27196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部分占位比例会受 CIF 占位写法影响。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3885" y="4088606"/>
              <a:ext cx="2362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 部分描述符对结构文件写法敏感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57200" y="4533900"/>
              <a:ext cx="5791200" cy="1409700"/>
            </a:xfrm>
            <a:prstGeom prst="rect">
              <a:avLst/>
            </a:prstGeom>
            <a:solidFill>
              <a:srgbClr val="FBE5D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3504" y="46710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它没证明的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3885" y="4945856"/>
              <a:ext cx="1338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0904" indent="-120904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钠空位的实验真值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3885" y="5193506"/>
              <a:ext cx="20924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0904" indent="-120904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结构文件没报告的潜在钠位点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3885" y="5441156"/>
              <a:ext cx="8862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0904" indent="-120904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热平衡空位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3885" y="5688806"/>
              <a:ext cx="2529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0904" indent="-120904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pymatgen 识别真实钠空位的准确率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546342" y="1759268"/>
            <a:ext cx="5188458" cy="4276343"/>
            <a:chOff x="6546342" y="1759268"/>
            <a:chExt cx="5188458" cy="4276343"/>
          </a:xfrm>
        </p:grpSpPr>
        <p:sp>
          <p:nvSpPr>
            <p:cNvPr id="24" name="TextBox 24"/>
            <p:cNvSpPr txBox="1"/>
            <p:nvPr/>
          </p:nvSpPr>
          <p:spPr>
            <a:xfrm>
              <a:off x="6546342" y="1759268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低成本方案四层当前状态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53200" y="2057400"/>
              <a:ext cx="5181600" cy="6477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99504" y="2194560"/>
              <a:ext cx="22156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第一层｜几何空腔（Zeo++）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00266" y="247745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旧数据有预计算列，第二代新流程未接可执行后端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553200" y="2819400"/>
              <a:ext cx="5181600" cy="6477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99504" y="2956560"/>
              <a:ext cx="2317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第二代间隙点｜SciPy Voronoi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00266" y="3239452"/>
              <a:ext cx="32294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另一种几何近似（空间分割），不等于 Zeo++ 本身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53200" y="3581400"/>
              <a:ext cx="5181600" cy="647700"/>
            </a:xfrm>
            <a:prstGeom prst="rect">
              <a:avLst/>
            </a:prstGeom>
            <a:solidFill>
              <a:srgbClr val="FBE5DF"/>
            </a:solidFill>
            <a:ln w="9525">
              <a:solidFill>
                <a:schemeClr val="accent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99504" y="3718560"/>
              <a:ext cx="21987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第二层｜键价能垒（BVSE）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00266" y="4001452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脚本在仓库里，但需外部程序；当前注册入口永远返回空值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53200" y="4343400"/>
              <a:ext cx="5181600" cy="6477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99504" y="4480560"/>
              <a:ext cx="21539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第三层｜DFT 密度泛函计算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00266" y="476345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从量子力学算材料性质的方法，要外部算力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53200" y="5105400"/>
              <a:ext cx="5181600" cy="6477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99504" y="5242560"/>
              <a:ext cx="20642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第四层｜AIMD 分子动力学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00266" y="552545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让原子在高温下运动观察离子迁移，要外部算力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47866" y="583025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分层路线能设计，但不能说已在第二代跑通。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42" name="TextBox 42"/>
            <p:cNvSpPr txBox="1"/>
            <p:nvPr/>
          </p:nvSpPr>
          <p:spPr>
            <a:xfrm>
              <a:off x="451104" y="6356985"/>
              <a:ext cx="1573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Q&amp;A 附录｜精确细节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10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3484" y="463868"/>
            <a:ext cx="11291316" cy="955357"/>
            <a:chOff x="443484" y="463868"/>
            <a:chExt cx="11291316" cy="95535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463868"/>
              <a:ext cx="850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 附录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3484" y="889635"/>
              <a:ext cx="772951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“扣体系差异后的排序相关”到底是怎么算的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409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48818" y="1803082"/>
            <a:ext cx="10012299" cy="589407"/>
            <a:chOff x="448818" y="1803082"/>
            <a:chExt cx="10012299" cy="589407"/>
          </a:xfrm>
        </p:grpSpPr>
        <p:sp>
          <p:nvSpPr>
            <p:cNvPr id="6" name="TextBox 6"/>
            <p:cNvSpPr txBox="1"/>
            <p:nvPr/>
          </p:nvSpPr>
          <p:spPr>
            <a:xfrm>
              <a:off x="448818" y="1803082"/>
              <a:ext cx="67026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正文里反复说的“扣体系差异后的排序相关”，准确指这样一种算法：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8818" y="2069782"/>
              <a:ext cx="100122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把体系类别当作分组控制，从描述符和电导率里分别扣除控制能线性解释的部分，再对剩余算秩相关。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50342" y="2521268"/>
            <a:ext cx="6864858" cy="2888932"/>
            <a:chOff x="450342" y="2521268"/>
            <a:chExt cx="6864858" cy="2888932"/>
          </a:xfrm>
        </p:grpSpPr>
        <p:sp>
          <p:nvSpPr>
            <p:cNvPr id="9" name="TextBox 9"/>
            <p:cNvSpPr txBox="1"/>
            <p:nvPr/>
          </p:nvSpPr>
          <p:spPr>
            <a:xfrm>
              <a:off x="450342" y="25212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算法三步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57200" y="2819400"/>
              <a:ext cx="6858000" cy="762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571500" y="300990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2772" y="31051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6523" y="2986564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体系分组控制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7285" y="3269456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只保留体系之外还能提供独立信息的阴离子对比列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57200" y="3733800"/>
              <a:ext cx="6858000" cy="7620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571500" y="392430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2772" y="40195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6523" y="3900964"/>
              <a:ext cx="1460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扣线性可解释部分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7285" y="4183856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从描述符和电导率里分别扣除控制变量能线性解释的部分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57200" y="4648200"/>
              <a:ext cx="6858000" cy="762000"/>
            </a:xfrm>
            <a:prstGeom prst="rect">
              <a:avLst/>
            </a:prstGeom>
            <a:solidFill>
              <a:srgbClr val="FBE5D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571500" y="4838700"/>
              <a:ext cx="381000" cy="38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2772" y="49339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6523" y="4815364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剩余算秩相关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7285" y="5098256"/>
              <a:ext cx="2167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对残差算 Spearman 秩相关系数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13142" y="2521268"/>
            <a:ext cx="4121658" cy="3117532"/>
            <a:chOff x="7613142" y="2521268"/>
            <a:chExt cx="4121658" cy="3117532"/>
          </a:xfrm>
        </p:grpSpPr>
        <p:sp>
          <p:nvSpPr>
            <p:cNvPr id="26" name="TextBox 26"/>
            <p:cNvSpPr txBox="1"/>
            <p:nvPr/>
          </p:nvSpPr>
          <p:spPr>
            <a:xfrm>
              <a:off x="7613142" y="2521268"/>
              <a:ext cx="1921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与标准偏秩相关的区别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0" y="2819400"/>
              <a:ext cx="4114800" cy="11049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66304" y="29565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本程序的做法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67066" y="32394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先扣线性可解释部分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67066" y="34490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再对残差算秩相关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67066" y="365855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程序内名：线性残差的秩相关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20000" y="4038600"/>
              <a:ext cx="4114800" cy="1104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766304" y="41757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标准偏秩相关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67066" y="44586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先排名再扣控制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67066" y="46682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两者不是一回事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67066" y="48777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不能混用名称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620000" y="5257800"/>
              <a:ext cx="4114800" cy="381000"/>
            </a:xfrm>
            <a:prstGeom prst="rect">
              <a:avLst/>
            </a:prstGeom>
            <a:solidFill>
              <a:srgbClr val="FBE5D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767066" y="539210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不能自动扣致密度、烧结、测试方法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51104" y="5909310"/>
            <a:ext cx="9236354" cy="234696"/>
            <a:chOff x="451104" y="5909310"/>
            <a:chExt cx="9236354" cy="234696"/>
          </a:xfrm>
        </p:grpSpPr>
        <p:sp>
          <p:nvSpPr>
            <p:cNvPr id="40" name="TextBox 40"/>
            <p:cNvSpPr txBox="1"/>
            <p:nvPr/>
          </p:nvSpPr>
          <p:spPr>
            <a:xfrm>
              <a:off x="451104" y="5909310"/>
              <a:ext cx="9236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程序里叫“线性残差的秩相关”，不是标准的先排名再扣控制的偏秩相关；不能自动扣致密度、烧结、测试方法这些没进表的因素。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42" name="TextBox 42"/>
            <p:cNvSpPr txBox="1"/>
            <p:nvPr/>
          </p:nvSpPr>
          <p:spPr>
            <a:xfrm>
              <a:off x="451104" y="6356985"/>
              <a:ext cx="1573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Q&amp;A 附录｜精确细节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11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41198" y="463868"/>
            <a:ext cx="11293602" cy="993267"/>
            <a:chOff x="441198" y="463868"/>
            <a:chExt cx="11293602" cy="993267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463868"/>
              <a:ext cx="850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 附录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41058"/>
              <a:ext cx="708888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补齐哪些缺口，结果才能写进论文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57200" y="1409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450342" y="1759268"/>
            <a:ext cx="11284458" cy="2050732"/>
            <a:chOff x="450342" y="1759268"/>
            <a:chExt cx="11284458" cy="2050732"/>
          </a:xfrm>
        </p:grpSpPr>
        <p:sp>
          <p:nvSpPr>
            <p:cNvPr id="6" name="TextBox 6"/>
            <p:cNvSpPr txBox="1"/>
            <p:nvPr/>
          </p:nvSpPr>
          <p:spPr>
            <a:xfrm>
              <a:off x="450342" y="1759268"/>
              <a:ext cx="40210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两条分层路线：从低成本线索逐层走向更强证据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57200" y="2057400"/>
              <a:ext cx="5524500" cy="1752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1980" y="21621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冗余分层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" y="2438400"/>
              <a:ext cx="1295400" cy="9525"/>
            </a:xfrm>
            <a:custGeom>
              <a:avLst/>
              <a:gdLst/>
              <a:ahLst/>
              <a:cxnLst/>
              <a:rect l="l" t="t" r="r" b="b"/>
              <a:pathLst>
                <a:path w="1295400" h="9525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3504" y="2613660"/>
              <a:ext cx="33157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精确别名 → 共用底层 → 同数学形式 → 数据相关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3504" y="2956560"/>
              <a:ext cx="2556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关键缺口：相关簇自动去重未实现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3885" y="32313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阈值已定，但没有代码在用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3885" y="34980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第四档要等新数据到位才能做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10300" y="2057400"/>
              <a:ext cx="5524500" cy="1752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55080" y="21621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空位分层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362700" y="2438400"/>
              <a:ext cx="1295400" cy="9525"/>
            </a:xfrm>
            <a:custGeom>
              <a:avLst/>
              <a:gdLst/>
              <a:ahLst/>
              <a:cxnLst/>
              <a:rect l="l" t="t" r="r" b="b"/>
              <a:pathLst>
                <a:path w="1295400" h="9525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56604" y="2613660"/>
              <a:ext cx="26151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几何空腔 → 键价能垒 → DFT → AIMD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56604" y="2956560"/>
              <a:ext cx="2217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关键缺口：低成本两层未接通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56985" y="32313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第一层有旧数据但未接后端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56985" y="34980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第二层注册入口永远返回空值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50342" y="4197668"/>
            <a:ext cx="11284458" cy="1441132"/>
            <a:chOff x="450342" y="4197668"/>
            <a:chExt cx="11284458" cy="1441132"/>
          </a:xfrm>
        </p:grpSpPr>
        <p:sp>
          <p:nvSpPr>
            <p:cNvPr id="22" name="TextBox 22"/>
            <p:cNvSpPr txBox="1"/>
            <p:nvPr/>
          </p:nvSpPr>
          <p:spPr>
            <a:xfrm>
              <a:off x="450342" y="41976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三道门：补齐之前，第二代结果不进论文结论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7200" y="4495800"/>
              <a:ext cx="3657600" cy="1143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2742" y="46167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门一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6142" y="46167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主检验统计显著性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885" y="4945856"/>
              <a:ext cx="1345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 值计算方式已冻结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3885" y="519350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代码还没改，自由度未按控制列数扣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4266" y="5430202"/>
              <a:ext cx="1728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当前 p 值偏小，不能直接用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267200" y="4495800"/>
              <a:ext cx="3657600" cy="1143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412742" y="46167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门二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46142" y="46167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相关簇自动去重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13885" y="49458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阈值已定，代码未实现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13885" y="519350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候选是否完全去重未验证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14266" y="54302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跨代同名量不能直接搬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077200" y="4495800"/>
              <a:ext cx="3657600" cy="1143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222742" y="46167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门三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56142" y="46167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留一体系验证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23885" y="49458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拿两类材料训练，预测第三类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23885" y="51935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当前被删，必须补回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24266" y="5430202"/>
              <a:ext cx="14383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谈“跨体系外推”的前提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57200" y="5905500"/>
            <a:ext cx="11277600" cy="327851"/>
            <a:chOff x="457200" y="5905500"/>
            <a:chExt cx="11277600" cy="327851"/>
          </a:xfrm>
        </p:grpSpPr>
        <p:sp>
          <p:nvSpPr>
            <p:cNvPr id="42" name="Rectangle 42"/>
            <p:cNvSpPr/>
            <p:nvPr/>
          </p:nvSpPr>
          <p:spPr>
            <a:xfrm>
              <a:off x="457200" y="5905500"/>
              <a:ext cx="112776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173703" y="5969318"/>
              <a:ext cx="38445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三道门补齐之前，第二代结果不进论文结论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51104" y="6356985"/>
            <a:ext cx="11289030" cy="234696"/>
            <a:chOff x="451104" y="6356985"/>
            <a:chExt cx="11289030" cy="234696"/>
          </a:xfrm>
        </p:grpSpPr>
        <p:sp>
          <p:nvSpPr>
            <p:cNvPr id="45" name="TextBox 45"/>
            <p:cNvSpPr txBox="1"/>
            <p:nvPr/>
          </p:nvSpPr>
          <p:spPr>
            <a:xfrm>
              <a:off x="451104" y="6356985"/>
              <a:ext cx="1573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Q&amp;A 附录｜精确细节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55940" y="63731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12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两代描述符筛选阶段性汇报">
  <a:themeElements>
    <a:clrScheme name="两代描述符筛选阶段性汇报">
      <a:dk1>
        <a:srgbClr val="182229"/>
      </a:dk1>
      <a:lt1>
        <a:srgbClr val="FFFFFF"/>
      </a:lt1>
      <a:dk2>
        <a:srgbClr val="1F497D"/>
      </a:dk2>
      <a:lt2>
        <a:srgbClr val="EFF3F1"/>
      </a:lt2>
      <a:accent1>
        <a:srgbClr val="113B4A"/>
      </a:accent1>
      <a:accent2>
        <a:srgbClr val="C75B39"/>
      </a:accent2>
      <a:accent3>
        <a:srgbClr val="2E7D6E"/>
      </a:accent3>
      <a:accent4>
        <a:srgbClr val="113B4A"/>
      </a:accent4>
      <a:accent5>
        <a:srgbClr val="CFDAD7"/>
      </a:accent5>
      <a:accent6>
        <a:srgbClr val="647176"/>
      </a:accent6>
      <a:hlink>
        <a:srgbClr val="C75B39"/>
      </a:hlink>
      <a:folHlink>
        <a:srgbClr val="2E7D6E"/>
      </a:folHlink>
    </a:clrScheme>
    <a:fontScheme name="两代描述符筛选阶段性汇报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两代描述符筛选阶段性汇报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两代描述符筛选阶段性汇报">
  <a:themeElements>
    <a:clrScheme name="两代描述符筛选阶段性汇报">
      <a:dk1>
        <a:srgbClr val="182229"/>
      </a:dk1>
      <a:lt1>
        <a:srgbClr val="FFFFFF"/>
      </a:lt1>
      <a:dk2>
        <a:srgbClr val="1F497D"/>
      </a:dk2>
      <a:lt2>
        <a:srgbClr val="EFF3F1"/>
      </a:lt2>
      <a:accent1>
        <a:srgbClr val="113B4A"/>
      </a:accent1>
      <a:accent2>
        <a:srgbClr val="C75B39"/>
      </a:accent2>
      <a:accent3>
        <a:srgbClr val="2E7D6E"/>
      </a:accent3>
      <a:accent4>
        <a:srgbClr val="113B4A"/>
      </a:accent4>
      <a:accent5>
        <a:srgbClr val="CFDAD7"/>
      </a:accent5>
      <a:accent6>
        <a:srgbClr val="647176"/>
      </a:accent6>
      <a:hlink>
        <a:srgbClr val="C75B39"/>
      </a:hlink>
      <a:folHlink>
        <a:srgbClr val="2E7D6E"/>
      </a:folHlink>
    </a:clrScheme>
    <a:fontScheme name="两代描述符筛选阶段性汇报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两代描述符筛选阶段性汇报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5466</Words>
  <Application>Microsoft Office PowerPoint</Application>
  <PresentationFormat>宽屏</PresentationFormat>
  <Paragraphs>411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3" baseType="lpstr">
      <vt:lpstr>Arial</vt:lpstr>
      <vt:lpstr>两代描述符筛选阶段性汇报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Wang Zhangyin(21C LAB)</cp:lastModifiedBy>
  <cp:revision>3</cp:revision>
  <dcterms:created xsi:type="dcterms:W3CDTF">2026-08-17T07:43:14Z</dcterms:created>
  <dcterms:modified xsi:type="dcterms:W3CDTF">2026-08-17T11:28:42Z</dcterms:modified>
  <cp:category/>
  <cp:contentStatus/>
  <dc:language/>
</cp:coreProperties>
</file>