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今天我不准备先报一个最高相关系数，因为找到高分并不是这项工作的难点。真正困难的是确认这个高分反映了材料结构本身，而不是材料体系、测量口径或者晶体文件写法。上次大家问到描述符会不会重复、空位能不能只靠晶体文件识别，这两个问题其实都在追问同一件事：这个高分到底值不值得相信。第二代算法因此不再只负责找高分，还要逐步排除会制造假象的来源。</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要理解为什么需要重写算法，先要强调第一代并不是失败了，而是完整跑通以后把问题暴露了出来。它已经在一百零三条记录和一百零三个晶体文件上完成筛选，文件名虽然仍写着一百零七，但其中四个含锂结构已经删除；同时，第一代历史数据覆盖七类材料，第二代将聚焦 NASICON、硫化物和卤化物三类。现在的数据扩充和算法重建是两条并行工作线：一条补齐测量口径与来源，另一条在看见新结果之前冻结筛选规则。这样做是为了避免新数据来了以后，再根据结果临时改变判据。</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回到第一代，它的思路很直接：从晶体结构中提取局域配位、钠位点网络以及已有的 SoftBV 和 Zeo++ 信息，再构造三十五个候选量。初筛看的是描述符排序与电导率排序是否一致，随后两批各生成三千五百四十四个手写组合，并用两百次重复抽样观察排名是否稳定。它还尝试按材料体系或阴离子类别做留出检查，所以第一代的价值很明确：它第一次把从结构计算到候选比较的整条链路跑了起来。也正因为流程跑通，我们才有条件看见旧筛选在哪些地方会过度乐观。</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第一代曾把局域宽松、配位畸变和钠网络推到前面，但这些旧候选不能原样搬到第二代。最典型的是 A 二：第一代计算全结构最长钠到阴离子键长与目标键长的比值，是无量纲量；第二代现有的 a2_max_dist 取各钠位点最长键长的均值，单位是埃，也没有那个分母。NaNa 的差别更大，第一代先在整批材料中做百分位排序，换一批材料，同一结构的数值也可能变化；第二代则使用另一套单结构近似。因此旧结果现在主要用于指出哪些物理方向值得重做，而不能当作第二代已经复现的结论。</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公式身份核对以后，上次现场的两个问题就成为第二代的起点。描述符冗余的问题是，几个高分量可能都在反复使用最长键长、畸变或钠浓度，算法便会把同一份结构信息误当成多份独立证据。空位识别的问题是，晶体文件只记录精修或建模写出的位点，部分占位既可能来自真实缺陷，也可能来自无序、混合占位或表达方式。两类问题的共同答案不是马上删变量或马上判空位，而是先查清每个量的公式、来源和证据层级，再让它进入分数比较。</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继续复盘后，我们把要拦住的假象归纳成五类。第一类是材料体系本身的起点不同，第二类是 total、bulk、晶界、温度、致密度和测试方法的口径不一；第三类是在同一批小样本上大量构造再大量评价，试得越多越容易撞上漂亮数字。第四类是描述符名称、公式和物理解释不一致，第五类是每一折里仍混有三类材料，只能说明已有范围内的内插，不能证明可以预测一个完全没见过的体系。第二代的步骤不是为了增加复杂度，而是分别针对这些具体误判设置检查。</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所以两代算法最核心的区别，是检查顺序从先排名变成了先确认能不能比。第一代把候选算出来以后直接按相关性推进，第二代先检查数据口径，再扣除体系整体差异，并给描述符登记公式、单位、来源和写法敏感性。稳定性检查也从观察重复抽样中的排名，改为每次换一半样本都重新做选择；组合搜索则先限制物理类别、算符和量纲。这样不保证分数一定更高，但能让留下来的候选少一些体系代理、重复信息和无法解释的公式。</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二代的第一道关键检查，可以理解为先校正不同材料的起跑线。假如硫化物整体电导率高，一个结构量也恰好主要区分硫化物和氧化物，把所有样本混在一起时就可能得到很高的相关；但这不等于它在硫化物内部仍能区分快慢。现在先从结构量和电导率中分别扣除材料体系以及额外独立的阴离子类别信息，再比较两组剩余量的排序是否一致。准确地说，这是线性残差的秩相关，不是教科书定义的标准偏 Spearman，而且它仍无法替代致密度、烧结条件和测试方法这些尚未入表的控制变量。</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扣除体系差异以后，下一步是确认参与比较的描述符本身名副其实。第二代为每个量建立公式、单位、物理类别、代码来源和别名关系的身份证，并用等价晶体写法检查原点、超胞或占位表达改变时数值是否漂移，再用固定合成结构的数值指纹防止代码修改造成静默变化。目前有四十一个注册入口，去掉一个兼容别名和两个永久不可用入口以后，有三十八个可进入自动搜索，实际数量还会随覆盖率减少。需要诚实说明的是，登记表仍有二百零五处身份字段待补，而且这些审计工具目前还没有自动串进主程序。</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描述符身份明确以后，还要处理小样本偶然高分和组合数量过大的问题。第二代反复无放回地抽取一半样本，每次重新做稀疏选择，看哪些候选能持续留下；随后按局域配位、网络、浓度、骨架和对称性等类别只留少量代表。进入组合时只允许预先规定的跨类别搭配，并检查加、乘、比值是否满足量纲与材料解释，再对靠前组合做探索性复查。这里也有边界：代码里所谓 bootstrap 实际是半样本子抽样，相关簇自动去重和嵌套的跨体系验证还没有完成。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现在可以重新回答两个现场问题，但答案需要分层。对于冗余，精确别名可以直接排除，共用同一底层计算只能提示同源风险，同一数学形式作用在不同结构中心也只能归为同类；真正的数据冗余仍要等新数据到位后通过相关簇判断。对于空位，晶体文件占位只能告诉我们已经被报告的亏缺，Voronoi 或 Zeo++ 更接近几何空腔，BVS、BVSE 和 SoftBV 提供能量层面的筛选，而少量 DFT 或 AIMD 才能给出更强验证。当前占位拆分探针只证明描述符可能受等价文件写法影响，并没有直接测量真实钠空位的识别准确率。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把当前状态分成三层：已经实现的，是描述符计算、扣除体系起点后的排序、半样本稳定性和受约束组合搜索；已经记录但仍需接入的，是两表数据契约、室温值选择、等价写法探针和数值指纹。必须在正式结果前完成的，是材料体系枚举与身份字段、主检验 p 值修正、相关簇选择以及真正的留一体系验证。新数据到位后也不会立刻跑相关性，而会先做口径、路径和解析预检，再完成必要修复后运行。第二代现阶段的成果不是已经找到了更强描述符，而是把什么结果有资格被相信、什么还缺证据，变成了可追溯流程。</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如果追问样本数，第一代的正式口径是一百零三条有效材料记录和一百零三个晶体文件；文件名中的一百零七只是旧名称，删除四个含锂结构后没有改名。第二代目录里另有八十四行原始输入和八十四行特征缓存，它们是历史缓存，不是第一代完整数据，也不是新的扩充数据集。因而准确说法是第二代尚无新扩充数据集上的最终搜索结果，而不是从未接触过真实数据。</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A 二和 NaNa 的跨代差异可以用四件事核对：公式、单位、聚合方式和是否依赖同批样本。第一代 A 二是全结构最大值除以目标键长，第二代 a2_max_dist 是每个钠位点最大键长的均值；第一代 NaNa 依赖整批样本的百分位秩，第二代 nana_composite 是最大连通分量、平均邻居数和估计维度的单结构乘积近似。它们不是同一个物理量，所以旧相关性不能直接贴到新变量名上，必须重新命名或重新实现，再在新数据下重新检验。</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这里两个常被引用的数字回答的是完全不同的问题。零点七九三是第一代 ExtraTrees 模型的交叉验证 Spearman，输入包含 A 二、NaNa、SoftBV 和 Zeo++；只用 A 二与 NaNa 网络量时历史值是零点七五五，它们都不是 A 二乘 NaNa 这个单一描述符的相关性。四十一到三十八则表示注册入口到可搜索入口的变化，其中去掉一个兼容别名和两个当前不可用项，真实进入排序还会因覆盖率继续减少。两个数字都不能被表述成第二代已经发现的新结果。</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再看程序边界，当前一键主流程只执行零到四共五个阶段：先计算描述符并形成覆盖率矩阵，再做原始与扣除体系差异后的排序，然后进行半样本稳定性选择、受约束组合搜索，最后只复查排名靠前的组合。数据入口校验、室温测量选择、等价写法探针、数值指纹和注册表完整性闸门虽然已经分别实现，但需要独立运行，主程序不会自动调用。正式运行时必须把研究治理流程和当前一键执行范围分开说明，也要把这些独立工具显式串入操作清单。</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当前证据能减少误判，但仍停留在探索层。底层主量先线性扣除材料体系与额外阴离子类别信息，再对两组残差做排序相关；上面一层的分体系置换只用于排名靠前的组合，而且单个体系少于五个样本时不报告。尚未补齐的是主检验偏小的 p 值、多重比较和筛选过程带来的不确定性，最上层真正把一个体系完全留出的 LOSO 也没有实现。因此现阶段不能把内部稳定性等同于对未见材料体系的预测能力。</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最后的行动路线不是寻找一个万能判据，而是让证据逐层增强。冗余从精确别名、确定性变换、共同计算来源和物理类别，走到新数据中的相关簇；空位从晶体文件占位、几何空腔、键价或能量筛选，走到少量 DFT 或 AIMD 验证。当前仍缺 Zeo++ 自动后端，BVSE 入口返回空值，SoftBV 需要外部程序；正式运行前还要修正主检验 p 值、实现相关簇选择并补回真正的 LOSO。第二代最重要的价值，是让每一个所谓强相关都能说清证据来自哪一层，以及还缺哪一层。</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两代描述符筛选阶段性汇报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两代描述符筛选阶段性汇报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57200" y="378142"/>
            <a:ext cx="3707740" cy="264033"/>
            <a:chOff x="457200" y="378142"/>
            <a:chExt cx="3707740" cy="264033"/>
          </a:xfrm>
        </p:grpSpPr>
        <p:sp>
          <p:nvSpPr>
            <p:cNvPr id="2" name="Rectangle 2"/>
            <p:cNvSpPr/>
            <p:nvPr/>
          </p:nvSpPr>
          <p:spPr>
            <a:xfrm>
              <a:off x="457200" y="400050"/>
              <a:ext cx="514350" cy="38100"/>
            </a:xfrm>
            <a:prstGeom prst="rect">
              <a:avLst/>
            </a:prstGeom>
            <a:solidFill>
              <a:schemeClr val="accent3"/>
            </a:solidFill>
            <a:ln>
              <a:noFill/>
            </a:ln>
          </p:spPr>
        </p:sp>
        <p:sp>
          <p:nvSpPr>
            <p:cNvPr id="3" name="TextBox 3"/>
            <p:cNvSpPr txBox="1"/>
            <p:nvPr/>
          </p:nvSpPr>
          <p:spPr>
            <a:xfrm>
              <a:off x="1098042" y="378142"/>
              <a:ext cx="3066898"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强相关描述符筛选｜阶段性工作汇报</a:t>
              </a:r>
            </a:p>
          </p:txBody>
        </p:sp>
      </p:grpSp>
      <p:grpSp>
        <p:nvGrpSpPr>
          <p:cNvPr id="10" name="Group 10"/>
          <p:cNvGrpSpPr/>
          <p:nvPr/>
        </p:nvGrpSpPr>
        <p:grpSpPr>
          <a:xfrm>
            <a:off x="438150" y="1063942"/>
            <a:ext cx="7091934" cy="3150109"/>
            <a:chOff x="438150" y="1063942"/>
            <a:chExt cx="7091934" cy="3150109"/>
          </a:xfrm>
        </p:grpSpPr>
        <p:sp>
          <p:nvSpPr>
            <p:cNvPr id="5" name="TextBox 5"/>
            <p:cNvSpPr txBox="1"/>
            <p:nvPr/>
          </p:nvSpPr>
          <p:spPr>
            <a:xfrm>
              <a:off x="438150" y="1063942"/>
              <a:ext cx="4537702" cy="1133475"/>
            </a:xfrm>
            <a:prstGeom prst="rect">
              <a:avLst/>
            </a:prstGeom>
            <a:noFill/>
            <a:ln>
              <a:noFill/>
            </a:ln>
          </p:spPr>
          <p:txBody>
            <a:bodyPr wrap="none" lIns="0" tIns="0" rIns="0" bIns="0" anchor="t" anchorCtr="0">
              <a:spAutoFit/>
            </a:bodyPr>
            <a:lstStyle/>
            <a:p>
              <a:pPr algn="l"/>
              <a:r>
                <a:rPr lang="zh-CN" sz="5850" b="1" dirty="0">
                  <a:solidFill>
                    <a:schemeClr val="accent1"/>
                  </a:solidFill>
                  <a:latin typeface="+mj-lt"/>
                  <a:ea typeface="+mj-ea"/>
                  <a:cs typeface="+mj-cs"/>
                </a:rPr>
                <a:t>高分 </a:t>
              </a:r>
              <a:r>
                <a:rPr lang="en-US" sz="5850" b="1" dirty="0">
                  <a:solidFill>
                    <a:schemeClr val="accent2"/>
                  </a:solidFill>
                  <a:latin typeface="+mj-lt"/>
                  <a:ea typeface="+mj-ea"/>
                  <a:cs typeface="+mj-cs"/>
                </a:rPr>
                <a:t>≠</a:t>
              </a:r>
              <a:r>
                <a:rPr lang="zh-CN" sz="5850" b="1" dirty="0">
                  <a:solidFill>
                    <a:schemeClr val="accent1"/>
                  </a:solidFill>
                  <a:latin typeface="+mj-lt"/>
                  <a:ea typeface="+mj-ea"/>
                  <a:cs typeface="+mj-cs"/>
                </a:rPr>
                <a:t> 规律</a:t>
              </a:r>
            </a:p>
          </p:txBody>
        </p:sp>
        <p:sp>
          <p:nvSpPr>
            <p:cNvPr id="6" name="TextBox 6"/>
            <p:cNvSpPr txBox="1"/>
            <p:nvPr/>
          </p:nvSpPr>
          <p:spPr>
            <a:xfrm>
              <a:off x="441198" y="2060258"/>
              <a:ext cx="708888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j-lt"/>
                  <a:ea typeface="+mj-ea"/>
                  <a:cs typeface="+mj-cs"/>
                </a:rPr>
                <a:t>高分不难，难的是知道它为什么高</a:t>
              </a:r>
            </a:p>
          </p:txBody>
        </p:sp>
        <p:sp>
          <p:nvSpPr>
            <p:cNvPr id="7" name="Line 7"/>
            <p:cNvSpPr/>
            <p:nvPr/>
          </p:nvSpPr>
          <p:spPr>
            <a:xfrm>
              <a:off x="457200" y="2647950"/>
              <a:ext cx="2533650" cy="9525"/>
            </a:xfrm>
            <a:custGeom>
              <a:avLst/>
              <a:gdLst/>
              <a:ahLst/>
              <a:cxnLst/>
              <a:rect l="l" t="t" r="r" b="b"/>
              <a:pathLst>
                <a:path w="2533650" h="9525">
                  <a:moveTo>
                    <a:pt x="0" y="0"/>
                  </a:moveTo>
                  <a:lnTo>
                    <a:pt x="2533650" y="0"/>
                  </a:lnTo>
                </a:path>
              </a:pathLst>
            </a:custGeom>
            <a:noFill/>
            <a:ln w="19050">
              <a:solidFill>
                <a:schemeClr val="accent5"/>
              </a:solidFill>
            </a:ln>
          </p:spPr>
        </p:sp>
        <p:sp>
          <p:nvSpPr>
            <p:cNvPr id="8" name="TextBox 8"/>
            <p:cNvSpPr txBox="1"/>
            <p:nvPr/>
          </p:nvSpPr>
          <p:spPr>
            <a:xfrm>
              <a:off x="445770" y="2900362"/>
              <a:ext cx="4309110"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找到一个高分描述符不难，难的是确认它反映的是材料结构。</a:t>
              </a:r>
            </a:p>
          </p:txBody>
        </p:sp>
        <p:sp>
          <p:nvSpPr>
            <p:cNvPr id="9" name="TextBox 9"/>
            <p:cNvSpPr txBox="1"/>
            <p:nvPr/>
          </p:nvSpPr>
          <p:spPr>
            <a:xfrm>
              <a:off x="450342" y="3950018"/>
              <a:ext cx="459348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两代方法对比｜从“谁分数高”到“哪些结果有资格被相信”</a:t>
              </a:r>
            </a:p>
          </p:txBody>
        </p:sp>
      </p:grpSp>
      <p:grpSp>
        <p:nvGrpSpPr>
          <p:cNvPr id="25" name="Group 25"/>
          <p:cNvGrpSpPr/>
          <p:nvPr/>
        </p:nvGrpSpPr>
        <p:grpSpPr>
          <a:xfrm>
            <a:off x="7524750" y="1359218"/>
            <a:ext cx="3829050" cy="3788283"/>
            <a:chOff x="7524750" y="1359218"/>
            <a:chExt cx="3829050" cy="3788283"/>
          </a:xfrm>
        </p:grpSpPr>
        <p:sp>
          <p:nvSpPr>
            <p:cNvPr id="11" name="TextBox 11"/>
            <p:cNvSpPr txBox="1"/>
            <p:nvPr/>
          </p:nvSpPr>
          <p:spPr>
            <a:xfrm>
              <a:off x="7555992" y="1359218"/>
              <a:ext cx="1921955"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三个必须先排除的来源</a:t>
              </a:r>
            </a:p>
          </p:txBody>
        </p:sp>
        <p:sp>
          <p:nvSpPr>
            <p:cNvPr id="12" name="Line 12"/>
            <p:cNvSpPr/>
            <p:nvPr/>
          </p:nvSpPr>
          <p:spPr>
            <a:xfrm>
              <a:off x="7734300" y="2152650"/>
              <a:ext cx="2343150" cy="1028700"/>
            </a:xfrm>
            <a:custGeom>
              <a:avLst/>
              <a:gdLst/>
              <a:ahLst/>
              <a:cxnLst/>
              <a:rect l="l" t="t" r="r" b="b"/>
              <a:pathLst>
                <a:path w="2343150" h="1028700">
                  <a:moveTo>
                    <a:pt x="0" y="0"/>
                  </a:moveTo>
                  <a:lnTo>
                    <a:pt x="2343150" y="1028700"/>
                  </a:lnTo>
                </a:path>
              </a:pathLst>
            </a:custGeom>
            <a:noFill/>
            <a:ln w="19050">
              <a:solidFill>
                <a:schemeClr val="accent5"/>
              </a:solidFill>
            </a:ln>
          </p:spPr>
        </p:sp>
        <p:sp>
          <p:nvSpPr>
            <p:cNvPr id="13" name="Line 13"/>
            <p:cNvSpPr/>
            <p:nvPr/>
          </p:nvSpPr>
          <p:spPr>
            <a:xfrm>
              <a:off x="7734300" y="3181350"/>
              <a:ext cx="2343150" cy="9525"/>
            </a:xfrm>
            <a:custGeom>
              <a:avLst/>
              <a:gdLst/>
              <a:ahLst/>
              <a:cxnLst/>
              <a:rect l="l" t="t" r="r" b="b"/>
              <a:pathLst>
                <a:path w="2343150" h="9525">
                  <a:moveTo>
                    <a:pt x="0" y="0"/>
                  </a:moveTo>
                  <a:lnTo>
                    <a:pt x="2343150" y="0"/>
                  </a:lnTo>
                </a:path>
              </a:pathLst>
            </a:custGeom>
            <a:noFill/>
            <a:ln w="19050">
              <a:solidFill>
                <a:schemeClr val="accent5"/>
              </a:solidFill>
            </a:ln>
          </p:spPr>
        </p:sp>
        <p:sp>
          <p:nvSpPr>
            <p:cNvPr id="14" name="Line 14"/>
            <p:cNvSpPr/>
            <p:nvPr/>
          </p:nvSpPr>
          <p:spPr>
            <a:xfrm>
              <a:off x="7734300" y="3181350"/>
              <a:ext cx="2343150" cy="1028700"/>
            </a:xfrm>
            <a:custGeom>
              <a:avLst/>
              <a:gdLst/>
              <a:ahLst/>
              <a:cxnLst/>
              <a:rect l="l" t="t" r="r" b="b"/>
              <a:pathLst>
                <a:path w="2343150" h="1028700">
                  <a:moveTo>
                    <a:pt x="0" y="1028700"/>
                  </a:moveTo>
                  <a:lnTo>
                    <a:pt x="2343150" y="0"/>
                  </a:lnTo>
                </a:path>
              </a:pathLst>
            </a:custGeom>
            <a:noFill/>
            <a:ln w="19050">
              <a:solidFill>
                <a:schemeClr val="accent5"/>
              </a:solidFill>
            </a:ln>
          </p:spPr>
        </p:sp>
        <p:sp>
          <p:nvSpPr>
            <p:cNvPr id="15" name="Ellipse 15"/>
            <p:cNvSpPr/>
            <p:nvPr/>
          </p:nvSpPr>
          <p:spPr>
            <a:xfrm>
              <a:off x="7524750" y="2057400"/>
              <a:ext cx="190500" cy="190500"/>
            </a:xfrm>
            <a:prstGeom prst="ellipse">
              <a:avLst/>
            </a:prstGeom>
            <a:solidFill>
              <a:schemeClr val="accent2"/>
            </a:solidFill>
            <a:ln>
              <a:noFill/>
            </a:ln>
          </p:spPr>
        </p:sp>
        <p:sp>
          <p:nvSpPr>
            <p:cNvPr id="16" name="Ellipse 16"/>
            <p:cNvSpPr/>
            <p:nvPr/>
          </p:nvSpPr>
          <p:spPr>
            <a:xfrm>
              <a:off x="7524750" y="3086100"/>
              <a:ext cx="190500" cy="190500"/>
            </a:xfrm>
            <a:prstGeom prst="ellipse">
              <a:avLst/>
            </a:prstGeom>
            <a:solidFill>
              <a:schemeClr val="accent2"/>
            </a:solidFill>
            <a:ln>
              <a:noFill/>
            </a:ln>
          </p:spPr>
        </p:sp>
        <p:sp>
          <p:nvSpPr>
            <p:cNvPr id="17" name="Ellipse 17"/>
            <p:cNvSpPr/>
            <p:nvPr/>
          </p:nvSpPr>
          <p:spPr>
            <a:xfrm>
              <a:off x="7524750" y="4114800"/>
              <a:ext cx="190500" cy="190500"/>
            </a:xfrm>
            <a:prstGeom prst="ellipse">
              <a:avLst/>
            </a:prstGeom>
            <a:solidFill>
              <a:schemeClr val="accent2"/>
            </a:solidFill>
            <a:ln>
              <a:noFill/>
            </a:ln>
          </p:spPr>
        </p:sp>
        <p:sp>
          <p:nvSpPr>
            <p:cNvPr id="18" name="TextBox 18"/>
            <p:cNvSpPr txBox="1"/>
            <p:nvPr/>
          </p:nvSpPr>
          <p:spPr>
            <a:xfrm>
              <a:off x="7839456" y="202501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材料体系</a:t>
              </a:r>
            </a:p>
          </p:txBody>
        </p:sp>
        <p:sp>
          <p:nvSpPr>
            <p:cNvPr id="19" name="TextBox 19"/>
            <p:cNvSpPr txBox="1"/>
            <p:nvPr/>
          </p:nvSpPr>
          <p:spPr>
            <a:xfrm>
              <a:off x="7839456" y="305371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测量口径</a:t>
              </a:r>
            </a:p>
          </p:txBody>
        </p:sp>
        <p:sp>
          <p:nvSpPr>
            <p:cNvPr id="20" name="TextBox 20"/>
            <p:cNvSpPr txBox="1"/>
            <p:nvPr/>
          </p:nvSpPr>
          <p:spPr>
            <a:xfrm>
              <a:off x="7839456" y="4082415"/>
              <a:ext cx="96560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CIF 写法</a:t>
              </a:r>
            </a:p>
          </p:txBody>
        </p:sp>
        <p:sp>
          <p:nvSpPr>
            <p:cNvPr id="21" name="Ellipse 21"/>
            <p:cNvSpPr/>
            <p:nvPr/>
          </p:nvSpPr>
          <p:spPr>
            <a:xfrm>
              <a:off x="9791700" y="2400300"/>
              <a:ext cx="1562100" cy="1562100"/>
            </a:xfrm>
            <a:prstGeom prst="ellipse">
              <a:avLst/>
            </a:prstGeom>
            <a:solidFill>
              <a:schemeClr val="lt2"/>
            </a:solidFill>
            <a:ln w="28575">
              <a:solidFill>
                <a:schemeClr val="accent1"/>
              </a:solidFill>
            </a:ln>
          </p:spPr>
        </p:sp>
        <p:sp>
          <p:nvSpPr>
            <p:cNvPr id="22" name="TextBox 22"/>
            <p:cNvSpPr txBox="1"/>
            <p:nvPr/>
          </p:nvSpPr>
          <p:spPr>
            <a:xfrm>
              <a:off x="10160356" y="2901315"/>
              <a:ext cx="824789"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j-lt"/>
                  <a:ea typeface="+mj-ea"/>
                  <a:cs typeface="+mj-cs"/>
                </a:rPr>
                <a:t>高相关</a:t>
              </a:r>
            </a:p>
          </p:txBody>
        </p:sp>
        <p:sp>
          <p:nvSpPr>
            <p:cNvPr id="23" name="TextBox 23"/>
            <p:cNvSpPr txBox="1"/>
            <p:nvPr/>
          </p:nvSpPr>
          <p:spPr>
            <a:xfrm>
              <a:off x="10313430" y="3092768"/>
              <a:ext cx="518640" cy="1133475"/>
            </a:xfrm>
            <a:prstGeom prst="rect">
              <a:avLst/>
            </a:prstGeom>
            <a:noFill/>
            <a:ln>
              <a:noFill/>
            </a:ln>
          </p:spPr>
          <p:txBody>
            <a:bodyPr wrap="none" lIns="0" tIns="0" rIns="0" bIns="0" anchor="t" anchorCtr="0">
              <a:spAutoFit/>
            </a:bodyPr>
            <a:lstStyle/>
            <a:p>
              <a:pPr algn="ctr"/>
              <a:r>
                <a:rPr lang="en-US" sz="5850" b="1" dirty="0">
                  <a:solidFill>
                    <a:schemeClr val="accent2"/>
                  </a:solidFill>
                  <a:latin typeface="+mj-lt"/>
                  <a:ea typeface="+mj-ea"/>
                  <a:cs typeface="+mj-cs"/>
                </a:rPr>
                <a:t>?</a:t>
              </a:r>
            </a:p>
          </p:txBody>
        </p:sp>
        <p:sp>
          <p:nvSpPr>
            <p:cNvPr id="24" name="TextBox 24"/>
            <p:cNvSpPr txBox="1"/>
            <p:nvPr/>
          </p:nvSpPr>
          <p:spPr>
            <a:xfrm>
              <a:off x="7536942" y="4883468"/>
              <a:ext cx="310324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跨体系稳定｜扣除体系差异｜名实一致</a:t>
              </a:r>
            </a:p>
          </p:txBody>
        </p:sp>
      </p:grpSp>
      <p:grpSp>
        <p:nvGrpSpPr>
          <p:cNvPr id="29" name="Group 29"/>
          <p:cNvGrpSpPr/>
          <p:nvPr/>
        </p:nvGrpSpPr>
        <p:grpSpPr>
          <a:xfrm>
            <a:off x="451104" y="6172200"/>
            <a:ext cx="11289030" cy="409956"/>
            <a:chOff x="451104" y="6172200"/>
            <a:chExt cx="11289030" cy="409956"/>
          </a:xfrm>
        </p:grpSpPr>
        <p:sp>
          <p:nvSpPr>
            <p:cNvPr id="26" name="Line 26"/>
            <p:cNvSpPr/>
            <p:nvPr/>
          </p:nvSpPr>
          <p:spPr>
            <a:xfrm>
              <a:off x="457200" y="6172200"/>
              <a:ext cx="11277600" cy="9525"/>
            </a:xfrm>
            <a:custGeom>
              <a:avLst/>
              <a:gdLst/>
              <a:ahLst/>
              <a:cxnLst/>
              <a:rect l="l" t="t" r="r" b="b"/>
              <a:pathLst>
                <a:path w="11277600" h="9525">
                  <a:moveTo>
                    <a:pt x="0" y="0"/>
                  </a:moveTo>
                  <a:lnTo>
                    <a:pt x="11277600" y="0"/>
                  </a:lnTo>
                </a:path>
              </a:pathLst>
            </a:custGeom>
            <a:noFill/>
            <a:ln w="9525">
              <a:solidFill>
                <a:schemeClr val="accent5"/>
              </a:solidFill>
            </a:ln>
          </p:spPr>
        </p:sp>
        <p:sp>
          <p:nvSpPr>
            <p:cNvPr id="27" name="TextBox 27"/>
            <p:cNvSpPr txBox="1"/>
            <p:nvPr/>
          </p:nvSpPr>
          <p:spPr>
            <a:xfrm>
              <a:off x="451104" y="6347460"/>
              <a:ext cx="273420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固态电解质结构描述符筛选｜2026.08</a:t>
              </a:r>
            </a:p>
          </p:txBody>
        </p:sp>
        <p:sp>
          <p:nvSpPr>
            <p:cNvPr id="28" name="TextBox 28"/>
            <p:cNvSpPr txBox="1"/>
            <p:nvPr/>
          </p:nvSpPr>
          <p:spPr>
            <a:xfrm>
              <a:off x="11255940" y="6363652"/>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01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68618"/>
            <a:ext cx="11293602" cy="974217"/>
            <a:chOff x="441198" y="368618"/>
            <a:chExt cx="11293602" cy="974217"/>
          </a:xfrm>
        </p:grpSpPr>
        <p:sp>
          <p:nvSpPr>
            <p:cNvPr id="2" name="TextBox 2"/>
            <p:cNvSpPr txBox="1"/>
            <p:nvPr/>
          </p:nvSpPr>
          <p:spPr>
            <a:xfrm>
              <a:off x="450342" y="368618"/>
              <a:ext cx="2131861"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02｜为什么会有两代算法</a:t>
              </a:r>
            </a:p>
          </p:txBody>
        </p:sp>
        <p:sp>
          <p:nvSpPr>
            <p:cNvPr id="3" name="TextBox 3"/>
            <p:cNvSpPr txBox="1"/>
            <p:nvPr/>
          </p:nvSpPr>
          <p:spPr>
            <a:xfrm>
              <a:off x="441198" y="726758"/>
              <a:ext cx="708888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第一代跑通以后，问题才真正暴露</a:t>
              </a:r>
            </a:p>
          </p:txBody>
        </p:sp>
        <p:sp>
          <p:nvSpPr>
            <p:cNvPr id="4" name="Line 4"/>
            <p:cNvSpPr/>
            <p:nvPr/>
          </p:nvSpPr>
          <p:spPr>
            <a:xfrm>
              <a:off x="457200" y="12763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7" name="Group 7"/>
          <p:cNvGrpSpPr/>
          <p:nvPr/>
        </p:nvGrpSpPr>
        <p:grpSpPr>
          <a:xfrm>
            <a:off x="445770" y="1500188"/>
            <a:ext cx="8201025" cy="440055"/>
            <a:chOff x="445770" y="1500188"/>
            <a:chExt cx="8201025" cy="440055"/>
          </a:xfrm>
        </p:grpSpPr>
        <p:sp>
          <p:nvSpPr>
            <p:cNvPr id="6" name="TextBox 6"/>
            <p:cNvSpPr txBox="1"/>
            <p:nvPr/>
          </p:nvSpPr>
          <p:spPr>
            <a:xfrm>
              <a:off x="445770" y="1500188"/>
              <a:ext cx="820102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扩数据和改算法必须并行；规则要在看见新结果前先定下来。</a:t>
              </a:r>
            </a:p>
          </p:txBody>
        </p:sp>
      </p:grpSp>
      <p:grpSp>
        <p:nvGrpSpPr>
          <p:cNvPr id="14" name="Group 14"/>
          <p:cNvGrpSpPr/>
          <p:nvPr/>
        </p:nvGrpSpPr>
        <p:grpSpPr>
          <a:xfrm>
            <a:off x="438150" y="2206942"/>
            <a:ext cx="3926106" cy="2311909"/>
            <a:chOff x="438150" y="2206942"/>
            <a:chExt cx="3926106" cy="2311909"/>
          </a:xfrm>
        </p:grpSpPr>
        <p:sp>
          <p:nvSpPr>
            <p:cNvPr id="8" name="TextBox 8"/>
            <p:cNvSpPr txBox="1"/>
            <p:nvPr/>
          </p:nvSpPr>
          <p:spPr>
            <a:xfrm>
              <a:off x="438150" y="2206942"/>
              <a:ext cx="3926106" cy="1133475"/>
            </a:xfrm>
            <a:prstGeom prst="rect">
              <a:avLst/>
            </a:prstGeom>
            <a:noFill/>
            <a:ln>
              <a:noFill/>
            </a:ln>
          </p:spPr>
          <p:txBody>
            <a:bodyPr wrap="none" lIns="0" tIns="0" rIns="0" bIns="0" anchor="t" anchorCtr="0">
              <a:spAutoFit/>
            </a:bodyPr>
            <a:lstStyle/>
            <a:p>
              <a:pPr algn="l"/>
              <a:r>
                <a:rPr lang="en-US" sz="5850" b="1" dirty="0">
                  <a:solidFill>
                    <a:schemeClr val="accent1"/>
                  </a:solidFill>
                  <a:latin typeface="+mj-lt"/>
                  <a:ea typeface="+mj-ea"/>
                  <a:cs typeface="+mj-cs"/>
                </a:rPr>
                <a:t>103 + 103</a:t>
              </a:r>
            </a:p>
          </p:txBody>
        </p:sp>
        <p:sp>
          <p:nvSpPr>
            <p:cNvPr id="9" name="TextBox 9"/>
            <p:cNvSpPr txBox="1"/>
            <p:nvPr/>
          </p:nvSpPr>
          <p:spPr>
            <a:xfrm>
              <a:off x="448056" y="3044190"/>
              <a:ext cx="177914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有效记录 + CIF</a:t>
              </a:r>
            </a:p>
          </p:txBody>
        </p:sp>
        <p:sp>
          <p:nvSpPr>
            <p:cNvPr id="10" name="Line 10"/>
            <p:cNvSpPr/>
            <p:nvPr/>
          </p:nvSpPr>
          <p:spPr>
            <a:xfrm>
              <a:off x="457200" y="3448050"/>
              <a:ext cx="2133600" cy="9525"/>
            </a:xfrm>
            <a:custGeom>
              <a:avLst/>
              <a:gdLst/>
              <a:ahLst/>
              <a:cxnLst/>
              <a:rect l="l" t="t" r="r" b="b"/>
              <a:pathLst>
                <a:path w="2133600" h="9525">
                  <a:moveTo>
                    <a:pt x="0" y="0"/>
                  </a:moveTo>
                  <a:lnTo>
                    <a:pt x="2133600" y="0"/>
                  </a:lnTo>
                </a:path>
              </a:pathLst>
            </a:custGeom>
            <a:noFill/>
            <a:ln w="38100">
              <a:solidFill>
                <a:schemeClr val="accent3"/>
              </a:solidFill>
            </a:ln>
          </p:spPr>
        </p:sp>
        <p:sp>
          <p:nvSpPr>
            <p:cNvPr id="11" name="TextBox 11"/>
            <p:cNvSpPr txBox="1"/>
            <p:nvPr/>
          </p:nvSpPr>
          <p:spPr>
            <a:xfrm>
              <a:off x="450342" y="3683318"/>
              <a:ext cx="183108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第一代完整筛选已跑通</a:t>
              </a:r>
            </a:p>
          </p:txBody>
        </p:sp>
        <p:sp>
          <p:nvSpPr>
            <p:cNvPr id="12" name="TextBox 12"/>
            <p:cNvSpPr txBox="1"/>
            <p:nvPr/>
          </p:nvSpPr>
          <p:spPr>
            <a:xfrm>
              <a:off x="450342" y="3969068"/>
              <a:ext cx="247196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_107.xlsx 删除4个含Li结构后</a:t>
              </a:r>
            </a:p>
          </p:txBody>
        </p:sp>
        <p:sp>
          <p:nvSpPr>
            <p:cNvPr id="13" name="TextBox 13"/>
            <p:cNvSpPr txBox="1"/>
            <p:nvPr/>
          </p:nvSpPr>
          <p:spPr>
            <a:xfrm>
              <a:off x="450342" y="4254818"/>
              <a:ext cx="122226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实际保留103行</a:t>
              </a:r>
            </a:p>
          </p:txBody>
        </p:sp>
      </p:grpSp>
      <p:grpSp>
        <p:nvGrpSpPr>
          <p:cNvPr id="39" name="Group 39"/>
          <p:cNvGrpSpPr/>
          <p:nvPr/>
        </p:nvGrpSpPr>
        <p:grpSpPr>
          <a:xfrm>
            <a:off x="2510295" y="2358390"/>
            <a:ext cx="9034005" cy="2951035"/>
            <a:chOff x="2510295" y="2358390"/>
            <a:chExt cx="9034005" cy="2951035"/>
          </a:xfrm>
        </p:grpSpPr>
        <p:sp>
          <p:nvSpPr>
            <p:cNvPr id="15" name="Line 15"/>
            <p:cNvSpPr/>
            <p:nvPr/>
          </p:nvSpPr>
          <p:spPr>
            <a:xfrm>
              <a:off x="3409950" y="3486150"/>
              <a:ext cx="2247900" cy="9525"/>
            </a:xfrm>
            <a:custGeom>
              <a:avLst/>
              <a:gdLst/>
              <a:ahLst/>
              <a:cxnLst/>
              <a:rect l="l" t="t" r="r" b="b"/>
              <a:pathLst>
                <a:path w="2247900" h="9525">
                  <a:moveTo>
                    <a:pt x="0" y="0"/>
                  </a:moveTo>
                  <a:lnTo>
                    <a:pt x="2247900" y="0"/>
                  </a:lnTo>
                </a:path>
              </a:pathLst>
            </a:custGeom>
            <a:noFill/>
            <a:ln w="38100">
              <a:solidFill>
                <a:schemeClr val="accent1"/>
              </a:solidFill>
            </a:ln>
          </p:spPr>
        </p:sp>
        <p:sp>
          <p:nvSpPr>
            <p:cNvPr id="16" name="Line 16"/>
            <p:cNvSpPr/>
            <p:nvPr/>
          </p:nvSpPr>
          <p:spPr>
            <a:xfrm>
              <a:off x="5962650" y="2724150"/>
              <a:ext cx="1638300" cy="762000"/>
            </a:xfrm>
            <a:custGeom>
              <a:avLst/>
              <a:gdLst/>
              <a:ahLst/>
              <a:cxnLst/>
              <a:rect l="l" t="t" r="r" b="b"/>
              <a:pathLst>
                <a:path w="1638300" h="762000">
                  <a:moveTo>
                    <a:pt x="0" y="762000"/>
                  </a:moveTo>
                  <a:lnTo>
                    <a:pt x="1638300" y="0"/>
                  </a:lnTo>
                </a:path>
              </a:pathLst>
            </a:custGeom>
            <a:noFill/>
            <a:ln w="28575">
              <a:solidFill>
                <a:schemeClr val="accent5"/>
              </a:solidFill>
            </a:ln>
          </p:spPr>
        </p:sp>
        <p:sp>
          <p:nvSpPr>
            <p:cNvPr id="17" name="Line 17"/>
            <p:cNvSpPr/>
            <p:nvPr/>
          </p:nvSpPr>
          <p:spPr>
            <a:xfrm>
              <a:off x="5962650" y="3486150"/>
              <a:ext cx="1638300" cy="762000"/>
            </a:xfrm>
            <a:custGeom>
              <a:avLst/>
              <a:gdLst/>
              <a:ahLst/>
              <a:cxnLst/>
              <a:rect l="l" t="t" r="r" b="b"/>
              <a:pathLst>
                <a:path w="1638300" h="762000">
                  <a:moveTo>
                    <a:pt x="0" y="0"/>
                  </a:moveTo>
                  <a:lnTo>
                    <a:pt x="1638300" y="762000"/>
                  </a:lnTo>
                </a:path>
              </a:pathLst>
            </a:custGeom>
            <a:noFill/>
            <a:ln w="28575">
              <a:solidFill>
                <a:schemeClr val="accent5"/>
              </a:solidFill>
            </a:ln>
          </p:spPr>
        </p:sp>
        <p:sp>
          <p:nvSpPr>
            <p:cNvPr id="18" name="Line 18"/>
            <p:cNvSpPr/>
            <p:nvPr/>
          </p:nvSpPr>
          <p:spPr>
            <a:xfrm>
              <a:off x="9505950" y="2724150"/>
              <a:ext cx="1009650" cy="762000"/>
            </a:xfrm>
            <a:custGeom>
              <a:avLst/>
              <a:gdLst/>
              <a:ahLst/>
              <a:cxnLst/>
              <a:rect l="l" t="t" r="r" b="b"/>
              <a:pathLst>
                <a:path w="1009650" h="762000">
                  <a:moveTo>
                    <a:pt x="0" y="0"/>
                  </a:moveTo>
                  <a:lnTo>
                    <a:pt x="1009650" y="762000"/>
                  </a:lnTo>
                </a:path>
              </a:pathLst>
            </a:custGeom>
            <a:noFill/>
            <a:ln w="28575">
              <a:solidFill>
                <a:schemeClr val="accent3"/>
              </a:solidFill>
            </a:ln>
          </p:spPr>
        </p:sp>
        <p:sp>
          <p:nvSpPr>
            <p:cNvPr id="19" name="Line 19"/>
            <p:cNvSpPr/>
            <p:nvPr/>
          </p:nvSpPr>
          <p:spPr>
            <a:xfrm>
              <a:off x="9505950" y="3486150"/>
              <a:ext cx="1009650" cy="762000"/>
            </a:xfrm>
            <a:custGeom>
              <a:avLst/>
              <a:gdLst/>
              <a:ahLst/>
              <a:cxnLst/>
              <a:rect l="l" t="t" r="r" b="b"/>
              <a:pathLst>
                <a:path w="1009650" h="762000">
                  <a:moveTo>
                    <a:pt x="0" y="762000"/>
                  </a:moveTo>
                  <a:lnTo>
                    <a:pt x="1009650" y="0"/>
                  </a:lnTo>
                </a:path>
              </a:pathLst>
            </a:custGeom>
            <a:noFill/>
            <a:ln w="28575">
              <a:solidFill>
                <a:schemeClr val="accent3"/>
              </a:solidFill>
            </a:ln>
          </p:spPr>
        </p:sp>
        <p:sp>
          <p:nvSpPr>
            <p:cNvPr id="20" name="Ellipse 20"/>
            <p:cNvSpPr/>
            <p:nvPr/>
          </p:nvSpPr>
          <p:spPr>
            <a:xfrm>
              <a:off x="3238500" y="3314700"/>
              <a:ext cx="342900" cy="342900"/>
            </a:xfrm>
            <a:prstGeom prst="ellipse">
              <a:avLst/>
            </a:prstGeom>
            <a:solidFill>
              <a:schemeClr val="accent1"/>
            </a:solidFill>
            <a:ln>
              <a:noFill/>
            </a:ln>
          </p:spPr>
        </p:sp>
        <p:sp>
          <p:nvSpPr>
            <p:cNvPr id="21" name="Ellipse 21"/>
            <p:cNvSpPr/>
            <p:nvPr/>
          </p:nvSpPr>
          <p:spPr>
            <a:xfrm>
              <a:off x="5581650" y="3257550"/>
              <a:ext cx="457200" cy="457200"/>
            </a:xfrm>
            <a:prstGeom prst="ellipse">
              <a:avLst/>
            </a:prstGeom>
            <a:solidFill>
              <a:schemeClr val="accent2"/>
            </a:solidFill>
            <a:ln>
              <a:noFill/>
            </a:ln>
          </p:spPr>
        </p:sp>
        <p:sp>
          <p:nvSpPr>
            <p:cNvPr id="22" name="Ellipse 22"/>
            <p:cNvSpPr/>
            <p:nvPr/>
          </p:nvSpPr>
          <p:spPr>
            <a:xfrm>
              <a:off x="7600950" y="2590800"/>
              <a:ext cx="266700" cy="266700"/>
            </a:xfrm>
            <a:prstGeom prst="ellipse">
              <a:avLst/>
            </a:prstGeom>
            <a:solidFill>
              <a:schemeClr val="accent3"/>
            </a:solidFill>
            <a:ln>
              <a:noFill/>
            </a:ln>
          </p:spPr>
        </p:sp>
        <p:sp>
          <p:nvSpPr>
            <p:cNvPr id="23" name="Ellipse 23"/>
            <p:cNvSpPr/>
            <p:nvPr/>
          </p:nvSpPr>
          <p:spPr>
            <a:xfrm>
              <a:off x="7600950" y="4114800"/>
              <a:ext cx="266700" cy="266700"/>
            </a:xfrm>
            <a:prstGeom prst="ellipse">
              <a:avLst/>
            </a:prstGeom>
            <a:solidFill>
              <a:schemeClr val="accent3"/>
            </a:solidFill>
            <a:ln>
              <a:noFill/>
            </a:ln>
          </p:spPr>
        </p:sp>
        <p:sp>
          <p:nvSpPr>
            <p:cNvPr id="24" name="Ellipse 24"/>
            <p:cNvSpPr/>
            <p:nvPr/>
          </p:nvSpPr>
          <p:spPr>
            <a:xfrm>
              <a:off x="10458450" y="3295650"/>
              <a:ext cx="381000" cy="381000"/>
            </a:xfrm>
            <a:prstGeom prst="ellipse">
              <a:avLst/>
            </a:prstGeom>
            <a:solidFill>
              <a:schemeClr val="lt1"/>
            </a:solidFill>
            <a:ln w="38100">
              <a:solidFill>
                <a:schemeClr val="accent3"/>
              </a:solidFill>
            </a:ln>
          </p:spPr>
        </p:sp>
        <p:sp>
          <p:nvSpPr>
            <p:cNvPr id="25" name="TextBox 25"/>
            <p:cNvSpPr txBox="1"/>
            <p:nvPr/>
          </p:nvSpPr>
          <p:spPr>
            <a:xfrm>
              <a:off x="2510295" y="2853690"/>
              <a:ext cx="1799311"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第一代完整筛选</a:t>
              </a:r>
            </a:p>
          </p:txBody>
        </p:sp>
        <p:sp>
          <p:nvSpPr>
            <p:cNvPr id="26" name="TextBox 26"/>
            <p:cNvSpPr txBox="1"/>
            <p:nvPr/>
          </p:nvSpPr>
          <p:spPr>
            <a:xfrm>
              <a:off x="5292242" y="2796540"/>
              <a:ext cx="1036015" cy="352044"/>
            </a:xfrm>
            <a:prstGeom prst="rect">
              <a:avLst/>
            </a:prstGeom>
            <a:noFill/>
            <a:ln>
              <a:noFill/>
            </a:ln>
          </p:spPr>
          <p:txBody>
            <a:bodyPr wrap="none" lIns="0" tIns="0" rIns="0" bIns="0" anchor="t" anchorCtr="0">
              <a:spAutoFit/>
            </a:bodyPr>
            <a:lstStyle/>
            <a:p>
              <a:pPr algn="ctr"/>
              <a:r>
                <a:rPr lang="zh-CN" sz="1800" b="1" dirty="0">
                  <a:solidFill>
                    <a:schemeClr val="accent2"/>
                  </a:solidFill>
                  <a:latin typeface="+mn-lt"/>
                  <a:ea typeface="+mn-ea"/>
                  <a:cs typeface="+mn-cs"/>
                </a:rPr>
                <a:t>问题暴露</a:t>
              </a:r>
            </a:p>
          </p:txBody>
        </p:sp>
        <p:sp>
          <p:nvSpPr>
            <p:cNvPr id="27" name="TextBox 27"/>
            <p:cNvSpPr txBox="1"/>
            <p:nvPr/>
          </p:nvSpPr>
          <p:spPr>
            <a:xfrm>
              <a:off x="4803838" y="3759518"/>
              <a:ext cx="2012823"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口径｜身份｜冗余｜外推</a:t>
              </a:r>
            </a:p>
          </p:txBody>
        </p:sp>
        <p:sp>
          <p:nvSpPr>
            <p:cNvPr id="28" name="TextBox 28"/>
            <p:cNvSpPr txBox="1"/>
            <p:nvPr/>
          </p:nvSpPr>
          <p:spPr>
            <a:xfrm>
              <a:off x="8010906" y="2358390"/>
              <a:ext cx="781583"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n-lt"/>
                  <a:ea typeface="+mn-ea"/>
                  <a:cs typeface="+mn-cs"/>
                </a:rPr>
                <a:t>数据线</a:t>
              </a:r>
            </a:p>
          </p:txBody>
        </p:sp>
        <p:sp>
          <p:nvSpPr>
            <p:cNvPr id="29" name="TextBox 29"/>
            <p:cNvSpPr txBox="1"/>
            <p:nvPr/>
          </p:nvSpPr>
          <p:spPr>
            <a:xfrm>
              <a:off x="8013192" y="27498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扩充三类材料</a:t>
              </a:r>
            </a:p>
          </p:txBody>
        </p:sp>
        <p:sp>
          <p:nvSpPr>
            <p:cNvPr id="30" name="TextBox 30"/>
            <p:cNvSpPr txBox="1"/>
            <p:nvPr/>
          </p:nvSpPr>
          <p:spPr>
            <a:xfrm>
              <a:off x="8013192" y="2997518"/>
              <a:ext cx="164934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补齐来源与测量口径</a:t>
              </a:r>
            </a:p>
          </p:txBody>
        </p:sp>
        <p:sp>
          <p:nvSpPr>
            <p:cNvPr id="31" name="TextBox 31"/>
            <p:cNvSpPr txBox="1"/>
            <p:nvPr/>
          </p:nvSpPr>
          <p:spPr>
            <a:xfrm>
              <a:off x="8010906" y="3882390"/>
              <a:ext cx="781583"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n-lt"/>
                  <a:ea typeface="+mn-ea"/>
                  <a:cs typeface="+mn-cs"/>
                </a:rPr>
                <a:t>算法线</a:t>
              </a:r>
            </a:p>
          </p:txBody>
        </p:sp>
        <p:sp>
          <p:nvSpPr>
            <p:cNvPr id="32" name="TextBox 32"/>
            <p:cNvSpPr txBox="1"/>
            <p:nvPr/>
          </p:nvSpPr>
          <p:spPr>
            <a:xfrm>
              <a:off x="8013192" y="42738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冻结筛选与审计顺序</a:t>
              </a:r>
            </a:p>
          </p:txBody>
        </p:sp>
        <p:sp>
          <p:nvSpPr>
            <p:cNvPr id="33" name="TextBox 33"/>
            <p:cNvSpPr txBox="1"/>
            <p:nvPr/>
          </p:nvSpPr>
          <p:spPr>
            <a:xfrm>
              <a:off x="8013192" y="4521518"/>
              <a:ext cx="164934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避免看结果后改判据</a:t>
              </a:r>
            </a:p>
          </p:txBody>
        </p:sp>
        <p:sp>
          <p:nvSpPr>
            <p:cNvPr id="34" name="TextBox 34"/>
            <p:cNvSpPr txBox="1"/>
            <p:nvPr/>
          </p:nvSpPr>
          <p:spPr>
            <a:xfrm>
              <a:off x="10385374" y="28536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汇合</a:t>
              </a:r>
            </a:p>
          </p:txBody>
        </p:sp>
        <p:sp>
          <p:nvSpPr>
            <p:cNvPr id="35" name="TextBox 35"/>
            <p:cNvSpPr txBox="1"/>
            <p:nvPr/>
          </p:nvSpPr>
          <p:spPr>
            <a:xfrm>
              <a:off x="10006012" y="3797618"/>
              <a:ext cx="128587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新数据通过检查</a:t>
              </a:r>
            </a:p>
          </p:txBody>
        </p:sp>
        <p:sp>
          <p:nvSpPr>
            <p:cNvPr id="36" name="TextBox 36"/>
            <p:cNvSpPr txBox="1"/>
            <p:nvPr/>
          </p:nvSpPr>
          <p:spPr>
            <a:xfrm>
              <a:off x="10096881" y="4045268"/>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再进入第二代</a:t>
              </a:r>
            </a:p>
          </p:txBody>
        </p:sp>
        <p:sp>
          <p:nvSpPr>
            <p:cNvPr id="37" name="Rectangle 37"/>
            <p:cNvSpPr/>
            <p:nvPr/>
          </p:nvSpPr>
          <p:spPr>
            <a:xfrm>
              <a:off x="3219450" y="4953000"/>
              <a:ext cx="8324850" cy="342900"/>
            </a:xfrm>
            <a:prstGeom prst="rect">
              <a:avLst/>
            </a:prstGeom>
            <a:solidFill>
              <a:schemeClr val="lt2"/>
            </a:solidFill>
            <a:ln>
              <a:noFill/>
            </a:ln>
          </p:spPr>
        </p:sp>
        <p:sp>
          <p:nvSpPr>
            <p:cNvPr id="38" name="TextBox 38"/>
            <p:cNvSpPr txBox="1"/>
            <p:nvPr/>
          </p:nvSpPr>
          <p:spPr>
            <a:xfrm>
              <a:off x="3384042" y="5045392"/>
              <a:ext cx="4557141"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当前边界：第二代尚无新扩充数据集上的最终筛选结果。</a:t>
              </a:r>
            </a:p>
          </p:txBody>
        </p:sp>
      </p:grpSp>
      <p:grpSp>
        <p:nvGrpSpPr>
          <p:cNvPr id="42" name="Group 42"/>
          <p:cNvGrpSpPr/>
          <p:nvPr/>
        </p:nvGrpSpPr>
        <p:grpSpPr>
          <a:xfrm>
            <a:off x="451104" y="6356985"/>
            <a:ext cx="11289030" cy="234696"/>
            <a:chOff x="451104" y="6356985"/>
            <a:chExt cx="11289030" cy="234696"/>
          </a:xfrm>
        </p:grpSpPr>
        <p:sp>
          <p:nvSpPr>
            <p:cNvPr id="40" name="TextBox 40"/>
            <p:cNvSpPr txBox="1"/>
            <p:nvPr/>
          </p:nvSpPr>
          <p:spPr>
            <a:xfrm>
              <a:off x="451104" y="6356985"/>
              <a:ext cx="243535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强相关描述符筛选｜两代方法对比</a:t>
              </a:r>
            </a:p>
          </p:txBody>
        </p:sp>
        <p:sp>
          <p:nvSpPr>
            <p:cNvPr id="41" name="TextBox 41"/>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02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68618"/>
            <a:ext cx="11293602" cy="974217"/>
            <a:chOff x="441198" y="368618"/>
            <a:chExt cx="11293602" cy="974217"/>
          </a:xfrm>
        </p:grpSpPr>
        <p:sp>
          <p:nvSpPr>
            <p:cNvPr id="2" name="TextBox 2"/>
            <p:cNvSpPr txBox="1"/>
            <p:nvPr/>
          </p:nvSpPr>
          <p:spPr>
            <a:xfrm>
              <a:off x="450342" y="368618"/>
              <a:ext cx="136856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03｜第一代基线</a:t>
              </a:r>
            </a:p>
          </p:txBody>
        </p:sp>
        <p:sp>
          <p:nvSpPr>
            <p:cNvPr id="3" name="TextBox 3"/>
            <p:cNvSpPr txBox="1"/>
            <p:nvPr/>
          </p:nvSpPr>
          <p:spPr>
            <a:xfrm>
              <a:off x="441198" y="726758"/>
              <a:ext cx="802980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第一代做对了一件事：先让筛选跑起来</a:t>
              </a:r>
            </a:p>
          </p:txBody>
        </p:sp>
        <p:sp>
          <p:nvSpPr>
            <p:cNvPr id="4" name="Line 4"/>
            <p:cNvSpPr/>
            <p:nvPr/>
          </p:nvSpPr>
          <p:spPr>
            <a:xfrm>
              <a:off x="457200" y="12763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7" name="Group 7"/>
          <p:cNvGrpSpPr/>
          <p:nvPr/>
        </p:nvGrpSpPr>
        <p:grpSpPr>
          <a:xfrm>
            <a:off x="445770" y="1481138"/>
            <a:ext cx="9412605" cy="440055"/>
            <a:chOff x="445770" y="1481138"/>
            <a:chExt cx="9412605" cy="440055"/>
          </a:xfrm>
        </p:grpSpPr>
        <p:sp>
          <p:nvSpPr>
            <p:cNvPr id="6" name="TextBox 6"/>
            <p:cNvSpPr txBox="1"/>
            <p:nvPr/>
          </p:nvSpPr>
          <p:spPr>
            <a:xfrm>
              <a:off x="445770" y="1481138"/>
              <a:ext cx="941260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结构提取、候选构造、重复抽样和分组检查，第一次被连成完整流程。</a:t>
              </a:r>
            </a:p>
          </p:txBody>
        </p:sp>
      </p:grpSp>
      <p:grpSp>
        <p:nvGrpSpPr>
          <p:cNvPr id="38" name="Group 38"/>
          <p:cNvGrpSpPr/>
          <p:nvPr/>
        </p:nvGrpSpPr>
        <p:grpSpPr>
          <a:xfrm>
            <a:off x="435221" y="2457450"/>
            <a:ext cx="11211834" cy="1566101"/>
            <a:chOff x="435221" y="2457450"/>
            <a:chExt cx="11211834" cy="1566101"/>
          </a:xfrm>
        </p:grpSpPr>
        <p:sp>
          <p:nvSpPr>
            <p:cNvPr id="8" name="Line 8"/>
            <p:cNvSpPr/>
            <p:nvPr/>
          </p:nvSpPr>
          <p:spPr>
            <a:xfrm>
              <a:off x="933450" y="2667000"/>
              <a:ext cx="10325100" cy="9525"/>
            </a:xfrm>
            <a:custGeom>
              <a:avLst/>
              <a:gdLst/>
              <a:ahLst/>
              <a:cxnLst/>
              <a:rect l="l" t="t" r="r" b="b"/>
              <a:pathLst>
                <a:path w="10325100" h="9525">
                  <a:moveTo>
                    <a:pt x="0" y="0"/>
                  </a:moveTo>
                  <a:lnTo>
                    <a:pt x="10325100" y="0"/>
                  </a:lnTo>
                </a:path>
              </a:pathLst>
            </a:custGeom>
            <a:noFill/>
            <a:ln w="38100">
              <a:solidFill>
                <a:schemeClr val="accent5"/>
              </a:solidFill>
            </a:ln>
          </p:spPr>
        </p:sp>
        <p:sp>
          <p:nvSpPr>
            <p:cNvPr id="9" name="Ellipse 9"/>
            <p:cNvSpPr/>
            <p:nvPr/>
          </p:nvSpPr>
          <p:spPr>
            <a:xfrm>
              <a:off x="723900" y="2457450"/>
              <a:ext cx="419100" cy="419100"/>
            </a:xfrm>
            <a:prstGeom prst="ellipse">
              <a:avLst/>
            </a:prstGeom>
            <a:solidFill>
              <a:schemeClr val="accent1"/>
            </a:solidFill>
            <a:ln>
              <a:noFill/>
            </a:ln>
          </p:spPr>
        </p:sp>
        <p:sp>
          <p:nvSpPr>
            <p:cNvPr id="10" name="Ellipse 10"/>
            <p:cNvSpPr/>
            <p:nvPr/>
          </p:nvSpPr>
          <p:spPr>
            <a:xfrm>
              <a:off x="2438400" y="2457450"/>
              <a:ext cx="419100" cy="419100"/>
            </a:xfrm>
            <a:prstGeom prst="ellipse">
              <a:avLst/>
            </a:prstGeom>
            <a:solidFill>
              <a:schemeClr val="accent1"/>
            </a:solidFill>
            <a:ln>
              <a:noFill/>
            </a:ln>
          </p:spPr>
        </p:sp>
        <p:sp>
          <p:nvSpPr>
            <p:cNvPr id="11" name="Ellipse 11"/>
            <p:cNvSpPr/>
            <p:nvPr/>
          </p:nvSpPr>
          <p:spPr>
            <a:xfrm>
              <a:off x="4152900" y="2457450"/>
              <a:ext cx="419100" cy="419100"/>
            </a:xfrm>
            <a:prstGeom prst="ellipse">
              <a:avLst/>
            </a:prstGeom>
            <a:solidFill>
              <a:schemeClr val="accent1"/>
            </a:solidFill>
            <a:ln>
              <a:noFill/>
            </a:ln>
          </p:spPr>
        </p:sp>
        <p:sp>
          <p:nvSpPr>
            <p:cNvPr id="12" name="Ellipse 12"/>
            <p:cNvSpPr/>
            <p:nvPr/>
          </p:nvSpPr>
          <p:spPr>
            <a:xfrm>
              <a:off x="5867400" y="2457450"/>
              <a:ext cx="419100" cy="419100"/>
            </a:xfrm>
            <a:prstGeom prst="ellipse">
              <a:avLst/>
            </a:prstGeom>
            <a:solidFill>
              <a:schemeClr val="accent1"/>
            </a:solidFill>
            <a:ln>
              <a:noFill/>
            </a:ln>
          </p:spPr>
        </p:sp>
        <p:sp>
          <p:nvSpPr>
            <p:cNvPr id="13" name="Ellipse 13"/>
            <p:cNvSpPr/>
            <p:nvPr/>
          </p:nvSpPr>
          <p:spPr>
            <a:xfrm>
              <a:off x="7581900" y="2457450"/>
              <a:ext cx="419100" cy="419100"/>
            </a:xfrm>
            <a:prstGeom prst="ellipse">
              <a:avLst/>
            </a:prstGeom>
            <a:solidFill>
              <a:schemeClr val="accent1"/>
            </a:solidFill>
            <a:ln>
              <a:noFill/>
            </a:ln>
          </p:spPr>
        </p:sp>
        <p:sp>
          <p:nvSpPr>
            <p:cNvPr id="14" name="Ellipse 14"/>
            <p:cNvSpPr/>
            <p:nvPr/>
          </p:nvSpPr>
          <p:spPr>
            <a:xfrm>
              <a:off x="9296400" y="2457450"/>
              <a:ext cx="419100" cy="419100"/>
            </a:xfrm>
            <a:prstGeom prst="ellipse">
              <a:avLst/>
            </a:prstGeom>
            <a:solidFill>
              <a:schemeClr val="accent1"/>
            </a:solidFill>
            <a:ln>
              <a:noFill/>
            </a:ln>
          </p:spPr>
        </p:sp>
        <p:sp>
          <p:nvSpPr>
            <p:cNvPr id="15" name="Ellipse 15"/>
            <p:cNvSpPr/>
            <p:nvPr/>
          </p:nvSpPr>
          <p:spPr>
            <a:xfrm>
              <a:off x="11049000" y="2457450"/>
              <a:ext cx="419100" cy="419100"/>
            </a:xfrm>
            <a:prstGeom prst="ellipse">
              <a:avLst/>
            </a:prstGeom>
            <a:solidFill>
              <a:schemeClr val="accent3"/>
            </a:solidFill>
            <a:ln>
              <a:noFill/>
            </a:ln>
          </p:spPr>
        </p:sp>
        <p:sp>
          <p:nvSpPr>
            <p:cNvPr id="16" name="TextBox 16"/>
            <p:cNvSpPr txBox="1"/>
            <p:nvPr/>
          </p:nvSpPr>
          <p:spPr>
            <a:xfrm>
              <a:off x="874115" y="25974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7" name="TextBox 17"/>
            <p:cNvSpPr txBox="1"/>
            <p:nvPr/>
          </p:nvSpPr>
          <p:spPr>
            <a:xfrm>
              <a:off x="2588615" y="25974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8" name="TextBox 18"/>
            <p:cNvSpPr txBox="1"/>
            <p:nvPr/>
          </p:nvSpPr>
          <p:spPr>
            <a:xfrm>
              <a:off x="4303115" y="25974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9" name="TextBox 19"/>
            <p:cNvSpPr txBox="1"/>
            <p:nvPr/>
          </p:nvSpPr>
          <p:spPr>
            <a:xfrm>
              <a:off x="6017615" y="25974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20" name="TextBox 20"/>
            <p:cNvSpPr txBox="1"/>
            <p:nvPr/>
          </p:nvSpPr>
          <p:spPr>
            <a:xfrm>
              <a:off x="7732115" y="25974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5</a:t>
              </a:r>
            </a:p>
          </p:txBody>
        </p:sp>
        <p:sp>
          <p:nvSpPr>
            <p:cNvPr id="21" name="TextBox 21"/>
            <p:cNvSpPr txBox="1"/>
            <p:nvPr/>
          </p:nvSpPr>
          <p:spPr>
            <a:xfrm>
              <a:off x="9446615" y="25974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6</a:t>
              </a:r>
            </a:p>
          </p:txBody>
        </p:sp>
        <p:sp>
          <p:nvSpPr>
            <p:cNvPr id="22" name="TextBox 22"/>
            <p:cNvSpPr txBox="1"/>
            <p:nvPr/>
          </p:nvSpPr>
          <p:spPr>
            <a:xfrm>
              <a:off x="11199215" y="25974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7</a:t>
              </a:r>
            </a:p>
          </p:txBody>
        </p:sp>
        <p:sp>
          <p:nvSpPr>
            <p:cNvPr id="23" name="TextBox 23"/>
            <p:cNvSpPr txBox="1"/>
            <p:nvPr/>
          </p:nvSpPr>
          <p:spPr>
            <a:xfrm>
              <a:off x="435221" y="3016568"/>
              <a:ext cx="996459" cy="264033"/>
            </a:xfrm>
            <a:prstGeom prst="rect">
              <a:avLst/>
            </a:prstGeom>
            <a:noFill/>
            <a:ln>
              <a:noFill/>
            </a:ln>
          </p:spPr>
          <p:txBody>
            <a:bodyPr wrap="none" lIns="0" tIns="0" rIns="0" bIns="0" anchor="t" anchorCtr="0">
              <a:spAutoFit/>
            </a:bodyPr>
            <a:lstStyle/>
            <a:p>
              <a:pPr algn="ctr"/>
              <a:r>
                <a:rPr lang="zh-CN" sz="1350" b="1" dirty="0">
                  <a:solidFill>
                    <a:schemeClr val="dk1"/>
                  </a:solidFill>
                  <a:latin typeface="+mn-lt"/>
                  <a:ea typeface="+mn-ea"/>
                  <a:cs typeface="+mn-cs"/>
                </a:rPr>
                <a:t>结构 + 电导</a:t>
              </a:r>
            </a:p>
          </p:txBody>
        </p:sp>
        <p:sp>
          <p:nvSpPr>
            <p:cNvPr id="24" name="TextBox 24"/>
            <p:cNvSpPr txBox="1"/>
            <p:nvPr/>
          </p:nvSpPr>
          <p:spPr>
            <a:xfrm>
              <a:off x="522227" y="3273742"/>
              <a:ext cx="822446" cy="264033"/>
            </a:xfrm>
            <a:prstGeom prst="rect">
              <a:avLst/>
            </a:prstGeom>
            <a:noFill/>
            <a:ln>
              <a:noFill/>
            </a:ln>
          </p:spPr>
          <p:txBody>
            <a:bodyPr wrap="none" lIns="0" tIns="0" rIns="0" bIns="0" anchor="t" anchorCtr="0">
              <a:spAutoFit/>
            </a:bodyPr>
            <a:lstStyle/>
            <a:p>
              <a:pPr algn="ctr"/>
              <a:r>
                <a:rPr lang="en-US" sz="1350" dirty="0">
                  <a:solidFill>
                    <a:schemeClr val="accent6"/>
                  </a:solidFill>
                  <a:latin typeface="+mn-lt"/>
                  <a:ea typeface="+mn-ea"/>
                  <a:cs typeface="+mn-cs"/>
                </a:rPr>
                <a:t>103 + 103</a:t>
              </a:r>
            </a:p>
          </p:txBody>
        </p:sp>
        <p:sp>
          <p:nvSpPr>
            <p:cNvPr id="25" name="TextBox 25"/>
            <p:cNvSpPr txBox="1"/>
            <p:nvPr/>
          </p:nvSpPr>
          <p:spPr>
            <a:xfrm>
              <a:off x="2164032" y="3016568"/>
              <a:ext cx="967835" cy="264033"/>
            </a:xfrm>
            <a:prstGeom prst="rect">
              <a:avLst/>
            </a:prstGeom>
            <a:noFill/>
            <a:ln>
              <a:noFill/>
            </a:ln>
          </p:spPr>
          <p:txBody>
            <a:bodyPr wrap="none" lIns="0" tIns="0" rIns="0" bIns="0" anchor="t" anchorCtr="0">
              <a:spAutoFit/>
            </a:bodyPr>
            <a:lstStyle/>
            <a:p>
              <a:pPr algn="ctr"/>
              <a:r>
                <a:rPr lang="zh-CN" sz="1350" b="1" dirty="0">
                  <a:solidFill>
                    <a:schemeClr val="dk1"/>
                  </a:solidFill>
                  <a:latin typeface="+mn-lt"/>
                  <a:ea typeface="+mn-ea"/>
                  <a:cs typeface="+mn-cs"/>
                </a:rPr>
                <a:t>提取结构量</a:t>
              </a:r>
            </a:p>
          </p:txBody>
        </p:sp>
        <p:sp>
          <p:nvSpPr>
            <p:cNvPr id="26" name="TextBox 26"/>
            <p:cNvSpPr txBox="1"/>
            <p:nvPr/>
          </p:nvSpPr>
          <p:spPr>
            <a:xfrm>
              <a:off x="2071106" y="3273742"/>
              <a:ext cx="1153687"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局域｜Na网络</a:t>
              </a:r>
            </a:p>
          </p:txBody>
        </p:sp>
        <p:sp>
          <p:nvSpPr>
            <p:cNvPr id="27" name="TextBox 27"/>
            <p:cNvSpPr txBox="1"/>
            <p:nvPr/>
          </p:nvSpPr>
          <p:spPr>
            <a:xfrm>
              <a:off x="3973944" y="3016568"/>
              <a:ext cx="777011" cy="264033"/>
            </a:xfrm>
            <a:prstGeom prst="rect">
              <a:avLst/>
            </a:prstGeom>
            <a:noFill/>
            <a:ln>
              <a:noFill/>
            </a:ln>
          </p:spPr>
          <p:txBody>
            <a:bodyPr wrap="none" lIns="0" tIns="0" rIns="0" bIns="0" anchor="t" anchorCtr="0">
              <a:spAutoFit/>
            </a:bodyPr>
            <a:lstStyle/>
            <a:p>
              <a:pPr algn="ctr"/>
              <a:r>
                <a:rPr lang="zh-CN" sz="1350" b="1" dirty="0">
                  <a:solidFill>
                    <a:schemeClr val="dk1"/>
                  </a:solidFill>
                  <a:latin typeface="+mn-lt"/>
                  <a:ea typeface="+mn-ea"/>
                  <a:cs typeface="+mn-cs"/>
                </a:rPr>
                <a:t>候选初筛</a:t>
              </a:r>
            </a:p>
          </p:txBody>
        </p:sp>
        <p:sp>
          <p:nvSpPr>
            <p:cNvPr id="28" name="TextBox 28"/>
            <p:cNvSpPr txBox="1"/>
            <p:nvPr/>
          </p:nvSpPr>
          <p:spPr>
            <a:xfrm>
              <a:off x="4073900" y="3273742"/>
              <a:ext cx="577101"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35个量</a:t>
              </a:r>
            </a:p>
          </p:txBody>
        </p:sp>
        <p:sp>
          <p:nvSpPr>
            <p:cNvPr id="29" name="TextBox 29"/>
            <p:cNvSpPr txBox="1"/>
            <p:nvPr/>
          </p:nvSpPr>
          <p:spPr>
            <a:xfrm>
              <a:off x="5593032" y="3016568"/>
              <a:ext cx="967835" cy="264033"/>
            </a:xfrm>
            <a:prstGeom prst="rect">
              <a:avLst/>
            </a:prstGeom>
            <a:noFill/>
            <a:ln>
              <a:noFill/>
            </a:ln>
          </p:spPr>
          <p:txBody>
            <a:bodyPr wrap="none" lIns="0" tIns="0" rIns="0" bIns="0" anchor="t" anchorCtr="0">
              <a:spAutoFit/>
            </a:bodyPr>
            <a:lstStyle/>
            <a:p>
              <a:pPr algn="ctr"/>
              <a:r>
                <a:rPr lang="zh-CN" sz="1350" b="1" dirty="0">
                  <a:solidFill>
                    <a:schemeClr val="dk1"/>
                  </a:solidFill>
                  <a:latin typeface="+mn-lt"/>
                  <a:ea typeface="+mn-ea"/>
                  <a:cs typeface="+mn-cs"/>
                </a:rPr>
                <a:t>排序一致性</a:t>
              </a:r>
            </a:p>
          </p:txBody>
        </p:sp>
        <p:sp>
          <p:nvSpPr>
            <p:cNvPr id="30" name="TextBox 30"/>
            <p:cNvSpPr txBox="1"/>
            <p:nvPr/>
          </p:nvSpPr>
          <p:spPr>
            <a:xfrm>
              <a:off x="5706618" y="3273742"/>
              <a:ext cx="740664"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初步相关</a:t>
              </a:r>
            </a:p>
          </p:txBody>
        </p:sp>
        <p:sp>
          <p:nvSpPr>
            <p:cNvPr id="31" name="TextBox 31"/>
            <p:cNvSpPr txBox="1"/>
            <p:nvPr/>
          </p:nvSpPr>
          <p:spPr>
            <a:xfrm>
              <a:off x="7402944" y="3016568"/>
              <a:ext cx="777011" cy="264033"/>
            </a:xfrm>
            <a:prstGeom prst="rect">
              <a:avLst/>
            </a:prstGeom>
            <a:noFill/>
            <a:ln>
              <a:noFill/>
            </a:ln>
          </p:spPr>
          <p:txBody>
            <a:bodyPr wrap="none" lIns="0" tIns="0" rIns="0" bIns="0" anchor="t" anchorCtr="0">
              <a:spAutoFit/>
            </a:bodyPr>
            <a:lstStyle/>
            <a:p>
              <a:pPr algn="ctr"/>
              <a:r>
                <a:rPr lang="zh-CN" sz="1350" b="1" dirty="0">
                  <a:solidFill>
                    <a:schemeClr val="dk1"/>
                  </a:solidFill>
                  <a:latin typeface="+mn-lt"/>
                  <a:ea typeface="+mn-ea"/>
                  <a:cs typeface="+mn-cs"/>
                </a:rPr>
                <a:t>手写组合</a:t>
              </a:r>
            </a:p>
          </p:txBody>
        </p:sp>
        <p:sp>
          <p:nvSpPr>
            <p:cNvPr id="32" name="TextBox 32"/>
            <p:cNvSpPr txBox="1"/>
            <p:nvPr/>
          </p:nvSpPr>
          <p:spPr>
            <a:xfrm>
              <a:off x="7312076" y="3273742"/>
              <a:ext cx="958748"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两批各3544</a:t>
              </a:r>
            </a:p>
          </p:txBody>
        </p:sp>
        <p:sp>
          <p:nvSpPr>
            <p:cNvPr id="33" name="TextBox 33"/>
            <p:cNvSpPr txBox="1"/>
            <p:nvPr/>
          </p:nvSpPr>
          <p:spPr>
            <a:xfrm>
              <a:off x="9117444" y="3016568"/>
              <a:ext cx="777011" cy="264033"/>
            </a:xfrm>
            <a:prstGeom prst="rect">
              <a:avLst/>
            </a:prstGeom>
            <a:noFill/>
            <a:ln>
              <a:noFill/>
            </a:ln>
          </p:spPr>
          <p:txBody>
            <a:bodyPr wrap="none" lIns="0" tIns="0" rIns="0" bIns="0" anchor="t" anchorCtr="0">
              <a:spAutoFit/>
            </a:bodyPr>
            <a:lstStyle/>
            <a:p>
              <a:pPr algn="ctr"/>
              <a:r>
                <a:rPr lang="zh-CN" sz="1350" b="1" dirty="0">
                  <a:solidFill>
                    <a:schemeClr val="dk1"/>
                  </a:solidFill>
                  <a:latin typeface="+mn-lt"/>
                  <a:ea typeface="+mn-ea"/>
                  <a:cs typeface="+mn-cs"/>
                </a:rPr>
                <a:t>重复抽样</a:t>
              </a:r>
            </a:p>
          </p:txBody>
        </p:sp>
        <p:sp>
          <p:nvSpPr>
            <p:cNvPr id="34" name="TextBox 34"/>
            <p:cNvSpPr txBox="1"/>
            <p:nvPr/>
          </p:nvSpPr>
          <p:spPr>
            <a:xfrm>
              <a:off x="8985685" y="3273742"/>
              <a:ext cx="1040530"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200次看排名</a:t>
              </a:r>
            </a:p>
          </p:txBody>
        </p:sp>
        <p:sp>
          <p:nvSpPr>
            <p:cNvPr id="35" name="TextBox 35"/>
            <p:cNvSpPr txBox="1"/>
            <p:nvPr/>
          </p:nvSpPr>
          <p:spPr>
            <a:xfrm>
              <a:off x="10870044" y="3016568"/>
              <a:ext cx="777011" cy="264033"/>
            </a:xfrm>
            <a:prstGeom prst="rect">
              <a:avLst/>
            </a:prstGeom>
            <a:noFill/>
            <a:ln>
              <a:noFill/>
            </a:ln>
          </p:spPr>
          <p:txBody>
            <a:bodyPr wrap="none" lIns="0" tIns="0" rIns="0" bIns="0" anchor="t" anchorCtr="0">
              <a:spAutoFit/>
            </a:bodyPr>
            <a:lstStyle/>
            <a:p>
              <a:pPr algn="ctr"/>
              <a:r>
                <a:rPr lang="zh-CN" sz="1350" b="1" dirty="0">
                  <a:solidFill>
                    <a:schemeClr val="accent3"/>
                  </a:solidFill>
                  <a:latin typeface="+mn-lt"/>
                  <a:ea typeface="+mn-ea"/>
                  <a:cs typeface="+mn-cs"/>
                </a:rPr>
                <a:t>分组留出</a:t>
              </a:r>
            </a:p>
          </p:txBody>
        </p:sp>
        <p:sp>
          <p:nvSpPr>
            <p:cNvPr id="36" name="TextBox 36"/>
            <p:cNvSpPr txBox="1"/>
            <p:nvPr/>
          </p:nvSpPr>
          <p:spPr>
            <a:xfrm>
              <a:off x="10888218" y="3273742"/>
              <a:ext cx="740664"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少量候选</a:t>
              </a:r>
            </a:p>
          </p:txBody>
        </p:sp>
        <p:sp>
          <p:nvSpPr>
            <p:cNvPr id="37" name="TextBox 37"/>
            <p:cNvSpPr txBox="1"/>
            <p:nvPr/>
          </p:nvSpPr>
          <p:spPr>
            <a:xfrm>
              <a:off x="450342" y="3759518"/>
              <a:ext cx="787595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SoftBV / Zeo++为第一代历史列；本页只说明当时的探索流程，不代表第二代已集成这些后端。</a:t>
              </a:r>
            </a:p>
          </p:txBody>
        </p:sp>
      </p:grpSp>
      <p:grpSp>
        <p:nvGrpSpPr>
          <p:cNvPr id="48" name="Group 48"/>
          <p:cNvGrpSpPr/>
          <p:nvPr/>
        </p:nvGrpSpPr>
        <p:grpSpPr>
          <a:xfrm>
            <a:off x="457200" y="4381500"/>
            <a:ext cx="11277600" cy="1352550"/>
            <a:chOff x="457200" y="4381500"/>
            <a:chExt cx="11277600" cy="1352550"/>
          </a:xfrm>
        </p:grpSpPr>
        <p:sp>
          <p:nvSpPr>
            <p:cNvPr id="39" name="Rectangle 39"/>
            <p:cNvSpPr/>
            <p:nvPr/>
          </p:nvSpPr>
          <p:spPr>
            <a:xfrm>
              <a:off x="457200" y="4381500"/>
              <a:ext cx="11277600" cy="1352550"/>
            </a:xfrm>
            <a:prstGeom prst="rect">
              <a:avLst/>
            </a:prstGeom>
            <a:solidFill>
              <a:schemeClr val="lt2"/>
            </a:solidFill>
            <a:ln>
              <a:noFill/>
            </a:ln>
          </p:spPr>
        </p:sp>
        <p:sp>
          <p:nvSpPr>
            <p:cNvPr id="40" name="Line 40"/>
            <p:cNvSpPr/>
            <p:nvPr/>
          </p:nvSpPr>
          <p:spPr>
            <a:xfrm>
              <a:off x="4171950" y="4629150"/>
              <a:ext cx="9525" cy="838200"/>
            </a:xfrm>
            <a:custGeom>
              <a:avLst/>
              <a:gdLst/>
              <a:ahLst/>
              <a:cxnLst/>
              <a:rect l="l" t="t" r="r" b="b"/>
              <a:pathLst>
                <a:path w="9525" h="838200">
                  <a:moveTo>
                    <a:pt x="0" y="0"/>
                  </a:moveTo>
                  <a:lnTo>
                    <a:pt x="0" y="838200"/>
                  </a:lnTo>
                </a:path>
              </a:pathLst>
            </a:custGeom>
            <a:noFill/>
            <a:ln w="9525">
              <a:solidFill>
                <a:schemeClr val="accent5"/>
              </a:solidFill>
            </a:ln>
          </p:spPr>
        </p:sp>
        <p:sp>
          <p:nvSpPr>
            <p:cNvPr id="41" name="Line 41"/>
            <p:cNvSpPr/>
            <p:nvPr/>
          </p:nvSpPr>
          <p:spPr>
            <a:xfrm>
              <a:off x="7962900" y="4629150"/>
              <a:ext cx="9525" cy="838200"/>
            </a:xfrm>
            <a:custGeom>
              <a:avLst/>
              <a:gdLst/>
              <a:ahLst/>
              <a:cxnLst/>
              <a:rect l="l" t="t" r="r" b="b"/>
              <a:pathLst>
                <a:path w="9525" h="838200">
                  <a:moveTo>
                    <a:pt x="0" y="0"/>
                  </a:moveTo>
                  <a:lnTo>
                    <a:pt x="0" y="838200"/>
                  </a:lnTo>
                </a:path>
              </a:pathLst>
            </a:custGeom>
            <a:noFill/>
            <a:ln w="9525">
              <a:solidFill>
                <a:schemeClr val="accent5"/>
              </a:solidFill>
            </a:ln>
          </p:spPr>
        </p:sp>
        <p:sp>
          <p:nvSpPr>
            <p:cNvPr id="42" name="TextBox 42"/>
            <p:cNvSpPr txBox="1"/>
            <p:nvPr/>
          </p:nvSpPr>
          <p:spPr>
            <a:xfrm>
              <a:off x="762000" y="4511992"/>
              <a:ext cx="999180" cy="1133475"/>
            </a:xfrm>
            <a:prstGeom prst="rect">
              <a:avLst/>
            </a:prstGeom>
            <a:noFill/>
            <a:ln>
              <a:noFill/>
            </a:ln>
          </p:spPr>
          <p:txBody>
            <a:bodyPr wrap="none" lIns="0" tIns="0" rIns="0" bIns="0" anchor="t" anchorCtr="0">
              <a:spAutoFit/>
            </a:bodyPr>
            <a:lstStyle/>
            <a:p>
              <a:pPr algn="l"/>
              <a:r>
                <a:rPr lang="en-US" sz="5850" b="1" dirty="0">
                  <a:solidFill>
                    <a:schemeClr val="accent1"/>
                  </a:solidFill>
                  <a:latin typeface="+mj-lt"/>
                  <a:ea typeface="+mj-ea"/>
                  <a:cs typeface="+mj-cs"/>
                </a:rPr>
                <a:t>35</a:t>
              </a:r>
            </a:p>
          </p:txBody>
        </p:sp>
        <p:sp>
          <p:nvSpPr>
            <p:cNvPr id="43" name="TextBox 43"/>
            <p:cNvSpPr txBox="1"/>
            <p:nvPr/>
          </p:nvSpPr>
          <p:spPr>
            <a:xfrm>
              <a:off x="774192" y="5321618"/>
              <a:ext cx="219456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候选量进入第一次横向比较</a:t>
              </a:r>
            </a:p>
          </p:txBody>
        </p:sp>
        <p:sp>
          <p:nvSpPr>
            <p:cNvPr id="44" name="TextBox 44"/>
            <p:cNvSpPr txBox="1"/>
            <p:nvPr/>
          </p:nvSpPr>
          <p:spPr>
            <a:xfrm>
              <a:off x="4476750" y="4511992"/>
              <a:ext cx="2921340" cy="1133475"/>
            </a:xfrm>
            <a:prstGeom prst="rect">
              <a:avLst/>
            </a:prstGeom>
            <a:noFill/>
            <a:ln>
              <a:noFill/>
            </a:ln>
          </p:spPr>
          <p:txBody>
            <a:bodyPr wrap="none" lIns="0" tIns="0" rIns="0" bIns="0" anchor="t" anchorCtr="0">
              <a:spAutoFit/>
            </a:bodyPr>
            <a:lstStyle/>
            <a:p>
              <a:pPr algn="l"/>
              <a:r>
                <a:rPr lang="en-US" sz="5850" b="1" dirty="0">
                  <a:solidFill>
                    <a:schemeClr val="accent1"/>
                  </a:solidFill>
                  <a:latin typeface="+mj-lt"/>
                  <a:ea typeface="+mj-ea"/>
                  <a:cs typeface="+mj-cs"/>
                </a:rPr>
                <a:t>2×3544</a:t>
              </a:r>
            </a:p>
          </p:txBody>
        </p:sp>
        <p:sp>
          <p:nvSpPr>
            <p:cNvPr id="45" name="TextBox 45"/>
            <p:cNvSpPr txBox="1"/>
            <p:nvPr/>
          </p:nvSpPr>
          <p:spPr>
            <a:xfrm>
              <a:off x="4488942" y="5321618"/>
              <a:ext cx="146761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两批手写符号组合</a:t>
              </a:r>
            </a:p>
          </p:txBody>
        </p:sp>
        <p:sp>
          <p:nvSpPr>
            <p:cNvPr id="46" name="TextBox 46"/>
            <p:cNvSpPr txBox="1"/>
            <p:nvPr/>
          </p:nvSpPr>
          <p:spPr>
            <a:xfrm>
              <a:off x="8267700" y="4511992"/>
              <a:ext cx="1479720" cy="1133475"/>
            </a:xfrm>
            <a:prstGeom prst="rect">
              <a:avLst/>
            </a:prstGeom>
            <a:noFill/>
            <a:ln>
              <a:noFill/>
            </a:ln>
          </p:spPr>
          <p:txBody>
            <a:bodyPr wrap="none" lIns="0" tIns="0" rIns="0" bIns="0" anchor="t" anchorCtr="0">
              <a:spAutoFit/>
            </a:bodyPr>
            <a:lstStyle/>
            <a:p>
              <a:pPr algn="l"/>
              <a:r>
                <a:rPr lang="en-US" sz="5850" b="1" dirty="0">
                  <a:solidFill>
                    <a:schemeClr val="accent3"/>
                  </a:solidFill>
                  <a:latin typeface="+mj-lt"/>
                  <a:ea typeface="+mj-ea"/>
                  <a:cs typeface="+mj-cs"/>
                </a:rPr>
                <a:t>200</a:t>
              </a:r>
            </a:p>
          </p:txBody>
        </p:sp>
        <p:sp>
          <p:nvSpPr>
            <p:cNvPr id="47" name="TextBox 47"/>
            <p:cNvSpPr txBox="1"/>
            <p:nvPr/>
          </p:nvSpPr>
          <p:spPr>
            <a:xfrm>
              <a:off x="8279892" y="5321618"/>
              <a:ext cx="237629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次重复抽样，不只看一次排序</a:t>
              </a:r>
            </a:p>
          </p:txBody>
        </p:sp>
      </p:grpSp>
      <p:grpSp>
        <p:nvGrpSpPr>
          <p:cNvPr id="51" name="Group 51"/>
          <p:cNvGrpSpPr/>
          <p:nvPr/>
        </p:nvGrpSpPr>
        <p:grpSpPr>
          <a:xfrm>
            <a:off x="451104" y="6356985"/>
            <a:ext cx="11289030" cy="234696"/>
            <a:chOff x="451104" y="6356985"/>
            <a:chExt cx="11289030" cy="234696"/>
          </a:xfrm>
        </p:grpSpPr>
        <p:sp>
          <p:nvSpPr>
            <p:cNvPr id="49" name="TextBox 49"/>
            <p:cNvSpPr txBox="1"/>
            <p:nvPr/>
          </p:nvSpPr>
          <p:spPr>
            <a:xfrm>
              <a:off x="451104" y="6356985"/>
              <a:ext cx="324307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第一代贡献：建立可运行、可复盘的筛选基线</a:t>
              </a:r>
            </a:p>
          </p:txBody>
        </p:sp>
        <p:sp>
          <p:nvSpPr>
            <p:cNvPr id="50" name="TextBox 50"/>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03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68618"/>
            <a:ext cx="11293602" cy="974217"/>
            <a:chOff x="441198" y="368618"/>
            <a:chExt cx="11293602" cy="974217"/>
          </a:xfrm>
        </p:grpSpPr>
        <p:sp>
          <p:nvSpPr>
            <p:cNvPr id="2" name="TextBox 2"/>
            <p:cNvSpPr txBox="1"/>
            <p:nvPr/>
          </p:nvSpPr>
          <p:spPr>
            <a:xfrm>
              <a:off x="450342" y="368618"/>
              <a:ext cx="136856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04｜第一次转折</a:t>
              </a:r>
            </a:p>
          </p:txBody>
        </p:sp>
        <p:sp>
          <p:nvSpPr>
            <p:cNvPr id="3" name="TextBox 3"/>
            <p:cNvSpPr txBox="1"/>
            <p:nvPr/>
          </p:nvSpPr>
          <p:spPr>
            <a:xfrm>
              <a:off x="441198" y="726758"/>
              <a:ext cx="614796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但旧候选不能原样带进第二代</a:t>
              </a:r>
            </a:p>
          </p:txBody>
        </p:sp>
        <p:sp>
          <p:nvSpPr>
            <p:cNvPr id="4" name="Line 4"/>
            <p:cNvSpPr/>
            <p:nvPr/>
          </p:nvSpPr>
          <p:spPr>
            <a:xfrm>
              <a:off x="457200" y="12763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13" name="Group 13"/>
          <p:cNvGrpSpPr/>
          <p:nvPr/>
        </p:nvGrpSpPr>
        <p:grpSpPr>
          <a:xfrm>
            <a:off x="445008" y="1740218"/>
            <a:ext cx="2145792" cy="3369183"/>
            <a:chOff x="445008" y="1740218"/>
            <a:chExt cx="2145792" cy="3369183"/>
          </a:xfrm>
        </p:grpSpPr>
        <p:sp>
          <p:nvSpPr>
            <p:cNvPr id="6" name="TextBox 6"/>
            <p:cNvSpPr txBox="1"/>
            <p:nvPr/>
          </p:nvSpPr>
          <p:spPr>
            <a:xfrm>
              <a:off x="450342" y="1740218"/>
              <a:ext cx="1921955"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第一代留下的研究方向</a:t>
              </a:r>
            </a:p>
          </p:txBody>
        </p:sp>
        <p:sp>
          <p:nvSpPr>
            <p:cNvPr id="7" name="Line 7"/>
            <p:cNvSpPr/>
            <p:nvPr/>
          </p:nvSpPr>
          <p:spPr>
            <a:xfrm>
              <a:off x="457200" y="2076450"/>
              <a:ext cx="2133600" cy="9525"/>
            </a:xfrm>
            <a:custGeom>
              <a:avLst/>
              <a:gdLst/>
              <a:ahLst/>
              <a:cxnLst/>
              <a:rect l="l" t="t" r="r" b="b"/>
              <a:pathLst>
                <a:path w="2133600" h="9525">
                  <a:moveTo>
                    <a:pt x="0" y="0"/>
                  </a:moveTo>
                  <a:lnTo>
                    <a:pt x="2133600" y="0"/>
                  </a:lnTo>
                </a:path>
              </a:pathLst>
            </a:custGeom>
            <a:noFill/>
            <a:ln w="28575">
              <a:solidFill>
                <a:schemeClr val="accent1"/>
              </a:solidFill>
            </a:ln>
          </p:spPr>
        </p:sp>
        <p:sp>
          <p:nvSpPr>
            <p:cNvPr id="8" name="TextBox 8"/>
            <p:cNvSpPr txBox="1"/>
            <p:nvPr/>
          </p:nvSpPr>
          <p:spPr>
            <a:xfrm>
              <a:off x="445008" y="2388870"/>
              <a:ext cx="1458163"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局域宽松</a:t>
              </a:r>
            </a:p>
          </p:txBody>
        </p:sp>
        <p:sp>
          <p:nvSpPr>
            <p:cNvPr id="9" name="TextBox 9"/>
            <p:cNvSpPr txBox="1"/>
            <p:nvPr/>
          </p:nvSpPr>
          <p:spPr>
            <a:xfrm>
              <a:off x="445008" y="3093720"/>
              <a:ext cx="1458163"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配位畸变</a:t>
              </a:r>
            </a:p>
          </p:txBody>
        </p:sp>
        <p:sp>
          <p:nvSpPr>
            <p:cNvPr id="10" name="TextBox 10"/>
            <p:cNvSpPr txBox="1"/>
            <p:nvPr/>
          </p:nvSpPr>
          <p:spPr>
            <a:xfrm>
              <a:off x="445008" y="3798570"/>
              <a:ext cx="1373673"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Na 网络</a:t>
              </a:r>
            </a:p>
          </p:txBody>
        </p:sp>
        <p:sp>
          <p:nvSpPr>
            <p:cNvPr id="11" name="TextBox 11"/>
            <p:cNvSpPr txBox="1"/>
            <p:nvPr/>
          </p:nvSpPr>
          <p:spPr>
            <a:xfrm>
              <a:off x="450342" y="4578668"/>
              <a:ext cx="201282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这些方向值得继续研究，</a:t>
              </a:r>
            </a:p>
          </p:txBody>
        </p:sp>
        <p:sp>
          <p:nvSpPr>
            <p:cNvPr id="12" name="TextBox 12"/>
            <p:cNvSpPr txBox="1"/>
            <p:nvPr/>
          </p:nvSpPr>
          <p:spPr>
            <a:xfrm>
              <a:off x="450342" y="4845368"/>
              <a:ext cx="201282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但旧数字不能直接迁移。</a:t>
              </a:r>
            </a:p>
          </p:txBody>
        </p:sp>
      </p:grpSp>
      <p:grpSp>
        <p:nvGrpSpPr>
          <p:cNvPr id="17" name="Group 17"/>
          <p:cNvGrpSpPr/>
          <p:nvPr/>
        </p:nvGrpSpPr>
        <p:grpSpPr>
          <a:xfrm>
            <a:off x="2792035" y="2362200"/>
            <a:ext cx="1731131" cy="1661351"/>
            <a:chOff x="2792035" y="2362200"/>
            <a:chExt cx="1731131" cy="1661351"/>
          </a:xfrm>
        </p:grpSpPr>
        <p:sp>
          <p:nvSpPr>
            <p:cNvPr id="14" name="Line 14"/>
            <p:cNvSpPr/>
            <p:nvPr/>
          </p:nvSpPr>
          <p:spPr>
            <a:xfrm>
              <a:off x="3238500" y="2362200"/>
              <a:ext cx="857250" cy="1619250"/>
            </a:xfrm>
            <a:custGeom>
              <a:avLst/>
              <a:gdLst/>
              <a:ahLst/>
              <a:cxnLst/>
              <a:rect l="l" t="t" r="r" b="b"/>
              <a:pathLst>
                <a:path w="857250" h="1619250">
                  <a:moveTo>
                    <a:pt x="0" y="0"/>
                  </a:moveTo>
                  <a:lnTo>
                    <a:pt x="857250" y="1619250"/>
                  </a:lnTo>
                </a:path>
              </a:pathLst>
            </a:custGeom>
            <a:noFill/>
            <a:ln w="19050">
              <a:solidFill>
                <a:schemeClr val="accent5"/>
              </a:solidFill>
            </a:ln>
          </p:spPr>
        </p:sp>
        <p:sp>
          <p:nvSpPr>
            <p:cNvPr id="15" name="TextBox 15"/>
            <p:cNvSpPr txBox="1"/>
            <p:nvPr/>
          </p:nvSpPr>
          <p:spPr>
            <a:xfrm>
              <a:off x="3398280" y="2759392"/>
              <a:ext cx="518640" cy="1133475"/>
            </a:xfrm>
            <a:prstGeom prst="rect">
              <a:avLst/>
            </a:prstGeom>
            <a:noFill/>
            <a:ln>
              <a:noFill/>
            </a:ln>
          </p:spPr>
          <p:txBody>
            <a:bodyPr wrap="none" lIns="0" tIns="0" rIns="0" bIns="0" anchor="t" anchorCtr="0">
              <a:spAutoFit/>
            </a:bodyPr>
            <a:lstStyle/>
            <a:p>
              <a:pPr algn="ctr"/>
              <a:r>
                <a:rPr lang="en-US" sz="5850" b="1" dirty="0">
                  <a:solidFill>
                    <a:schemeClr val="accent2"/>
                  </a:solidFill>
                  <a:latin typeface="+mj-lt"/>
                  <a:ea typeface="+mj-ea"/>
                  <a:cs typeface="+mj-cs"/>
                </a:rPr>
                <a:t>≠</a:t>
              </a:r>
            </a:p>
          </p:txBody>
        </p:sp>
        <p:sp>
          <p:nvSpPr>
            <p:cNvPr id="16" name="TextBox 16"/>
            <p:cNvSpPr txBox="1"/>
            <p:nvPr/>
          </p:nvSpPr>
          <p:spPr>
            <a:xfrm>
              <a:off x="2792035" y="3759518"/>
              <a:ext cx="1731131" cy="264033"/>
            </a:xfrm>
            <a:prstGeom prst="rect">
              <a:avLst/>
            </a:prstGeom>
            <a:noFill/>
            <a:ln>
              <a:noFill/>
            </a:ln>
          </p:spPr>
          <p:txBody>
            <a:bodyPr wrap="none" lIns="0" tIns="0" rIns="0" bIns="0" anchor="t" anchorCtr="0">
              <a:spAutoFit/>
            </a:bodyPr>
            <a:lstStyle/>
            <a:p>
              <a:pPr algn="ctr"/>
              <a:r>
                <a:rPr lang="zh-CN" sz="1350" b="1" dirty="0">
                  <a:solidFill>
                    <a:schemeClr val="accent2"/>
                  </a:solidFill>
                  <a:latin typeface="+mn-lt"/>
                  <a:ea typeface="+mn-ea"/>
                  <a:cs typeface="+mn-cs"/>
                </a:rPr>
                <a:t>同名，不等于同一量</a:t>
              </a:r>
            </a:p>
          </p:txBody>
        </p:sp>
      </p:grpSp>
      <p:grpSp>
        <p:nvGrpSpPr>
          <p:cNvPr id="29" name="Group 29"/>
          <p:cNvGrpSpPr/>
          <p:nvPr/>
        </p:nvGrpSpPr>
        <p:grpSpPr>
          <a:xfrm>
            <a:off x="4578858" y="1664970"/>
            <a:ext cx="7155942" cy="1497330"/>
            <a:chOff x="4578858" y="1664970"/>
            <a:chExt cx="7155942" cy="1497330"/>
          </a:xfrm>
        </p:grpSpPr>
        <p:sp>
          <p:nvSpPr>
            <p:cNvPr id="18" name="TextBox 18"/>
            <p:cNvSpPr txBox="1"/>
            <p:nvPr/>
          </p:nvSpPr>
          <p:spPr>
            <a:xfrm>
              <a:off x="4578858" y="1664970"/>
              <a:ext cx="503164"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j-lt"/>
                  <a:ea typeface="+mj-ea"/>
                  <a:cs typeface="+mj-cs"/>
                </a:rPr>
                <a:t>A2</a:t>
              </a:r>
            </a:p>
          </p:txBody>
        </p:sp>
        <p:sp>
          <p:nvSpPr>
            <p:cNvPr id="19" name="TextBox 19"/>
            <p:cNvSpPr txBox="1"/>
            <p:nvPr/>
          </p:nvSpPr>
          <p:spPr>
            <a:xfrm>
              <a:off x="5289042" y="1778318"/>
              <a:ext cx="237629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公式、单位和聚合方式都改变</a:t>
              </a:r>
            </a:p>
          </p:txBody>
        </p:sp>
        <p:sp>
          <p:nvSpPr>
            <p:cNvPr id="20" name="Rectangle 20"/>
            <p:cNvSpPr/>
            <p:nvPr/>
          </p:nvSpPr>
          <p:spPr>
            <a:xfrm>
              <a:off x="4591050" y="2152650"/>
              <a:ext cx="2990850" cy="1009650"/>
            </a:xfrm>
            <a:prstGeom prst="rect">
              <a:avLst/>
            </a:prstGeom>
            <a:solidFill>
              <a:schemeClr val="lt2"/>
            </a:solidFill>
            <a:ln>
              <a:noFill/>
            </a:ln>
          </p:spPr>
        </p:sp>
        <p:sp>
          <p:nvSpPr>
            <p:cNvPr id="21" name="TextBox 21"/>
            <p:cNvSpPr txBox="1"/>
            <p:nvPr/>
          </p:nvSpPr>
          <p:spPr>
            <a:xfrm>
              <a:off x="4755642" y="2273618"/>
              <a:ext cx="173113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第一代｜无量纲比值</a:t>
              </a:r>
            </a:p>
          </p:txBody>
        </p:sp>
        <p:sp>
          <p:nvSpPr>
            <p:cNvPr id="22" name="TextBox 22"/>
            <p:cNvSpPr txBox="1"/>
            <p:nvPr/>
          </p:nvSpPr>
          <p:spPr>
            <a:xfrm>
              <a:off x="4755642" y="2578418"/>
              <a:ext cx="186194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全结构最大 Na–X 距离</a:t>
              </a:r>
            </a:p>
          </p:txBody>
        </p:sp>
        <p:sp>
          <p:nvSpPr>
            <p:cNvPr id="23" name="TextBox 23"/>
            <p:cNvSpPr txBox="1"/>
            <p:nvPr/>
          </p:nvSpPr>
          <p:spPr>
            <a:xfrm>
              <a:off x="4755642" y="284511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目标键长</a:t>
              </a:r>
            </a:p>
          </p:txBody>
        </p:sp>
        <p:sp>
          <p:nvSpPr>
            <p:cNvPr id="24" name="TextBox 24"/>
            <p:cNvSpPr txBox="1"/>
            <p:nvPr/>
          </p:nvSpPr>
          <p:spPr>
            <a:xfrm>
              <a:off x="7832598" y="2403158"/>
              <a:ext cx="290756"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j-lt"/>
                  <a:ea typeface="+mj-ea"/>
                  <a:cs typeface="+mj-cs"/>
                </a:rPr>
                <a:t>→</a:t>
              </a:r>
            </a:p>
          </p:txBody>
        </p:sp>
        <p:sp>
          <p:nvSpPr>
            <p:cNvPr id="25" name="Rectangle 25"/>
            <p:cNvSpPr/>
            <p:nvPr/>
          </p:nvSpPr>
          <p:spPr>
            <a:xfrm>
              <a:off x="8496300" y="2152650"/>
              <a:ext cx="3238500" cy="1009650"/>
            </a:xfrm>
            <a:prstGeom prst="rect">
              <a:avLst/>
            </a:prstGeom>
            <a:solidFill>
              <a:schemeClr val="lt1"/>
            </a:solidFill>
            <a:ln w="19050">
              <a:solidFill>
                <a:schemeClr val="accent3"/>
              </a:solidFill>
            </a:ln>
          </p:spPr>
        </p:sp>
        <p:sp>
          <p:nvSpPr>
            <p:cNvPr id="26" name="TextBox 26"/>
            <p:cNvSpPr txBox="1"/>
            <p:nvPr/>
          </p:nvSpPr>
          <p:spPr>
            <a:xfrm>
              <a:off x="8660892" y="2273618"/>
              <a:ext cx="1394849"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第二代｜单位 Å</a:t>
              </a:r>
            </a:p>
          </p:txBody>
        </p:sp>
        <p:sp>
          <p:nvSpPr>
            <p:cNvPr id="27" name="TextBox 27"/>
            <p:cNvSpPr txBox="1"/>
            <p:nvPr/>
          </p:nvSpPr>
          <p:spPr>
            <a:xfrm>
              <a:off x="8660892" y="2578418"/>
              <a:ext cx="220021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各 Na 位点最大距离的均值</a:t>
              </a:r>
            </a:p>
          </p:txBody>
        </p:sp>
        <p:sp>
          <p:nvSpPr>
            <p:cNvPr id="28" name="TextBox 28"/>
            <p:cNvSpPr txBox="1"/>
            <p:nvPr/>
          </p:nvSpPr>
          <p:spPr>
            <a:xfrm>
              <a:off x="8660892" y="2845118"/>
              <a:ext cx="146761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没有目标键长分母</a:t>
              </a:r>
            </a:p>
          </p:txBody>
        </p:sp>
      </p:grpSp>
      <p:grpSp>
        <p:nvGrpSpPr>
          <p:cNvPr id="41" name="Group 41"/>
          <p:cNvGrpSpPr/>
          <p:nvPr/>
        </p:nvGrpSpPr>
        <p:grpSpPr>
          <a:xfrm>
            <a:off x="4578858" y="3608070"/>
            <a:ext cx="7155942" cy="1516380"/>
            <a:chOff x="4578858" y="3608070"/>
            <a:chExt cx="7155942" cy="1516380"/>
          </a:xfrm>
        </p:grpSpPr>
        <p:sp>
          <p:nvSpPr>
            <p:cNvPr id="30" name="TextBox 30"/>
            <p:cNvSpPr txBox="1"/>
            <p:nvPr/>
          </p:nvSpPr>
          <p:spPr>
            <a:xfrm>
              <a:off x="4578858" y="3608070"/>
              <a:ext cx="897453"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j-lt"/>
                  <a:ea typeface="+mj-ea"/>
                  <a:cs typeface="+mj-cs"/>
                </a:rPr>
                <a:t>NaNa</a:t>
              </a:r>
            </a:p>
          </p:txBody>
        </p:sp>
        <p:sp>
          <p:nvSpPr>
            <p:cNvPr id="31" name="TextBox 31"/>
            <p:cNvSpPr txBox="1"/>
            <p:nvPr/>
          </p:nvSpPr>
          <p:spPr>
            <a:xfrm>
              <a:off x="5670042" y="3721418"/>
              <a:ext cx="146761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数据依赖方式改变</a:t>
              </a:r>
            </a:p>
          </p:txBody>
        </p:sp>
        <p:sp>
          <p:nvSpPr>
            <p:cNvPr id="32" name="Rectangle 32"/>
            <p:cNvSpPr/>
            <p:nvPr/>
          </p:nvSpPr>
          <p:spPr>
            <a:xfrm>
              <a:off x="4591050" y="4095750"/>
              <a:ext cx="2990850" cy="1028700"/>
            </a:xfrm>
            <a:prstGeom prst="rect">
              <a:avLst/>
            </a:prstGeom>
            <a:solidFill>
              <a:schemeClr val="lt2"/>
            </a:solidFill>
            <a:ln>
              <a:noFill/>
            </a:ln>
          </p:spPr>
        </p:sp>
        <p:sp>
          <p:nvSpPr>
            <p:cNvPr id="33" name="TextBox 33"/>
            <p:cNvSpPr txBox="1"/>
            <p:nvPr/>
          </p:nvSpPr>
          <p:spPr>
            <a:xfrm>
              <a:off x="4755642" y="4216718"/>
              <a:ext cx="154030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第一代｜整批样本</a:t>
              </a:r>
            </a:p>
          </p:txBody>
        </p:sp>
        <p:sp>
          <p:nvSpPr>
            <p:cNvPr id="34" name="TextBox 34"/>
            <p:cNvSpPr txBox="1"/>
            <p:nvPr/>
          </p:nvSpPr>
          <p:spPr>
            <a:xfrm>
              <a:off x="4755642" y="452151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两个网络量先做百分位秩</a:t>
              </a:r>
            </a:p>
          </p:txBody>
        </p:sp>
        <p:sp>
          <p:nvSpPr>
            <p:cNvPr id="35" name="TextBox 35"/>
            <p:cNvSpPr txBox="1"/>
            <p:nvPr/>
          </p:nvSpPr>
          <p:spPr>
            <a:xfrm>
              <a:off x="4755642" y="4788218"/>
              <a:ext cx="219456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同一结构会随同批材料改变</a:t>
              </a:r>
            </a:p>
          </p:txBody>
        </p:sp>
        <p:sp>
          <p:nvSpPr>
            <p:cNvPr id="36" name="TextBox 36"/>
            <p:cNvSpPr txBox="1"/>
            <p:nvPr/>
          </p:nvSpPr>
          <p:spPr>
            <a:xfrm>
              <a:off x="7832598" y="4346258"/>
              <a:ext cx="290756"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j-lt"/>
                  <a:ea typeface="+mj-ea"/>
                  <a:cs typeface="+mj-cs"/>
                </a:rPr>
                <a:t>→</a:t>
              </a:r>
            </a:p>
          </p:txBody>
        </p:sp>
        <p:sp>
          <p:nvSpPr>
            <p:cNvPr id="37" name="Rectangle 37"/>
            <p:cNvSpPr/>
            <p:nvPr/>
          </p:nvSpPr>
          <p:spPr>
            <a:xfrm>
              <a:off x="8496300" y="4095750"/>
              <a:ext cx="3238500" cy="1028700"/>
            </a:xfrm>
            <a:prstGeom prst="rect">
              <a:avLst/>
            </a:prstGeom>
            <a:solidFill>
              <a:schemeClr val="lt1"/>
            </a:solidFill>
            <a:ln w="19050">
              <a:solidFill>
                <a:schemeClr val="accent3"/>
              </a:solidFill>
            </a:ln>
          </p:spPr>
        </p:sp>
        <p:sp>
          <p:nvSpPr>
            <p:cNvPr id="38" name="TextBox 38"/>
            <p:cNvSpPr txBox="1"/>
            <p:nvPr/>
          </p:nvSpPr>
          <p:spPr>
            <a:xfrm>
              <a:off x="8660892" y="4216718"/>
              <a:ext cx="1731131"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第二代｜单结构近似</a:t>
              </a:r>
            </a:p>
          </p:txBody>
        </p:sp>
        <p:sp>
          <p:nvSpPr>
            <p:cNvPr id="39" name="TextBox 39"/>
            <p:cNvSpPr txBox="1"/>
            <p:nvPr/>
          </p:nvSpPr>
          <p:spPr>
            <a:xfrm>
              <a:off x="8660892" y="4521518"/>
              <a:ext cx="188560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连通占比 × 邻居 × 维度</a:t>
              </a:r>
            </a:p>
          </p:txBody>
        </p:sp>
        <p:sp>
          <p:nvSpPr>
            <p:cNvPr id="40" name="TextBox 40"/>
            <p:cNvSpPr txBox="1"/>
            <p:nvPr/>
          </p:nvSpPr>
          <p:spPr>
            <a:xfrm>
              <a:off x="8660892" y="4788218"/>
              <a:ext cx="219456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不是第一代公式的直接实现</a:t>
              </a:r>
            </a:p>
          </p:txBody>
        </p:sp>
      </p:grpSp>
      <p:grpSp>
        <p:nvGrpSpPr>
          <p:cNvPr id="44" name="Group 44"/>
          <p:cNvGrpSpPr/>
          <p:nvPr/>
        </p:nvGrpSpPr>
        <p:grpSpPr>
          <a:xfrm>
            <a:off x="4591050" y="5467350"/>
            <a:ext cx="7143750" cy="419100"/>
            <a:chOff x="4591050" y="5467350"/>
            <a:chExt cx="7143750" cy="419100"/>
          </a:xfrm>
        </p:grpSpPr>
        <p:sp>
          <p:nvSpPr>
            <p:cNvPr id="42" name="Rectangle 42"/>
            <p:cNvSpPr/>
            <p:nvPr/>
          </p:nvSpPr>
          <p:spPr>
            <a:xfrm>
              <a:off x="4591050" y="5467350"/>
              <a:ext cx="7143750" cy="419100"/>
            </a:xfrm>
            <a:prstGeom prst="rect">
              <a:avLst/>
            </a:prstGeom>
            <a:solidFill>
              <a:schemeClr val="accent1"/>
            </a:solidFill>
            <a:ln>
              <a:noFill/>
            </a:ln>
          </p:spPr>
        </p:sp>
        <p:sp>
          <p:nvSpPr>
            <p:cNvPr id="43" name="TextBox 43"/>
            <p:cNvSpPr txBox="1"/>
            <p:nvPr/>
          </p:nvSpPr>
          <p:spPr>
            <a:xfrm>
              <a:off x="4755642" y="5597842"/>
              <a:ext cx="5948338"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旧相关系数只能解释“为什么继续研究”，不能替第二代提前给出结论。</a:t>
              </a:r>
            </a:p>
          </p:txBody>
        </p:sp>
      </p:grpSp>
      <p:grpSp>
        <p:nvGrpSpPr>
          <p:cNvPr id="47" name="Group 47"/>
          <p:cNvGrpSpPr/>
          <p:nvPr/>
        </p:nvGrpSpPr>
        <p:grpSpPr>
          <a:xfrm>
            <a:off x="451104" y="6356985"/>
            <a:ext cx="11289030" cy="234696"/>
            <a:chOff x="451104" y="6356985"/>
            <a:chExt cx="11289030" cy="234696"/>
          </a:xfrm>
        </p:grpSpPr>
        <p:sp>
          <p:nvSpPr>
            <p:cNvPr id="45" name="TextBox 45"/>
            <p:cNvSpPr txBox="1"/>
            <p:nvPr/>
          </p:nvSpPr>
          <p:spPr>
            <a:xfrm>
              <a:off x="451104" y="6356985"/>
              <a:ext cx="338620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身份核对发现：A2 与 NaNa 都发生了定义漂移</a:t>
              </a:r>
            </a:p>
          </p:txBody>
        </p:sp>
        <p:sp>
          <p:nvSpPr>
            <p:cNvPr id="46" name="TextBox 46"/>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04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68618"/>
            <a:ext cx="11293602" cy="974217"/>
            <a:chOff x="441198" y="368618"/>
            <a:chExt cx="11293602" cy="974217"/>
          </a:xfrm>
        </p:grpSpPr>
        <p:sp>
          <p:nvSpPr>
            <p:cNvPr id="2" name="TextBox 2"/>
            <p:cNvSpPr txBox="1"/>
            <p:nvPr/>
          </p:nvSpPr>
          <p:spPr>
            <a:xfrm>
              <a:off x="450342" y="368618"/>
              <a:ext cx="117774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05｜现场追问</a:t>
              </a:r>
            </a:p>
          </p:txBody>
        </p:sp>
        <p:sp>
          <p:nvSpPr>
            <p:cNvPr id="3" name="TextBox 3"/>
            <p:cNvSpPr txBox="1"/>
            <p:nvPr/>
          </p:nvSpPr>
          <p:spPr>
            <a:xfrm>
              <a:off x="441198" y="726758"/>
              <a:ext cx="802980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两个现场问题，把同一个漏洞点了出来</a:t>
              </a:r>
            </a:p>
          </p:txBody>
        </p:sp>
        <p:sp>
          <p:nvSpPr>
            <p:cNvPr id="4" name="Line 4"/>
            <p:cNvSpPr/>
            <p:nvPr/>
          </p:nvSpPr>
          <p:spPr>
            <a:xfrm>
              <a:off x="457200" y="12763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12" name="Group 12"/>
          <p:cNvGrpSpPr/>
          <p:nvPr/>
        </p:nvGrpSpPr>
        <p:grpSpPr>
          <a:xfrm>
            <a:off x="438150" y="1749742"/>
            <a:ext cx="3867150" cy="2578609"/>
            <a:chOff x="438150" y="1749742"/>
            <a:chExt cx="3867150" cy="2578609"/>
          </a:xfrm>
        </p:grpSpPr>
        <p:sp>
          <p:nvSpPr>
            <p:cNvPr id="6" name="TextBox 6"/>
            <p:cNvSpPr txBox="1"/>
            <p:nvPr/>
          </p:nvSpPr>
          <p:spPr>
            <a:xfrm>
              <a:off x="438150" y="1749742"/>
              <a:ext cx="999180" cy="1133475"/>
            </a:xfrm>
            <a:prstGeom prst="rect">
              <a:avLst/>
            </a:prstGeom>
            <a:noFill/>
            <a:ln>
              <a:noFill/>
            </a:ln>
          </p:spPr>
          <p:txBody>
            <a:bodyPr wrap="none" lIns="0" tIns="0" rIns="0" bIns="0" anchor="t" anchorCtr="0">
              <a:spAutoFit/>
            </a:bodyPr>
            <a:lstStyle/>
            <a:p>
              <a:pPr algn="l"/>
              <a:r>
                <a:rPr lang="en-US" sz="5850" b="1" dirty="0">
                  <a:solidFill>
                    <a:schemeClr val="accent2"/>
                  </a:solidFill>
                  <a:latin typeface="+mj-lt"/>
                  <a:ea typeface="+mj-ea"/>
                  <a:cs typeface="+mj-cs"/>
                </a:rPr>
                <a:t>01</a:t>
              </a:r>
            </a:p>
          </p:txBody>
        </p:sp>
        <p:sp>
          <p:nvSpPr>
            <p:cNvPr id="7" name="TextBox 7"/>
            <p:cNvSpPr txBox="1"/>
            <p:nvPr/>
          </p:nvSpPr>
          <p:spPr>
            <a:xfrm>
              <a:off x="445008" y="2579370"/>
              <a:ext cx="325038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描述符会不会重复？</a:t>
              </a:r>
            </a:p>
          </p:txBody>
        </p:sp>
        <p:sp>
          <p:nvSpPr>
            <p:cNvPr id="8" name="Line 8"/>
            <p:cNvSpPr/>
            <p:nvPr/>
          </p:nvSpPr>
          <p:spPr>
            <a:xfrm>
              <a:off x="457200" y="3048000"/>
              <a:ext cx="3848100" cy="9525"/>
            </a:xfrm>
            <a:custGeom>
              <a:avLst/>
              <a:gdLst/>
              <a:ahLst/>
              <a:cxnLst/>
              <a:rect l="l" t="t" r="r" b="b"/>
              <a:pathLst>
                <a:path w="3848100" h="9525">
                  <a:moveTo>
                    <a:pt x="0" y="0"/>
                  </a:moveTo>
                  <a:lnTo>
                    <a:pt x="3848100" y="0"/>
                  </a:lnTo>
                </a:path>
              </a:pathLst>
            </a:custGeom>
            <a:noFill/>
            <a:ln w="19050">
              <a:solidFill>
                <a:schemeClr val="accent5"/>
              </a:solidFill>
            </a:ln>
          </p:spPr>
        </p:sp>
        <p:sp>
          <p:nvSpPr>
            <p:cNvPr id="9" name="TextBox 9"/>
            <p:cNvSpPr txBox="1"/>
            <p:nvPr/>
          </p:nvSpPr>
          <p:spPr>
            <a:xfrm>
              <a:off x="448056" y="3234690"/>
              <a:ext cx="368114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共享最长键长、畸变或 Na 浓度，</a:t>
              </a:r>
            </a:p>
          </p:txBody>
        </p:sp>
        <p:sp>
          <p:nvSpPr>
            <p:cNvPr id="10" name="TextBox 10"/>
            <p:cNvSpPr txBox="1"/>
            <p:nvPr/>
          </p:nvSpPr>
          <p:spPr>
            <a:xfrm>
              <a:off x="448056" y="3577590"/>
              <a:ext cx="34107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可能把同一结构信息重复计票。</a:t>
              </a:r>
            </a:p>
          </p:txBody>
        </p:sp>
        <p:sp>
          <p:nvSpPr>
            <p:cNvPr id="11" name="TextBox 11"/>
            <p:cNvSpPr txBox="1"/>
            <p:nvPr/>
          </p:nvSpPr>
          <p:spPr>
            <a:xfrm>
              <a:off x="450342" y="4064318"/>
              <a:ext cx="328498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要区分：同一公式｜共同来源｜数据相关</a:t>
              </a:r>
            </a:p>
          </p:txBody>
        </p:sp>
      </p:grpSp>
      <p:grpSp>
        <p:nvGrpSpPr>
          <p:cNvPr id="19" name="Group 19"/>
          <p:cNvGrpSpPr/>
          <p:nvPr/>
        </p:nvGrpSpPr>
        <p:grpSpPr>
          <a:xfrm>
            <a:off x="6953250" y="1749742"/>
            <a:ext cx="4781550" cy="2578609"/>
            <a:chOff x="6953250" y="1749742"/>
            <a:chExt cx="4781550" cy="2578609"/>
          </a:xfrm>
        </p:grpSpPr>
        <p:sp>
          <p:nvSpPr>
            <p:cNvPr id="13" name="TextBox 13"/>
            <p:cNvSpPr txBox="1"/>
            <p:nvPr/>
          </p:nvSpPr>
          <p:spPr>
            <a:xfrm>
              <a:off x="6953250" y="1749742"/>
              <a:ext cx="999180" cy="1133475"/>
            </a:xfrm>
            <a:prstGeom prst="rect">
              <a:avLst/>
            </a:prstGeom>
            <a:noFill/>
            <a:ln>
              <a:noFill/>
            </a:ln>
          </p:spPr>
          <p:txBody>
            <a:bodyPr wrap="none" lIns="0" tIns="0" rIns="0" bIns="0" anchor="t" anchorCtr="0">
              <a:spAutoFit/>
            </a:bodyPr>
            <a:lstStyle/>
            <a:p>
              <a:pPr algn="l"/>
              <a:r>
                <a:rPr lang="en-US" sz="5850" b="1" dirty="0">
                  <a:solidFill>
                    <a:schemeClr val="accent2"/>
                  </a:solidFill>
                  <a:latin typeface="+mj-lt"/>
                  <a:ea typeface="+mj-ea"/>
                  <a:cs typeface="+mj-cs"/>
                </a:rPr>
                <a:t>02</a:t>
              </a:r>
            </a:p>
          </p:txBody>
        </p:sp>
        <p:sp>
          <p:nvSpPr>
            <p:cNvPr id="14" name="TextBox 14"/>
            <p:cNvSpPr txBox="1"/>
            <p:nvPr/>
          </p:nvSpPr>
          <p:spPr>
            <a:xfrm>
              <a:off x="6960108" y="2579370"/>
              <a:ext cx="424635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空位能不能只靠 CIF？</a:t>
              </a:r>
            </a:p>
          </p:txBody>
        </p:sp>
        <p:sp>
          <p:nvSpPr>
            <p:cNvPr id="15" name="Line 15"/>
            <p:cNvSpPr/>
            <p:nvPr/>
          </p:nvSpPr>
          <p:spPr>
            <a:xfrm>
              <a:off x="6972300" y="3048000"/>
              <a:ext cx="4762500" cy="9525"/>
            </a:xfrm>
            <a:custGeom>
              <a:avLst/>
              <a:gdLst/>
              <a:ahLst/>
              <a:cxnLst/>
              <a:rect l="l" t="t" r="r" b="b"/>
              <a:pathLst>
                <a:path w="4762500" h="9525">
                  <a:moveTo>
                    <a:pt x="0" y="0"/>
                  </a:moveTo>
                  <a:lnTo>
                    <a:pt x="4762500" y="0"/>
                  </a:lnTo>
                </a:path>
              </a:pathLst>
            </a:custGeom>
            <a:noFill/>
            <a:ln w="19050">
              <a:solidFill>
                <a:schemeClr val="accent5"/>
              </a:solidFill>
            </a:ln>
          </p:spPr>
        </p:sp>
        <p:sp>
          <p:nvSpPr>
            <p:cNvPr id="16" name="TextBox 16"/>
            <p:cNvSpPr txBox="1"/>
            <p:nvPr/>
          </p:nvSpPr>
          <p:spPr>
            <a:xfrm>
              <a:off x="6963156" y="3234690"/>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部分占位可能是真实缺陷，</a:t>
              </a:r>
            </a:p>
          </p:txBody>
        </p:sp>
        <p:sp>
          <p:nvSpPr>
            <p:cNvPr id="17" name="TextBox 17"/>
            <p:cNvSpPr txBox="1"/>
            <p:nvPr/>
          </p:nvSpPr>
          <p:spPr>
            <a:xfrm>
              <a:off x="6963156" y="3577590"/>
              <a:ext cx="31683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也可能来自无序或精修表达。</a:t>
              </a:r>
            </a:p>
          </p:txBody>
        </p:sp>
        <p:sp>
          <p:nvSpPr>
            <p:cNvPr id="18" name="TextBox 18"/>
            <p:cNvSpPr txBox="1"/>
            <p:nvPr/>
          </p:nvSpPr>
          <p:spPr>
            <a:xfrm>
              <a:off x="6965442" y="4064318"/>
              <a:ext cx="364845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要区分：占位亏缺｜几何空腔｜迁移有效空位</a:t>
              </a:r>
            </a:p>
          </p:txBody>
        </p:sp>
      </p:grpSp>
      <p:grpSp>
        <p:nvGrpSpPr>
          <p:cNvPr id="26" name="Group 26"/>
          <p:cNvGrpSpPr/>
          <p:nvPr/>
        </p:nvGrpSpPr>
        <p:grpSpPr>
          <a:xfrm>
            <a:off x="3771900" y="4438650"/>
            <a:ext cx="4648200" cy="1500759"/>
            <a:chOff x="3771900" y="4438650"/>
            <a:chExt cx="4648200" cy="1500759"/>
          </a:xfrm>
        </p:grpSpPr>
        <p:sp>
          <p:nvSpPr>
            <p:cNvPr id="20" name="Line 20"/>
            <p:cNvSpPr/>
            <p:nvPr/>
          </p:nvSpPr>
          <p:spPr>
            <a:xfrm>
              <a:off x="4343400" y="4438650"/>
              <a:ext cx="1428750" cy="514350"/>
            </a:xfrm>
            <a:custGeom>
              <a:avLst/>
              <a:gdLst/>
              <a:ahLst/>
              <a:cxnLst/>
              <a:rect l="l" t="t" r="r" b="b"/>
              <a:pathLst>
                <a:path w="1428750" h="514350">
                  <a:moveTo>
                    <a:pt x="0" y="0"/>
                  </a:moveTo>
                  <a:lnTo>
                    <a:pt x="1428750" y="514350"/>
                  </a:lnTo>
                </a:path>
              </a:pathLst>
            </a:custGeom>
            <a:noFill/>
            <a:ln w="28575">
              <a:solidFill>
                <a:schemeClr val="accent2"/>
              </a:solidFill>
            </a:ln>
          </p:spPr>
        </p:sp>
        <p:sp>
          <p:nvSpPr>
            <p:cNvPr id="21" name="Line 21"/>
            <p:cNvSpPr/>
            <p:nvPr/>
          </p:nvSpPr>
          <p:spPr>
            <a:xfrm>
              <a:off x="6419850" y="4438650"/>
              <a:ext cx="1428750" cy="514350"/>
            </a:xfrm>
            <a:custGeom>
              <a:avLst/>
              <a:gdLst/>
              <a:ahLst/>
              <a:cxnLst/>
              <a:rect l="l" t="t" r="r" b="b"/>
              <a:pathLst>
                <a:path w="1428750" h="514350">
                  <a:moveTo>
                    <a:pt x="1428750" y="0"/>
                  </a:moveTo>
                  <a:lnTo>
                    <a:pt x="0" y="514350"/>
                  </a:lnTo>
                </a:path>
              </a:pathLst>
            </a:custGeom>
            <a:noFill/>
            <a:ln w="28575">
              <a:solidFill>
                <a:schemeClr val="accent2"/>
              </a:solidFill>
            </a:ln>
          </p:spPr>
        </p:sp>
        <p:sp>
          <p:nvSpPr>
            <p:cNvPr id="22" name="Ellipse 22"/>
            <p:cNvSpPr/>
            <p:nvPr/>
          </p:nvSpPr>
          <p:spPr>
            <a:xfrm>
              <a:off x="5962650" y="4895850"/>
              <a:ext cx="266700" cy="266700"/>
            </a:xfrm>
            <a:prstGeom prst="ellipse">
              <a:avLst/>
            </a:prstGeom>
            <a:solidFill>
              <a:schemeClr val="accent2"/>
            </a:solidFill>
            <a:ln>
              <a:noFill/>
            </a:ln>
          </p:spPr>
        </p:sp>
        <p:sp>
          <p:nvSpPr>
            <p:cNvPr id="23" name="Rectangle 23"/>
            <p:cNvSpPr/>
            <p:nvPr/>
          </p:nvSpPr>
          <p:spPr>
            <a:xfrm>
              <a:off x="3771900" y="5219700"/>
              <a:ext cx="4648200" cy="685800"/>
            </a:xfrm>
            <a:prstGeom prst="rect">
              <a:avLst/>
            </a:prstGeom>
            <a:solidFill>
              <a:schemeClr val="accent1"/>
            </a:solidFill>
            <a:ln>
              <a:noFill/>
            </a:ln>
          </p:spPr>
        </p:sp>
        <p:sp>
          <p:nvSpPr>
            <p:cNvPr id="24" name="TextBox 24"/>
            <p:cNvSpPr txBox="1"/>
            <p:nvPr/>
          </p:nvSpPr>
          <p:spPr>
            <a:xfrm>
              <a:off x="5543931" y="5359718"/>
              <a:ext cx="1104138" cy="264033"/>
            </a:xfrm>
            <a:prstGeom prst="rect">
              <a:avLst/>
            </a:prstGeom>
            <a:noFill/>
            <a:ln>
              <a:noFill/>
            </a:ln>
          </p:spPr>
          <p:txBody>
            <a:bodyPr wrap="none" lIns="0" tIns="0" rIns="0" bIns="0" anchor="t" anchorCtr="0">
              <a:spAutoFit/>
            </a:bodyPr>
            <a:lstStyle/>
            <a:p>
              <a:pPr algn="ctr"/>
              <a:r>
                <a:rPr lang="zh-CN" sz="1350" dirty="0">
                  <a:solidFill>
                    <a:srgbClr val="DCE7E9"/>
                  </a:solidFill>
                  <a:latin typeface="+mn-lt"/>
                  <a:ea typeface="+mn-ea"/>
                  <a:cs typeface="+mn-cs"/>
                </a:rPr>
                <a:t>第二代的起点</a:t>
              </a:r>
            </a:p>
          </p:txBody>
        </p:sp>
        <p:sp>
          <p:nvSpPr>
            <p:cNvPr id="25" name="TextBox 25"/>
            <p:cNvSpPr txBox="1"/>
            <p:nvPr/>
          </p:nvSpPr>
          <p:spPr>
            <a:xfrm>
              <a:off x="3924186" y="5587365"/>
              <a:ext cx="4343629"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先审查身份和来源，才有资格谈相关性</a:t>
              </a:r>
            </a:p>
          </p:txBody>
        </p:sp>
      </p:grpSp>
      <p:grpSp>
        <p:nvGrpSpPr>
          <p:cNvPr id="29" name="Group 29"/>
          <p:cNvGrpSpPr/>
          <p:nvPr/>
        </p:nvGrpSpPr>
        <p:grpSpPr>
          <a:xfrm>
            <a:off x="451104" y="6356985"/>
            <a:ext cx="11289030" cy="234696"/>
            <a:chOff x="451104" y="6356985"/>
            <a:chExt cx="11289030" cy="234696"/>
          </a:xfrm>
        </p:grpSpPr>
        <p:sp>
          <p:nvSpPr>
            <p:cNvPr id="27" name="TextBox 27"/>
            <p:cNvSpPr txBox="1"/>
            <p:nvPr/>
          </p:nvSpPr>
          <p:spPr>
            <a:xfrm>
              <a:off x="451104" y="6356985"/>
              <a:ext cx="405079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两个问题的共同核心：信息是否独立、物理身份是否可信</a:t>
              </a:r>
            </a:p>
          </p:txBody>
        </p:sp>
        <p:sp>
          <p:nvSpPr>
            <p:cNvPr id="28" name="TextBox 28"/>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05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68618"/>
            <a:ext cx="11293602" cy="974217"/>
            <a:chOff x="441198" y="368618"/>
            <a:chExt cx="11293602" cy="974217"/>
          </a:xfrm>
        </p:grpSpPr>
        <p:sp>
          <p:nvSpPr>
            <p:cNvPr id="2" name="TextBox 2"/>
            <p:cNvSpPr txBox="1"/>
            <p:nvPr/>
          </p:nvSpPr>
          <p:spPr>
            <a:xfrm>
              <a:off x="450342" y="368618"/>
              <a:ext cx="117774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06｜风险地图</a:t>
              </a:r>
            </a:p>
          </p:txBody>
        </p:sp>
        <p:sp>
          <p:nvSpPr>
            <p:cNvPr id="3" name="TextBox 3"/>
            <p:cNvSpPr txBox="1"/>
            <p:nvPr/>
          </p:nvSpPr>
          <p:spPr>
            <a:xfrm>
              <a:off x="441198" y="726758"/>
              <a:ext cx="66184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进一步复盘，假相关有五个入口</a:t>
              </a:r>
            </a:p>
          </p:txBody>
        </p:sp>
        <p:sp>
          <p:nvSpPr>
            <p:cNvPr id="4" name="Line 4"/>
            <p:cNvSpPr/>
            <p:nvPr/>
          </p:nvSpPr>
          <p:spPr>
            <a:xfrm>
              <a:off x="457200" y="12763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7" name="Group 7"/>
          <p:cNvGrpSpPr/>
          <p:nvPr/>
        </p:nvGrpSpPr>
        <p:grpSpPr>
          <a:xfrm>
            <a:off x="445770" y="1481138"/>
            <a:ext cx="7292340" cy="440055"/>
            <a:chOff x="445770" y="1481138"/>
            <a:chExt cx="7292340" cy="440055"/>
          </a:xfrm>
        </p:grpSpPr>
        <p:sp>
          <p:nvSpPr>
            <p:cNvPr id="6" name="TextBox 6"/>
            <p:cNvSpPr txBox="1"/>
            <p:nvPr/>
          </p:nvSpPr>
          <p:spPr>
            <a:xfrm>
              <a:off x="445770" y="1481138"/>
              <a:ext cx="7292340"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第二代的每一道新步骤，都对应一个具体的误判来源。</a:t>
              </a:r>
            </a:p>
          </p:txBody>
        </p:sp>
      </p:grpSp>
      <p:grpSp>
        <p:nvGrpSpPr>
          <p:cNvPr id="36" name="Group 36"/>
          <p:cNvGrpSpPr/>
          <p:nvPr/>
        </p:nvGrpSpPr>
        <p:grpSpPr>
          <a:xfrm>
            <a:off x="628650" y="2148840"/>
            <a:ext cx="10915650" cy="3665411"/>
            <a:chOff x="628650" y="2148840"/>
            <a:chExt cx="10915650" cy="3665411"/>
          </a:xfrm>
        </p:grpSpPr>
        <p:sp>
          <p:nvSpPr>
            <p:cNvPr id="8" name="Line 8"/>
            <p:cNvSpPr/>
            <p:nvPr/>
          </p:nvSpPr>
          <p:spPr>
            <a:xfrm>
              <a:off x="2838450" y="2724150"/>
              <a:ext cx="2638425" cy="952500"/>
            </a:xfrm>
            <a:custGeom>
              <a:avLst/>
              <a:gdLst/>
              <a:ahLst/>
              <a:cxnLst/>
              <a:rect l="l" t="t" r="r" b="b"/>
              <a:pathLst>
                <a:path w="2638425" h="952500">
                  <a:moveTo>
                    <a:pt x="0" y="0"/>
                  </a:moveTo>
                  <a:lnTo>
                    <a:pt x="2638425" y="952500"/>
                  </a:lnTo>
                </a:path>
              </a:pathLst>
            </a:custGeom>
            <a:noFill/>
            <a:ln w="19050">
              <a:solidFill>
                <a:schemeClr val="accent5"/>
              </a:solidFill>
            </a:ln>
          </p:spPr>
        </p:sp>
        <p:sp>
          <p:nvSpPr>
            <p:cNvPr id="9" name="Line 9"/>
            <p:cNvSpPr/>
            <p:nvPr/>
          </p:nvSpPr>
          <p:spPr>
            <a:xfrm>
              <a:off x="2838450" y="3905250"/>
              <a:ext cx="2638425" cy="285750"/>
            </a:xfrm>
            <a:custGeom>
              <a:avLst/>
              <a:gdLst/>
              <a:ahLst/>
              <a:cxnLst/>
              <a:rect l="l" t="t" r="r" b="b"/>
              <a:pathLst>
                <a:path w="2638425" h="285750">
                  <a:moveTo>
                    <a:pt x="0" y="285750"/>
                  </a:moveTo>
                  <a:lnTo>
                    <a:pt x="2638425" y="0"/>
                  </a:lnTo>
                </a:path>
              </a:pathLst>
            </a:custGeom>
            <a:noFill/>
            <a:ln w="19050">
              <a:solidFill>
                <a:schemeClr val="accent5"/>
              </a:solidFill>
            </a:ln>
          </p:spPr>
        </p:sp>
        <p:sp>
          <p:nvSpPr>
            <p:cNvPr id="10" name="Line 10"/>
            <p:cNvSpPr/>
            <p:nvPr/>
          </p:nvSpPr>
          <p:spPr>
            <a:xfrm>
              <a:off x="6096000" y="4362450"/>
              <a:ext cx="9525" cy="857250"/>
            </a:xfrm>
            <a:custGeom>
              <a:avLst/>
              <a:gdLst/>
              <a:ahLst/>
              <a:cxnLst/>
              <a:rect l="l" t="t" r="r" b="b"/>
              <a:pathLst>
                <a:path w="9525" h="857250">
                  <a:moveTo>
                    <a:pt x="0" y="857250"/>
                  </a:moveTo>
                  <a:lnTo>
                    <a:pt x="0" y="0"/>
                  </a:lnTo>
                </a:path>
              </a:pathLst>
            </a:custGeom>
            <a:noFill/>
            <a:ln w="19050">
              <a:solidFill>
                <a:schemeClr val="accent5"/>
              </a:solidFill>
            </a:ln>
          </p:spPr>
        </p:sp>
        <p:sp>
          <p:nvSpPr>
            <p:cNvPr id="11" name="Line 11"/>
            <p:cNvSpPr/>
            <p:nvPr/>
          </p:nvSpPr>
          <p:spPr>
            <a:xfrm>
              <a:off x="6715125" y="2724150"/>
              <a:ext cx="2638425" cy="952500"/>
            </a:xfrm>
            <a:custGeom>
              <a:avLst/>
              <a:gdLst/>
              <a:ahLst/>
              <a:cxnLst/>
              <a:rect l="l" t="t" r="r" b="b"/>
              <a:pathLst>
                <a:path w="2638425" h="952500">
                  <a:moveTo>
                    <a:pt x="2638425" y="0"/>
                  </a:moveTo>
                  <a:lnTo>
                    <a:pt x="0" y="952500"/>
                  </a:lnTo>
                </a:path>
              </a:pathLst>
            </a:custGeom>
            <a:noFill/>
            <a:ln w="19050">
              <a:solidFill>
                <a:schemeClr val="accent5"/>
              </a:solidFill>
            </a:ln>
          </p:spPr>
        </p:sp>
        <p:sp>
          <p:nvSpPr>
            <p:cNvPr id="12" name="Line 12"/>
            <p:cNvSpPr/>
            <p:nvPr/>
          </p:nvSpPr>
          <p:spPr>
            <a:xfrm>
              <a:off x="6715125" y="3905250"/>
              <a:ext cx="2638425" cy="285750"/>
            </a:xfrm>
            <a:custGeom>
              <a:avLst/>
              <a:gdLst/>
              <a:ahLst/>
              <a:cxnLst/>
              <a:rect l="l" t="t" r="r" b="b"/>
              <a:pathLst>
                <a:path w="2638425" h="285750">
                  <a:moveTo>
                    <a:pt x="2638425" y="285750"/>
                  </a:moveTo>
                  <a:lnTo>
                    <a:pt x="0" y="0"/>
                  </a:lnTo>
                </a:path>
              </a:pathLst>
            </a:custGeom>
            <a:noFill/>
            <a:ln w="19050">
              <a:solidFill>
                <a:schemeClr val="accent5"/>
              </a:solidFill>
            </a:ln>
          </p:spPr>
        </p:sp>
        <p:sp>
          <p:nvSpPr>
            <p:cNvPr id="13" name="Ellipse 13"/>
            <p:cNvSpPr/>
            <p:nvPr/>
          </p:nvSpPr>
          <p:spPr>
            <a:xfrm>
              <a:off x="5314950" y="3048000"/>
              <a:ext cx="1562100" cy="1562100"/>
            </a:xfrm>
            <a:prstGeom prst="ellipse">
              <a:avLst/>
            </a:prstGeom>
            <a:solidFill>
              <a:schemeClr val="lt2"/>
            </a:solidFill>
            <a:ln w="38100">
              <a:solidFill>
                <a:schemeClr val="accent2"/>
              </a:solidFill>
            </a:ln>
          </p:spPr>
        </p:sp>
        <p:sp>
          <p:nvSpPr>
            <p:cNvPr id="14" name="TextBox 14"/>
            <p:cNvSpPr txBox="1"/>
            <p:nvPr/>
          </p:nvSpPr>
          <p:spPr>
            <a:xfrm>
              <a:off x="5725363" y="3493770"/>
              <a:ext cx="741274"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j-lt"/>
                  <a:ea typeface="+mj-ea"/>
                  <a:cs typeface="+mj-cs"/>
                </a:rPr>
                <a:t>一个</a:t>
              </a:r>
            </a:p>
          </p:txBody>
        </p:sp>
        <p:sp>
          <p:nvSpPr>
            <p:cNvPr id="15" name="TextBox 15"/>
            <p:cNvSpPr txBox="1"/>
            <p:nvPr/>
          </p:nvSpPr>
          <p:spPr>
            <a:xfrm>
              <a:off x="5366918" y="3874770"/>
              <a:ext cx="1458163" cy="469392"/>
            </a:xfrm>
            <a:prstGeom prst="rect">
              <a:avLst/>
            </a:prstGeom>
            <a:noFill/>
            <a:ln>
              <a:noFill/>
            </a:ln>
          </p:spPr>
          <p:txBody>
            <a:bodyPr wrap="none" lIns="0" tIns="0" rIns="0" bIns="0" anchor="t" anchorCtr="0">
              <a:spAutoFit/>
            </a:bodyPr>
            <a:lstStyle/>
            <a:p>
              <a:pPr algn="ctr"/>
              <a:r>
                <a:rPr lang="zh-CN" sz="2400" b="1" dirty="0">
                  <a:solidFill>
                    <a:schemeClr val="accent2"/>
                  </a:solidFill>
                  <a:latin typeface="+mj-lt"/>
                  <a:ea typeface="+mj-ea"/>
                  <a:cs typeface="+mj-cs"/>
                </a:rPr>
                <a:t>高分结果</a:t>
              </a:r>
            </a:p>
          </p:txBody>
        </p:sp>
        <p:sp>
          <p:nvSpPr>
            <p:cNvPr id="16" name="Ellipse 16"/>
            <p:cNvSpPr/>
            <p:nvPr/>
          </p:nvSpPr>
          <p:spPr>
            <a:xfrm>
              <a:off x="628650" y="2152650"/>
              <a:ext cx="457200" cy="457200"/>
            </a:xfrm>
            <a:prstGeom prst="ellipse">
              <a:avLst/>
            </a:prstGeom>
            <a:solidFill>
              <a:schemeClr val="accent2"/>
            </a:solidFill>
            <a:ln>
              <a:noFill/>
            </a:ln>
          </p:spPr>
        </p:sp>
        <p:sp>
          <p:nvSpPr>
            <p:cNvPr id="17" name="TextBox 17"/>
            <p:cNvSpPr txBox="1"/>
            <p:nvPr/>
          </p:nvSpPr>
          <p:spPr>
            <a:xfrm>
              <a:off x="745439" y="2311718"/>
              <a:ext cx="22362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01</a:t>
              </a:r>
            </a:p>
          </p:txBody>
        </p:sp>
        <p:sp>
          <p:nvSpPr>
            <p:cNvPr id="18" name="TextBox 18"/>
            <p:cNvSpPr txBox="1"/>
            <p:nvPr/>
          </p:nvSpPr>
          <p:spPr>
            <a:xfrm>
              <a:off x="1248156" y="21488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体系差异</a:t>
              </a:r>
            </a:p>
          </p:txBody>
        </p:sp>
        <p:sp>
          <p:nvSpPr>
            <p:cNvPr id="19" name="TextBox 19"/>
            <p:cNvSpPr txBox="1"/>
            <p:nvPr/>
          </p:nvSpPr>
          <p:spPr>
            <a:xfrm>
              <a:off x="1250442" y="2502218"/>
              <a:ext cx="292150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材料类别同时推高描述符和电导量级</a:t>
              </a:r>
            </a:p>
          </p:txBody>
        </p:sp>
        <p:sp>
          <p:nvSpPr>
            <p:cNvPr id="20" name="Ellipse 20"/>
            <p:cNvSpPr/>
            <p:nvPr/>
          </p:nvSpPr>
          <p:spPr>
            <a:xfrm>
              <a:off x="628650" y="3676650"/>
              <a:ext cx="457200" cy="457200"/>
            </a:xfrm>
            <a:prstGeom prst="ellipse">
              <a:avLst/>
            </a:prstGeom>
            <a:solidFill>
              <a:schemeClr val="accent2"/>
            </a:solidFill>
            <a:ln>
              <a:noFill/>
            </a:ln>
          </p:spPr>
        </p:sp>
        <p:sp>
          <p:nvSpPr>
            <p:cNvPr id="21" name="TextBox 21"/>
            <p:cNvSpPr txBox="1"/>
            <p:nvPr/>
          </p:nvSpPr>
          <p:spPr>
            <a:xfrm>
              <a:off x="745439" y="3835718"/>
              <a:ext cx="22362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02</a:t>
              </a:r>
            </a:p>
          </p:txBody>
        </p:sp>
        <p:sp>
          <p:nvSpPr>
            <p:cNvPr id="22" name="TextBox 22"/>
            <p:cNvSpPr txBox="1"/>
            <p:nvPr/>
          </p:nvSpPr>
          <p:spPr>
            <a:xfrm>
              <a:off x="1248156" y="36728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测量口径</a:t>
              </a:r>
            </a:p>
          </p:txBody>
        </p:sp>
        <p:sp>
          <p:nvSpPr>
            <p:cNvPr id="23" name="TextBox 23"/>
            <p:cNvSpPr txBox="1"/>
            <p:nvPr/>
          </p:nvSpPr>
          <p:spPr>
            <a:xfrm>
              <a:off x="1250442" y="4026218"/>
              <a:ext cx="347580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total / bulk / 晶界 / 温度 / 致密度不统一</a:t>
              </a:r>
            </a:p>
          </p:txBody>
        </p:sp>
        <p:sp>
          <p:nvSpPr>
            <p:cNvPr id="24" name="Ellipse 24"/>
            <p:cNvSpPr/>
            <p:nvPr/>
          </p:nvSpPr>
          <p:spPr>
            <a:xfrm>
              <a:off x="5867400" y="5257800"/>
              <a:ext cx="457200" cy="457200"/>
            </a:xfrm>
            <a:prstGeom prst="ellipse">
              <a:avLst/>
            </a:prstGeom>
            <a:solidFill>
              <a:schemeClr val="accent2"/>
            </a:solidFill>
            <a:ln>
              <a:noFill/>
            </a:ln>
          </p:spPr>
        </p:sp>
        <p:sp>
          <p:nvSpPr>
            <p:cNvPr id="25" name="TextBox 25"/>
            <p:cNvSpPr txBox="1"/>
            <p:nvPr/>
          </p:nvSpPr>
          <p:spPr>
            <a:xfrm>
              <a:off x="5984189" y="5416868"/>
              <a:ext cx="22362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03</a:t>
              </a:r>
            </a:p>
          </p:txBody>
        </p:sp>
        <p:sp>
          <p:nvSpPr>
            <p:cNvPr id="26" name="TextBox 26"/>
            <p:cNvSpPr txBox="1"/>
            <p:nvPr/>
          </p:nvSpPr>
          <p:spPr>
            <a:xfrm>
              <a:off x="6544056" y="521589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反复挑选</a:t>
              </a:r>
            </a:p>
          </p:txBody>
        </p:sp>
        <p:sp>
          <p:nvSpPr>
            <p:cNvPr id="27" name="TextBox 27"/>
            <p:cNvSpPr txBox="1"/>
            <p:nvPr/>
          </p:nvSpPr>
          <p:spPr>
            <a:xfrm>
              <a:off x="6546342" y="5550218"/>
              <a:ext cx="292150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同一批样本既生成组合，又评价组合</a:t>
              </a:r>
            </a:p>
          </p:txBody>
        </p:sp>
        <p:sp>
          <p:nvSpPr>
            <p:cNvPr id="28" name="Ellipse 28"/>
            <p:cNvSpPr/>
            <p:nvPr/>
          </p:nvSpPr>
          <p:spPr>
            <a:xfrm>
              <a:off x="11087100" y="2152650"/>
              <a:ext cx="457200" cy="457200"/>
            </a:xfrm>
            <a:prstGeom prst="ellipse">
              <a:avLst/>
            </a:prstGeom>
            <a:solidFill>
              <a:schemeClr val="accent2"/>
            </a:solidFill>
            <a:ln>
              <a:noFill/>
            </a:ln>
          </p:spPr>
        </p:sp>
        <p:sp>
          <p:nvSpPr>
            <p:cNvPr id="29" name="TextBox 29"/>
            <p:cNvSpPr txBox="1"/>
            <p:nvPr/>
          </p:nvSpPr>
          <p:spPr>
            <a:xfrm>
              <a:off x="11203889" y="2311718"/>
              <a:ext cx="22362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04</a:t>
              </a:r>
            </a:p>
          </p:txBody>
        </p:sp>
        <p:sp>
          <p:nvSpPr>
            <p:cNvPr id="30" name="TextBox 30"/>
            <p:cNvSpPr txBox="1"/>
            <p:nvPr/>
          </p:nvSpPr>
          <p:spPr>
            <a:xfrm>
              <a:off x="9888779" y="2148840"/>
              <a:ext cx="1036015"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名实不符</a:t>
              </a:r>
            </a:p>
          </p:txBody>
        </p:sp>
        <p:sp>
          <p:nvSpPr>
            <p:cNvPr id="31" name="TextBox 31"/>
            <p:cNvSpPr txBox="1"/>
            <p:nvPr/>
          </p:nvSpPr>
          <p:spPr>
            <a:xfrm>
              <a:off x="8182737" y="2502218"/>
              <a:ext cx="2739771"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名称与代码实际返回量可能不一致</a:t>
              </a:r>
            </a:p>
          </p:txBody>
        </p:sp>
        <p:sp>
          <p:nvSpPr>
            <p:cNvPr id="32" name="Ellipse 32"/>
            <p:cNvSpPr/>
            <p:nvPr/>
          </p:nvSpPr>
          <p:spPr>
            <a:xfrm>
              <a:off x="11087100" y="3676650"/>
              <a:ext cx="457200" cy="457200"/>
            </a:xfrm>
            <a:prstGeom prst="ellipse">
              <a:avLst/>
            </a:prstGeom>
            <a:solidFill>
              <a:schemeClr val="accent2"/>
            </a:solidFill>
            <a:ln>
              <a:noFill/>
            </a:ln>
          </p:spPr>
        </p:sp>
        <p:sp>
          <p:nvSpPr>
            <p:cNvPr id="33" name="TextBox 33"/>
            <p:cNvSpPr txBox="1"/>
            <p:nvPr/>
          </p:nvSpPr>
          <p:spPr>
            <a:xfrm>
              <a:off x="11203889" y="3835718"/>
              <a:ext cx="22362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05</a:t>
              </a:r>
            </a:p>
          </p:txBody>
        </p:sp>
        <p:sp>
          <p:nvSpPr>
            <p:cNvPr id="34" name="TextBox 34"/>
            <p:cNvSpPr txBox="1"/>
            <p:nvPr/>
          </p:nvSpPr>
          <p:spPr>
            <a:xfrm>
              <a:off x="9888779" y="3672840"/>
              <a:ext cx="1036015"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外推不足</a:t>
              </a:r>
            </a:p>
          </p:txBody>
        </p:sp>
        <p:sp>
          <p:nvSpPr>
            <p:cNvPr id="35" name="TextBox 35"/>
            <p:cNvSpPr txBox="1"/>
            <p:nvPr/>
          </p:nvSpPr>
          <p:spPr>
            <a:xfrm>
              <a:off x="8001000" y="4026218"/>
              <a:ext cx="2921508"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每折都见过三类材料，只能说明内插</a:t>
              </a:r>
            </a:p>
          </p:txBody>
        </p:sp>
      </p:grpSp>
      <p:grpSp>
        <p:nvGrpSpPr>
          <p:cNvPr id="39" name="Group 39"/>
          <p:cNvGrpSpPr/>
          <p:nvPr/>
        </p:nvGrpSpPr>
        <p:grpSpPr>
          <a:xfrm>
            <a:off x="451104" y="6356985"/>
            <a:ext cx="11289030" cy="234696"/>
            <a:chOff x="451104" y="6356985"/>
            <a:chExt cx="11289030" cy="234696"/>
          </a:xfrm>
        </p:grpSpPr>
        <p:sp>
          <p:nvSpPr>
            <p:cNvPr id="37" name="TextBox 37"/>
            <p:cNvSpPr txBox="1"/>
            <p:nvPr/>
          </p:nvSpPr>
          <p:spPr>
            <a:xfrm>
              <a:off x="451104" y="6356985"/>
              <a:ext cx="3275381"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问题不是“有没有相关”，而是“相关从哪里来”</a:t>
              </a:r>
            </a:p>
          </p:txBody>
        </p:sp>
        <p:sp>
          <p:nvSpPr>
            <p:cNvPr id="38" name="TextBox 38"/>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06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559389"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07｜两代逻辑对照</a:t>
              </a:r>
            </a:p>
          </p:txBody>
        </p:sp>
        <p:sp>
          <p:nvSpPr>
            <p:cNvPr id="3" name="TextBox 3"/>
            <p:cNvSpPr txBox="1"/>
            <p:nvPr/>
          </p:nvSpPr>
          <p:spPr>
            <a:xfrm>
              <a:off x="441198" y="650558"/>
              <a:ext cx="755934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所以第二代先问：这些分数能不能比</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7" name="Group 7"/>
          <p:cNvGrpSpPr/>
          <p:nvPr/>
        </p:nvGrpSpPr>
        <p:grpSpPr>
          <a:xfrm>
            <a:off x="445770" y="1376362"/>
            <a:ext cx="5474970" cy="440055"/>
            <a:chOff x="445770" y="1376362"/>
            <a:chExt cx="5474970" cy="440055"/>
          </a:xfrm>
        </p:grpSpPr>
        <p:sp>
          <p:nvSpPr>
            <p:cNvPr id="6" name="TextBox 6"/>
            <p:cNvSpPr txBox="1"/>
            <p:nvPr/>
          </p:nvSpPr>
          <p:spPr>
            <a:xfrm>
              <a:off x="445770" y="1376362"/>
              <a:ext cx="5474970"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核心差别是检查顺序，不是模型复杂度。</a:t>
              </a:r>
            </a:p>
          </p:txBody>
        </p:sp>
      </p:grpSp>
      <p:grpSp>
        <p:nvGrpSpPr>
          <p:cNvPr id="55" name="Group 55"/>
          <p:cNvGrpSpPr/>
          <p:nvPr/>
        </p:nvGrpSpPr>
        <p:grpSpPr>
          <a:xfrm>
            <a:off x="457200" y="1885950"/>
            <a:ext cx="11277600" cy="3800475"/>
            <a:chOff x="457200" y="1885950"/>
            <a:chExt cx="11277600" cy="3800475"/>
          </a:xfrm>
        </p:grpSpPr>
        <p:sp>
          <p:nvSpPr>
            <p:cNvPr id="8" name="Rectangle 8"/>
            <p:cNvSpPr/>
            <p:nvPr/>
          </p:nvSpPr>
          <p:spPr>
            <a:xfrm>
              <a:off x="457200" y="1885950"/>
              <a:ext cx="11277600" cy="457200"/>
            </a:xfrm>
            <a:prstGeom prst="rect">
              <a:avLst/>
            </a:prstGeom>
            <a:solidFill>
              <a:schemeClr val="accent1"/>
            </a:solidFill>
            <a:ln>
              <a:noFill/>
            </a:ln>
          </p:spPr>
        </p:sp>
        <p:sp>
          <p:nvSpPr>
            <p:cNvPr id="9" name="Rectangle 9"/>
            <p:cNvSpPr/>
            <p:nvPr/>
          </p:nvSpPr>
          <p:spPr>
            <a:xfrm>
              <a:off x="1885950" y="2343150"/>
              <a:ext cx="2476500" cy="3333750"/>
            </a:xfrm>
            <a:prstGeom prst="rect">
              <a:avLst/>
            </a:prstGeom>
            <a:solidFill>
              <a:srgbClr val="F6F8F7"/>
            </a:solidFill>
            <a:ln>
              <a:noFill/>
            </a:ln>
          </p:spPr>
        </p:sp>
        <p:sp>
          <p:nvSpPr>
            <p:cNvPr id="10" name="Rectangle 10"/>
            <p:cNvSpPr/>
            <p:nvPr/>
          </p:nvSpPr>
          <p:spPr>
            <a:xfrm>
              <a:off x="4362450" y="2343150"/>
              <a:ext cx="3905250" cy="3333750"/>
            </a:xfrm>
            <a:prstGeom prst="rect">
              <a:avLst/>
            </a:prstGeom>
            <a:solidFill>
              <a:srgbClr val="E9F2EF"/>
            </a:solidFill>
            <a:ln>
              <a:noFill/>
            </a:ln>
          </p:spPr>
        </p:sp>
        <p:sp>
          <p:nvSpPr>
            <p:cNvPr id="11" name="Rectangle 11"/>
            <p:cNvSpPr/>
            <p:nvPr/>
          </p:nvSpPr>
          <p:spPr>
            <a:xfrm>
              <a:off x="8267700" y="2343150"/>
              <a:ext cx="3467100" cy="3333750"/>
            </a:xfrm>
            <a:prstGeom prst="rect">
              <a:avLst/>
            </a:prstGeom>
            <a:solidFill>
              <a:srgbClr val="F8EDE9"/>
            </a:solidFill>
            <a:ln>
              <a:noFill/>
            </a:ln>
          </p:spPr>
        </p:sp>
        <p:sp>
          <p:nvSpPr>
            <p:cNvPr id="12" name="Line 12"/>
            <p:cNvSpPr/>
            <p:nvPr/>
          </p:nvSpPr>
          <p:spPr>
            <a:xfrm>
              <a:off x="1885950" y="1885950"/>
              <a:ext cx="9525" cy="3790950"/>
            </a:xfrm>
            <a:custGeom>
              <a:avLst/>
              <a:gdLst/>
              <a:ahLst/>
              <a:cxnLst/>
              <a:rect l="l" t="t" r="r" b="b"/>
              <a:pathLst>
                <a:path w="9525" h="3790950">
                  <a:moveTo>
                    <a:pt x="0" y="0"/>
                  </a:moveTo>
                  <a:lnTo>
                    <a:pt x="0" y="3790950"/>
                  </a:lnTo>
                </a:path>
              </a:pathLst>
            </a:custGeom>
            <a:noFill/>
            <a:ln w="9525">
              <a:solidFill>
                <a:schemeClr val="accent5"/>
              </a:solidFill>
            </a:ln>
          </p:spPr>
        </p:sp>
        <p:sp>
          <p:nvSpPr>
            <p:cNvPr id="13" name="Line 13"/>
            <p:cNvSpPr/>
            <p:nvPr/>
          </p:nvSpPr>
          <p:spPr>
            <a:xfrm>
              <a:off x="4362450" y="1885950"/>
              <a:ext cx="9525" cy="3790950"/>
            </a:xfrm>
            <a:custGeom>
              <a:avLst/>
              <a:gdLst/>
              <a:ahLst/>
              <a:cxnLst/>
              <a:rect l="l" t="t" r="r" b="b"/>
              <a:pathLst>
                <a:path w="9525" h="3790950">
                  <a:moveTo>
                    <a:pt x="0" y="0"/>
                  </a:moveTo>
                  <a:lnTo>
                    <a:pt x="0" y="3790950"/>
                  </a:lnTo>
                </a:path>
              </a:pathLst>
            </a:custGeom>
            <a:noFill/>
            <a:ln w="9525">
              <a:solidFill>
                <a:schemeClr val="accent5"/>
              </a:solidFill>
            </a:ln>
          </p:spPr>
        </p:sp>
        <p:sp>
          <p:nvSpPr>
            <p:cNvPr id="14" name="Line 14"/>
            <p:cNvSpPr/>
            <p:nvPr/>
          </p:nvSpPr>
          <p:spPr>
            <a:xfrm>
              <a:off x="8267700" y="1885950"/>
              <a:ext cx="9525" cy="3790950"/>
            </a:xfrm>
            <a:custGeom>
              <a:avLst/>
              <a:gdLst/>
              <a:ahLst/>
              <a:cxnLst/>
              <a:rect l="l" t="t" r="r" b="b"/>
              <a:pathLst>
                <a:path w="9525" h="3790950">
                  <a:moveTo>
                    <a:pt x="0" y="0"/>
                  </a:moveTo>
                  <a:lnTo>
                    <a:pt x="0" y="3790950"/>
                  </a:lnTo>
                </a:path>
              </a:pathLst>
            </a:custGeom>
            <a:noFill/>
            <a:ln w="9525">
              <a:solidFill>
                <a:schemeClr val="accent5"/>
              </a:solidFill>
            </a:ln>
          </p:spPr>
        </p:sp>
        <p:sp>
          <p:nvSpPr>
            <p:cNvPr id="15" name="Line 15"/>
            <p:cNvSpPr/>
            <p:nvPr/>
          </p:nvSpPr>
          <p:spPr>
            <a:xfrm>
              <a:off x="457200" y="2343150"/>
              <a:ext cx="11277600" cy="9525"/>
            </a:xfrm>
            <a:custGeom>
              <a:avLst/>
              <a:gdLst/>
              <a:ahLst/>
              <a:cxnLst/>
              <a:rect l="l" t="t" r="r" b="b"/>
              <a:pathLst>
                <a:path w="11277600" h="9525">
                  <a:moveTo>
                    <a:pt x="0" y="0"/>
                  </a:moveTo>
                  <a:lnTo>
                    <a:pt x="11277600" y="0"/>
                  </a:lnTo>
                </a:path>
              </a:pathLst>
            </a:custGeom>
            <a:noFill/>
            <a:ln w="9525">
              <a:solidFill>
                <a:schemeClr val="accent5"/>
              </a:solidFill>
            </a:ln>
          </p:spPr>
        </p:sp>
        <p:sp>
          <p:nvSpPr>
            <p:cNvPr id="16" name="Line 16"/>
            <p:cNvSpPr/>
            <p:nvPr/>
          </p:nvSpPr>
          <p:spPr>
            <a:xfrm>
              <a:off x="457200" y="2819400"/>
              <a:ext cx="11277600" cy="9525"/>
            </a:xfrm>
            <a:custGeom>
              <a:avLst/>
              <a:gdLst/>
              <a:ahLst/>
              <a:cxnLst/>
              <a:rect l="l" t="t" r="r" b="b"/>
              <a:pathLst>
                <a:path w="11277600" h="9525">
                  <a:moveTo>
                    <a:pt x="0" y="0"/>
                  </a:moveTo>
                  <a:lnTo>
                    <a:pt x="11277600" y="0"/>
                  </a:lnTo>
                </a:path>
              </a:pathLst>
            </a:custGeom>
            <a:noFill/>
            <a:ln w="9525">
              <a:solidFill>
                <a:schemeClr val="accent5"/>
              </a:solidFill>
            </a:ln>
          </p:spPr>
        </p:sp>
        <p:sp>
          <p:nvSpPr>
            <p:cNvPr id="17" name="Line 17"/>
            <p:cNvSpPr/>
            <p:nvPr/>
          </p:nvSpPr>
          <p:spPr>
            <a:xfrm>
              <a:off x="457200" y="3295650"/>
              <a:ext cx="11277600" cy="9525"/>
            </a:xfrm>
            <a:custGeom>
              <a:avLst/>
              <a:gdLst/>
              <a:ahLst/>
              <a:cxnLst/>
              <a:rect l="l" t="t" r="r" b="b"/>
              <a:pathLst>
                <a:path w="11277600" h="9525">
                  <a:moveTo>
                    <a:pt x="0" y="0"/>
                  </a:moveTo>
                  <a:lnTo>
                    <a:pt x="11277600" y="0"/>
                  </a:lnTo>
                </a:path>
              </a:pathLst>
            </a:custGeom>
            <a:noFill/>
            <a:ln w="9525">
              <a:solidFill>
                <a:schemeClr val="accent5"/>
              </a:solidFill>
            </a:ln>
          </p:spPr>
        </p:sp>
        <p:sp>
          <p:nvSpPr>
            <p:cNvPr id="18" name="Line 18"/>
            <p:cNvSpPr/>
            <p:nvPr/>
          </p:nvSpPr>
          <p:spPr>
            <a:xfrm>
              <a:off x="457200" y="3771900"/>
              <a:ext cx="11277600" cy="9525"/>
            </a:xfrm>
            <a:custGeom>
              <a:avLst/>
              <a:gdLst/>
              <a:ahLst/>
              <a:cxnLst/>
              <a:rect l="l" t="t" r="r" b="b"/>
              <a:pathLst>
                <a:path w="11277600" h="9525">
                  <a:moveTo>
                    <a:pt x="0" y="0"/>
                  </a:moveTo>
                  <a:lnTo>
                    <a:pt x="11277600" y="0"/>
                  </a:lnTo>
                </a:path>
              </a:pathLst>
            </a:custGeom>
            <a:noFill/>
            <a:ln w="9525">
              <a:solidFill>
                <a:schemeClr val="accent5"/>
              </a:solidFill>
            </a:ln>
          </p:spPr>
        </p:sp>
        <p:sp>
          <p:nvSpPr>
            <p:cNvPr id="19" name="Line 19"/>
            <p:cNvSpPr/>
            <p:nvPr/>
          </p:nvSpPr>
          <p:spPr>
            <a:xfrm>
              <a:off x="457200" y="4248150"/>
              <a:ext cx="11277600" cy="9525"/>
            </a:xfrm>
            <a:custGeom>
              <a:avLst/>
              <a:gdLst/>
              <a:ahLst/>
              <a:cxnLst/>
              <a:rect l="l" t="t" r="r" b="b"/>
              <a:pathLst>
                <a:path w="11277600" h="9525">
                  <a:moveTo>
                    <a:pt x="0" y="0"/>
                  </a:moveTo>
                  <a:lnTo>
                    <a:pt x="11277600" y="0"/>
                  </a:lnTo>
                </a:path>
              </a:pathLst>
            </a:custGeom>
            <a:noFill/>
            <a:ln w="9525">
              <a:solidFill>
                <a:schemeClr val="accent5"/>
              </a:solidFill>
            </a:ln>
          </p:spPr>
        </p:sp>
        <p:sp>
          <p:nvSpPr>
            <p:cNvPr id="20" name="Line 20"/>
            <p:cNvSpPr/>
            <p:nvPr/>
          </p:nvSpPr>
          <p:spPr>
            <a:xfrm>
              <a:off x="457200" y="4724400"/>
              <a:ext cx="11277600" cy="9525"/>
            </a:xfrm>
            <a:custGeom>
              <a:avLst/>
              <a:gdLst/>
              <a:ahLst/>
              <a:cxnLst/>
              <a:rect l="l" t="t" r="r" b="b"/>
              <a:pathLst>
                <a:path w="11277600" h="9525">
                  <a:moveTo>
                    <a:pt x="0" y="0"/>
                  </a:moveTo>
                  <a:lnTo>
                    <a:pt x="11277600" y="0"/>
                  </a:lnTo>
                </a:path>
              </a:pathLst>
            </a:custGeom>
            <a:noFill/>
            <a:ln w="9525">
              <a:solidFill>
                <a:schemeClr val="accent5"/>
              </a:solidFill>
            </a:ln>
          </p:spPr>
        </p:sp>
        <p:sp>
          <p:nvSpPr>
            <p:cNvPr id="21" name="Line 21"/>
            <p:cNvSpPr/>
            <p:nvPr/>
          </p:nvSpPr>
          <p:spPr>
            <a:xfrm>
              <a:off x="457200" y="5200650"/>
              <a:ext cx="11277600" cy="9525"/>
            </a:xfrm>
            <a:custGeom>
              <a:avLst/>
              <a:gdLst/>
              <a:ahLst/>
              <a:cxnLst/>
              <a:rect l="l" t="t" r="r" b="b"/>
              <a:pathLst>
                <a:path w="11277600" h="9525">
                  <a:moveTo>
                    <a:pt x="0" y="0"/>
                  </a:moveTo>
                  <a:lnTo>
                    <a:pt x="11277600" y="0"/>
                  </a:lnTo>
                </a:path>
              </a:pathLst>
            </a:custGeom>
            <a:noFill/>
            <a:ln w="9525">
              <a:solidFill>
                <a:schemeClr val="accent5"/>
              </a:solidFill>
            </a:ln>
          </p:spPr>
        </p:sp>
        <p:sp>
          <p:nvSpPr>
            <p:cNvPr id="22" name="Line 22"/>
            <p:cNvSpPr/>
            <p:nvPr/>
          </p:nvSpPr>
          <p:spPr>
            <a:xfrm>
              <a:off x="457200" y="5676900"/>
              <a:ext cx="11277600" cy="9525"/>
            </a:xfrm>
            <a:custGeom>
              <a:avLst/>
              <a:gdLst/>
              <a:ahLst/>
              <a:cxnLst/>
              <a:rect l="l" t="t" r="r" b="b"/>
              <a:pathLst>
                <a:path w="11277600" h="9525">
                  <a:moveTo>
                    <a:pt x="0" y="0"/>
                  </a:moveTo>
                  <a:lnTo>
                    <a:pt x="11277600" y="0"/>
                  </a:lnTo>
                </a:path>
              </a:pathLst>
            </a:custGeom>
            <a:noFill/>
            <a:ln w="9525">
              <a:solidFill>
                <a:schemeClr val="accent5"/>
              </a:solidFill>
            </a:ln>
          </p:spPr>
        </p:sp>
        <p:sp>
          <p:nvSpPr>
            <p:cNvPr id="23" name="TextBox 23"/>
            <p:cNvSpPr txBox="1"/>
            <p:nvPr/>
          </p:nvSpPr>
          <p:spPr>
            <a:xfrm>
              <a:off x="973893" y="2035492"/>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环节</a:t>
              </a:r>
            </a:p>
          </p:txBody>
        </p:sp>
        <p:sp>
          <p:nvSpPr>
            <p:cNvPr id="24" name="TextBox 24"/>
            <p:cNvSpPr txBox="1"/>
            <p:nvPr/>
          </p:nvSpPr>
          <p:spPr>
            <a:xfrm>
              <a:off x="2831106" y="203549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第一代</a:t>
              </a:r>
            </a:p>
          </p:txBody>
        </p:sp>
        <p:sp>
          <p:nvSpPr>
            <p:cNvPr id="25" name="TextBox 25"/>
            <p:cNvSpPr txBox="1"/>
            <p:nvPr/>
          </p:nvSpPr>
          <p:spPr>
            <a:xfrm>
              <a:off x="6021981" y="203549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第二代</a:t>
              </a:r>
            </a:p>
          </p:txBody>
        </p:sp>
        <p:sp>
          <p:nvSpPr>
            <p:cNvPr id="26" name="TextBox 26"/>
            <p:cNvSpPr txBox="1"/>
            <p:nvPr/>
          </p:nvSpPr>
          <p:spPr>
            <a:xfrm>
              <a:off x="9612744" y="2035492"/>
              <a:ext cx="77701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当前边界</a:t>
              </a:r>
            </a:p>
          </p:txBody>
        </p:sp>
        <p:sp>
          <p:nvSpPr>
            <p:cNvPr id="27" name="TextBox 27"/>
            <p:cNvSpPr txBox="1"/>
            <p:nvPr/>
          </p:nvSpPr>
          <p:spPr>
            <a:xfrm>
              <a:off x="603504" y="2499360"/>
              <a:ext cx="690677"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数据入口</a:t>
              </a:r>
            </a:p>
          </p:txBody>
        </p:sp>
        <p:sp>
          <p:nvSpPr>
            <p:cNvPr id="28" name="TextBox 28"/>
            <p:cNvSpPr txBox="1"/>
            <p:nvPr/>
          </p:nvSpPr>
          <p:spPr>
            <a:xfrm>
              <a:off x="2032254" y="2499360"/>
              <a:ext cx="162763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一材料一行；口径较粗</a:t>
              </a:r>
            </a:p>
          </p:txBody>
        </p:sp>
        <p:sp>
          <p:nvSpPr>
            <p:cNvPr id="29" name="TextBox 29"/>
            <p:cNvSpPr txBox="1"/>
            <p:nvPr/>
          </p:nvSpPr>
          <p:spPr>
            <a:xfrm>
              <a:off x="4508754" y="2423160"/>
              <a:ext cx="1467612" cy="425196"/>
            </a:xfrm>
            <a:prstGeom prst="rect">
              <a:avLst/>
            </a:prstGeom>
            <a:noFill/>
            <a:ln>
              <a:noFill/>
            </a:ln>
          </p:spPr>
          <p:txBody>
            <a:bodyPr wrap="square" lIns="0" tIns="0" rIns="0" bIns="0" anchor="t" anchorCtr="0"/>
            <a:lstStyle/>
            <a:p>
              <a:pPr algn="l">
                <a:lnSpc>
                  <a:spcPts val="1500"/>
                </a:lnSpc>
              </a:pPr>
              <a:r>
                <a:rPr lang="zh-CN" sz="1200" dirty="0">
                  <a:solidFill>
                    <a:schemeClr val="dk1"/>
                  </a:solidFill>
                  <a:latin typeface="+mn-lt"/>
                  <a:ea typeface="+mn-ea"/>
                  <a:cs typeface="+mn-cs"/>
                </a:rPr>
                <a:t>材料表/测量表分开；室温值选择</a:t>
              </a:r>
            </a:p>
          </p:txBody>
        </p:sp>
        <p:sp>
          <p:nvSpPr>
            <p:cNvPr id="30" name="TextBox 30"/>
            <p:cNvSpPr txBox="1"/>
            <p:nvPr/>
          </p:nvSpPr>
          <p:spPr>
            <a:xfrm>
              <a:off x="8414004" y="2423160"/>
              <a:ext cx="1078992" cy="425196"/>
            </a:xfrm>
            <a:prstGeom prst="rect">
              <a:avLst/>
            </a:prstGeom>
            <a:noFill/>
            <a:ln>
              <a:noFill/>
            </a:ln>
          </p:spPr>
          <p:txBody>
            <a:bodyPr wrap="square" lIns="0" tIns="0" rIns="0" bIns="0" anchor="t" anchorCtr="0"/>
            <a:lstStyle/>
            <a:p>
              <a:pPr algn="l">
                <a:lnSpc>
                  <a:spcPts val="1500"/>
                </a:lnSpc>
              </a:pPr>
              <a:r>
                <a:rPr lang="zh-CN" sz="1200" dirty="0">
                  <a:solidFill>
                    <a:schemeClr val="accent2"/>
                  </a:solidFill>
                  <a:latin typeface="+mn-lt"/>
                  <a:ea typeface="+mn-ea"/>
                  <a:cs typeface="+mn-cs"/>
                </a:rPr>
                <a:t>来源与体系标签仍需人工核实</a:t>
              </a:r>
            </a:p>
          </p:txBody>
        </p:sp>
        <p:sp>
          <p:nvSpPr>
            <p:cNvPr id="31" name="TextBox 31"/>
            <p:cNvSpPr txBox="1"/>
            <p:nvPr/>
          </p:nvSpPr>
          <p:spPr>
            <a:xfrm>
              <a:off x="603504" y="2975610"/>
              <a:ext cx="86029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第一轮比较</a:t>
              </a:r>
            </a:p>
          </p:txBody>
        </p:sp>
        <p:sp>
          <p:nvSpPr>
            <p:cNvPr id="32" name="TextBox 32"/>
            <p:cNvSpPr txBox="1"/>
            <p:nvPr/>
          </p:nvSpPr>
          <p:spPr>
            <a:xfrm>
              <a:off x="2032254" y="2975610"/>
              <a:ext cx="11430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全样本直接排序</a:t>
              </a:r>
            </a:p>
          </p:txBody>
        </p:sp>
        <p:sp>
          <p:nvSpPr>
            <p:cNvPr id="33" name="TextBox 33"/>
            <p:cNvSpPr txBox="1"/>
            <p:nvPr/>
          </p:nvSpPr>
          <p:spPr>
            <a:xfrm>
              <a:off x="4508754" y="2899410"/>
              <a:ext cx="1078992" cy="425196"/>
            </a:xfrm>
            <a:prstGeom prst="rect">
              <a:avLst/>
            </a:prstGeom>
            <a:noFill/>
            <a:ln>
              <a:noFill/>
            </a:ln>
          </p:spPr>
          <p:txBody>
            <a:bodyPr wrap="square" lIns="0" tIns="0" rIns="0" bIns="0" anchor="t" anchorCtr="0"/>
            <a:lstStyle/>
            <a:p>
              <a:pPr algn="l">
                <a:lnSpc>
                  <a:spcPts val="1500"/>
                </a:lnSpc>
              </a:pPr>
              <a:r>
                <a:rPr lang="zh-CN" sz="1200" dirty="0">
                  <a:solidFill>
                    <a:schemeClr val="dk1"/>
                  </a:solidFill>
                  <a:latin typeface="+mn-lt"/>
                  <a:ea typeface="+mn-ea"/>
                  <a:cs typeface="+mn-cs"/>
                </a:rPr>
                <a:t>扣除体系差异；再看体系内排序</a:t>
              </a:r>
            </a:p>
          </p:txBody>
        </p:sp>
        <p:sp>
          <p:nvSpPr>
            <p:cNvPr id="34" name="TextBox 34"/>
            <p:cNvSpPr txBox="1"/>
            <p:nvPr/>
          </p:nvSpPr>
          <p:spPr>
            <a:xfrm>
              <a:off x="8414004" y="2899410"/>
              <a:ext cx="1231392" cy="425196"/>
            </a:xfrm>
            <a:prstGeom prst="rect">
              <a:avLst/>
            </a:prstGeom>
            <a:noFill/>
            <a:ln>
              <a:noFill/>
            </a:ln>
          </p:spPr>
          <p:txBody>
            <a:bodyPr wrap="square" lIns="0" tIns="0" rIns="0" bIns="0" anchor="t" anchorCtr="0"/>
            <a:lstStyle/>
            <a:p>
              <a:pPr algn="l">
                <a:lnSpc>
                  <a:spcPts val="1500"/>
                </a:lnSpc>
              </a:pPr>
              <a:r>
                <a:rPr lang="zh-CN" sz="1200" dirty="0">
                  <a:solidFill>
                    <a:schemeClr val="accent2"/>
                  </a:solidFill>
                  <a:latin typeface="+mn-lt"/>
                  <a:ea typeface="+mn-ea"/>
                  <a:cs typeface="+mn-cs"/>
                </a:rPr>
                <a:t>致密度与测试方法未控制</a:t>
              </a:r>
            </a:p>
          </p:txBody>
        </p:sp>
        <p:sp>
          <p:nvSpPr>
            <p:cNvPr id="35" name="TextBox 35"/>
            <p:cNvSpPr txBox="1"/>
            <p:nvPr/>
          </p:nvSpPr>
          <p:spPr>
            <a:xfrm>
              <a:off x="603504" y="3451860"/>
              <a:ext cx="86029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描述符身份</a:t>
              </a:r>
            </a:p>
          </p:txBody>
        </p:sp>
        <p:sp>
          <p:nvSpPr>
            <p:cNvPr id="36" name="TextBox 36"/>
            <p:cNvSpPr txBox="1"/>
            <p:nvPr/>
          </p:nvSpPr>
          <p:spPr>
            <a:xfrm>
              <a:off x="2032254" y="3451860"/>
              <a:ext cx="11430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计算后直接使用</a:t>
              </a:r>
            </a:p>
          </p:txBody>
        </p:sp>
        <p:sp>
          <p:nvSpPr>
            <p:cNvPr id="37" name="TextBox 37"/>
            <p:cNvSpPr txBox="1"/>
            <p:nvPr/>
          </p:nvSpPr>
          <p:spPr>
            <a:xfrm>
              <a:off x="4508754" y="3375660"/>
              <a:ext cx="1536192" cy="425196"/>
            </a:xfrm>
            <a:prstGeom prst="rect">
              <a:avLst/>
            </a:prstGeom>
            <a:noFill/>
            <a:ln>
              <a:noFill/>
            </a:ln>
          </p:spPr>
          <p:txBody>
            <a:bodyPr wrap="square" lIns="0" tIns="0" rIns="0" bIns="0" anchor="t" anchorCtr="0"/>
            <a:lstStyle/>
            <a:p>
              <a:pPr algn="l">
                <a:lnSpc>
                  <a:spcPts val="1500"/>
                </a:lnSpc>
              </a:pPr>
              <a:r>
                <a:rPr lang="zh-CN" sz="1200" dirty="0">
                  <a:solidFill>
                    <a:schemeClr val="dk1"/>
                  </a:solidFill>
                  <a:latin typeface="+mn-lt"/>
                  <a:ea typeface="+mn-ea"/>
                  <a:cs typeface="+mn-cs"/>
                </a:rPr>
                <a:t>登记公式、单位、来源与写法敏感性</a:t>
              </a:r>
            </a:p>
          </p:txBody>
        </p:sp>
        <p:sp>
          <p:nvSpPr>
            <p:cNvPr id="38" name="TextBox 38"/>
            <p:cNvSpPr txBox="1"/>
            <p:nvPr/>
          </p:nvSpPr>
          <p:spPr>
            <a:xfrm>
              <a:off x="8414004" y="3451860"/>
              <a:ext cx="1571092"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205处身份字段待完成</a:t>
              </a:r>
            </a:p>
          </p:txBody>
        </p:sp>
        <p:sp>
          <p:nvSpPr>
            <p:cNvPr id="39" name="TextBox 39"/>
            <p:cNvSpPr txBox="1"/>
            <p:nvPr/>
          </p:nvSpPr>
          <p:spPr>
            <a:xfrm>
              <a:off x="603504" y="3928110"/>
              <a:ext cx="5210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稳定性</a:t>
              </a:r>
            </a:p>
          </p:txBody>
        </p:sp>
        <p:sp>
          <p:nvSpPr>
            <p:cNvPr id="40" name="TextBox 40"/>
            <p:cNvSpPr txBox="1"/>
            <p:nvPr/>
          </p:nvSpPr>
          <p:spPr>
            <a:xfrm>
              <a:off x="2032254" y="3928110"/>
              <a:ext cx="140954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200次重采样看排名</a:t>
              </a:r>
            </a:p>
          </p:txBody>
        </p:sp>
        <p:sp>
          <p:nvSpPr>
            <p:cNvPr id="41" name="TextBox 41"/>
            <p:cNvSpPr txBox="1"/>
            <p:nvPr/>
          </p:nvSpPr>
          <p:spPr>
            <a:xfrm>
              <a:off x="4508754" y="3851910"/>
              <a:ext cx="1231392" cy="425196"/>
            </a:xfrm>
            <a:prstGeom prst="rect">
              <a:avLst/>
            </a:prstGeom>
            <a:noFill/>
            <a:ln>
              <a:noFill/>
            </a:ln>
          </p:spPr>
          <p:txBody>
            <a:bodyPr wrap="square" lIns="0" tIns="0" rIns="0" bIns="0" anchor="t" anchorCtr="0"/>
            <a:lstStyle/>
            <a:p>
              <a:pPr algn="l">
                <a:lnSpc>
                  <a:spcPts val="1500"/>
                </a:lnSpc>
              </a:pPr>
              <a:r>
                <a:rPr lang="zh-CN" sz="1200" dirty="0">
                  <a:solidFill>
                    <a:schemeClr val="dk1"/>
                  </a:solidFill>
                  <a:latin typeface="+mn-lt"/>
                  <a:ea typeface="+mn-ea"/>
                  <a:cs typeface="+mn-cs"/>
                </a:rPr>
                <a:t>反复半样本；每次重做稀疏选择</a:t>
              </a:r>
            </a:p>
          </p:txBody>
        </p:sp>
        <p:sp>
          <p:nvSpPr>
            <p:cNvPr id="42" name="TextBox 42"/>
            <p:cNvSpPr txBox="1"/>
            <p:nvPr/>
          </p:nvSpPr>
          <p:spPr>
            <a:xfrm>
              <a:off x="8414004" y="3928110"/>
              <a:ext cx="114300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仍属探索性选择</a:t>
              </a:r>
            </a:p>
          </p:txBody>
        </p:sp>
        <p:sp>
          <p:nvSpPr>
            <p:cNvPr id="43" name="TextBox 43"/>
            <p:cNvSpPr txBox="1"/>
            <p:nvPr/>
          </p:nvSpPr>
          <p:spPr>
            <a:xfrm>
              <a:off x="603504" y="4404360"/>
              <a:ext cx="35143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冗余</a:t>
              </a:r>
            </a:p>
          </p:txBody>
        </p:sp>
        <p:sp>
          <p:nvSpPr>
            <p:cNvPr id="44" name="TextBox 44"/>
            <p:cNvSpPr txBox="1"/>
            <p:nvPr/>
          </p:nvSpPr>
          <p:spPr>
            <a:xfrm>
              <a:off x="2032254" y="4404360"/>
              <a:ext cx="98145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没有系统去重</a:t>
              </a:r>
            </a:p>
          </p:txBody>
        </p:sp>
        <p:sp>
          <p:nvSpPr>
            <p:cNvPr id="45" name="TextBox 45"/>
            <p:cNvSpPr txBox="1"/>
            <p:nvPr/>
          </p:nvSpPr>
          <p:spPr>
            <a:xfrm>
              <a:off x="4508754" y="4328160"/>
              <a:ext cx="1231392" cy="425196"/>
            </a:xfrm>
            <a:prstGeom prst="rect">
              <a:avLst/>
            </a:prstGeom>
            <a:noFill/>
            <a:ln>
              <a:noFill/>
            </a:ln>
          </p:spPr>
          <p:txBody>
            <a:bodyPr wrap="square" lIns="0" tIns="0" rIns="0" bIns="0" anchor="t" anchorCtr="0"/>
            <a:lstStyle/>
            <a:p>
              <a:pPr algn="l">
                <a:lnSpc>
                  <a:spcPts val="1500"/>
                </a:lnSpc>
              </a:pPr>
              <a:r>
                <a:rPr lang="zh-CN" sz="1200" dirty="0">
                  <a:solidFill>
                    <a:schemeClr val="dk1"/>
                  </a:solidFill>
                  <a:latin typeface="+mn-lt"/>
                  <a:ea typeface="+mn-ea"/>
                  <a:cs typeface="+mn-cs"/>
                </a:rPr>
                <a:t>别名、共同来源、物理类别分层</a:t>
              </a:r>
            </a:p>
          </p:txBody>
        </p:sp>
        <p:sp>
          <p:nvSpPr>
            <p:cNvPr id="46" name="TextBox 46"/>
            <p:cNvSpPr txBox="1"/>
            <p:nvPr/>
          </p:nvSpPr>
          <p:spPr>
            <a:xfrm>
              <a:off x="8414004" y="4404360"/>
              <a:ext cx="130454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相关簇未自动实现</a:t>
              </a:r>
            </a:p>
          </p:txBody>
        </p:sp>
        <p:sp>
          <p:nvSpPr>
            <p:cNvPr id="47" name="TextBox 47"/>
            <p:cNvSpPr txBox="1"/>
            <p:nvPr/>
          </p:nvSpPr>
          <p:spPr>
            <a:xfrm>
              <a:off x="603504" y="4880610"/>
              <a:ext cx="35143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组合</a:t>
              </a:r>
            </a:p>
          </p:txBody>
        </p:sp>
        <p:sp>
          <p:nvSpPr>
            <p:cNvPr id="48" name="TextBox 48"/>
            <p:cNvSpPr txBox="1"/>
            <p:nvPr/>
          </p:nvSpPr>
          <p:spPr>
            <a:xfrm>
              <a:off x="2032254" y="4880610"/>
              <a:ext cx="146608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大量手写公式后排名</a:t>
              </a:r>
            </a:p>
          </p:txBody>
        </p:sp>
        <p:sp>
          <p:nvSpPr>
            <p:cNvPr id="49" name="TextBox 49"/>
            <p:cNvSpPr txBox="1"/>
            <p:nvPr/>
          </p:nvSpPr>
          <p:spPr>
            <a:xfrm>
              <a:off x="4508754" y="4804410"/>
              <a:ext cx="1078992" cy="425196"/>
            </a:xfrm>
            <a:prstGeom prst="rect">
              <a:avLst/>
            </a:prstGeom>
            <a:noFill/>
            <a:ln>
              <a:noFill/>
            </a:ln>
          </p:spPr>
          <p:txBody>
            <a:bodyPr wrap="square" lIns="0" tIns="0" rIns="0" bIns="0" anchor="t" anchorCtr="0"/>
            <a:lstStyle/>
            <a:p>
              <a:pPr algn="l">
                <a:lnSpc>
                  <a:spcPts val="1500"/>
                </a:lnSpc>
              </a:pPr>
              <a:r>
                <a:rPr lang="zh-CN" sz="1200" dirty="0">
                  <a:solidFill>
                    <a:schemeClr val="dk1"/>
                  </a:solidFill>
                  <a:latin typeface="+mn-lt"/>
                  <a:ea typeface="+mn-ea"/>
                  <a:cs typeface="+mn-cs"/>
                </a:rPr>
                <a:t>限制类别、算符与量纲</a:t>
              </a:r>
            </a:p>
          </p:txBody>
        </p:sp>
        <p:sp>
          <p:nvSpPr>
            <p:cNvPr id="50" name="TextBox 50"/>
            <p:cNvSpPr txBox="1"/>
            <p:nvPr/>
          </p:nvSpPr>
          <p:spPr>
            <a:xfrm>
              <a:off x="8414004" y="4804410"/>
              <a:ext cx="1078992" cy="425196"/>
            </a:xfrm>
            <a:prstGeom prst="rect">
              <a:avLst/>
            </a:prstGeom>
            <a:noFill/>
            <a:ln>
              <a:noFill/>
            </a:ln>
          </p:spPr>
          <p:txBody>
            <a:bodyPr wrap="square" lIns="0" tIns="0" rIns="0" bIns="0" anchor="t" anchorCtr="0"/>
            <a:lstStyle/>
            <a:p>
              <a:pPr algn="l">
                <a:lnSpc>
                  <a:spcPts val="1500"/>
                </a:lnSpc>
              </a:pPr>
              <a:r>
                <a:rPr lang="zh-CN" sz="1200" dirty="0">
                  <a:solidFill>
                    <a:schemeClr val="accent2"/>
                  </a:solidFill>
                  <a:latin typeface="+mn-lt"/>
                  <a:ea typeface="+mn-ea"/>
                  <a:cs typeface="+mn-cs"/>
                </a:rPr>
                <a:t>选择后不确定性仍需加强</a:t>
              </a:r>
            </a:p>
          </p:txBody>
        </p:sp>
        <p:sp>
          <p:nvSpPr>
            <p:cNvPr id="51" name="TextBox 51"/>
            <p:cNvSpPr txBox="1"/>
            <p:nvPr/>
          </p:nvSpPr>
          <p:spPr>
            <a:xfrm>
              <a:off x="603504" y="5356860"/>
              <a:ext cx="5210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跨体系</a:t>
              </a:r>
            </a:p>
          </p:txBody>
        </p:sp>
        <p:sp>
          <p:nvSpPr>
            <p:cNvPr id="52" name="TextBox 52"/>
            <p:cNvSpPr txBox="1"/>
            <p:nvPr/>
          </p:nvSpPr>
          <p:spPr>
            <a:xfrm>
              <a:off x="2032254" y="5356860"/>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少量候选做过留出</a:t>
              </a:r>
            </a:p>
          </p:txBody>
        </p:sp>
        <p:sp>
          <p:nvSpPr>
            <p:cNvPr id="53" name="TextBox 53"/>
            <p:cNvSpPr txBox="1"/>
            <p:nvPr/>
          </p:nvSpPr>
          <p:spPr>
            <a:xfrm>
              <a:off x="4508754" y="5356860"/>
              <a:ext cx="1531315"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当前没有真正 LOSO</a:t>
              </a:r>
            </a:p>
          </p:txBody>
        </p:sp>
        <p:sp>
          <p:nvSpPr>
            <p:cNvPr id="54" name="TextBox 54"/>
            <p:cNvSpPr txBox="1"/>
            <p:nvPr/>
          </p:nvSpPr>
          <p:spPr>
            <a:xfrm>
              <a:off x="8414004" y="5356860"/>
              <a:ext cx="1029919"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不能宣称外推</a:t>
              </a:r>
            </a:p>
          </p:txBody>
        </p:sp>
      </p:grpSp>
      <p:grpSp>
        <p:nvGrpSpPr>
          <p:cNvPr id="58" name="Group 58"/>
          <p:cNvGrpSpPr/>
          <p:nvPr/>
        </p:nvGrpSpPr>
        <p:grpSpPr>
          <a:xfrm>
            <a:off x="451104" y="6356985"/>
            <a:ext cx="11289030" cy="234696"/>
            <a:chOff x="451104" y="6356985"/>
            <a:chExt cx="11289030" cy="234696"/>
          </a:xfrm>
        </p:grpSpPr>
        <p:sp>
          <p:nvSpPr>
            <p:cNvPr id="56" name="TextBox 56"/>
            <p:cNvSpPr txBox="1"/>
            <p:nvPr/>
          </p:nvSpPr>
          <p:spPr>
            <a:xfrm>
              <a:off x="451104" y="6356985"/>
              <a:ext cx="4567733"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第一代回答“谁分数高”；第二代先问“这些分数是否具有可比性”</a:t>
              </a:r>
            </a:p>
          </p:txBody>
        </p:sp>
        <p:sp>
          <p:nvSpPr>
            <p:cNvPr id="57" name="TextBox 57"/>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07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36856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08｜第一道防线</a:t>
              </a:r>
            </a:p>
          </p:txBody>
        </p:sp>
        <p:sp>
          <p:nvSpPr>
            <p:cNvPr id="3" name="TextBox 3"/>
            <p:cNvSpPr txBox="1"/>
            <p:nvPr/>
          </p:nvSpPr>
          <p:spPr>
            <a:xfrm>
              <a:off x="441198" y="650558"/>
              <a:ext cx="520705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先把材料体系的起点扣掉</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7" name="Group 7"/>
          <p:cNvGrpSpPr/>
          <p:nvPr/>
        </p:nvGrpSpPr>
        <p:grpSpPr>
          <a:xfrm>
            <a:off x="445770" y="1395412"/>
            <a:ext cx="7292340" cy="440055"/>
            <a:chOff x="445770" y="1395412"/>
            <a:chExt cx="7292340" cy="440055"/>
          </a:xfrm>
        </p:grpSpPr>
        <p:sp>
          <p:nvSpPr>
            <p:cNvPr id="6" name="TextBox 6"/>
            <p:cNvSpPr txBox="1"/>
            <p:nvPr/>
          </p:nvSpPr>
          <p:spPr>
            <a:xfrm>
              <a:off x="445770" y="1395412"/>
              <a:ext cx="7292340"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先校正不同起跑线，再问结构量与电导率是否仍同向。</a:t>
              </a:r>
            </a:p>
          </p:txBody>
        </p:sp>
      </p:grpSp>
      <p:grpSp>
        <p:nvGrpSpPr>
          <p:cNvPr id="25" name="Group 25"/>
          <p:cNvGrpSpPr/>
          <p:nvPr/>
        </p:nvGrpSpPr>
        <p:grpSpPr>
          <a:xfrm>
            <a:off x="450342" y="2121218"/>
            <a:ext cx="3950208" cy="3102483"/>
            <a:chOff x="450342" y="2121218"/>
            <a:chExt cx="3950208" cy="3102483"/>
          </a:xfrm>
        </p:grpSpPr>
        <p:sp>
          <p:nvSpPr>
            <p:cNvPr id="8" name="TextBox 8"/>
            <p:cNvSpPr txBox="1"/>
            <p:nvPr/>
          </p:nvSpPr>
          <p:spPr>
            <a:xfrm>
              <a:off x="450342" y="2121218"/>
              <a:ext cx="230360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错误路径｜全样本直接比较</a:t>
              </a:r>
            </a:p>
          </p:txBody>
        </p:sp>
        <p:sp>
          <p:nvSpPr>
            <p:cNvPr id="9" name="Line 9"/>
            <p:cNvSpPr/>
            <p:nvPr/>
          </p:nvSpPr>
          <p:spPr>
            <a:xfrm>
              <a:off x="1390650" y="3067050"/>
              <a:ext cx="3009900" cy="9525"/>
            </a:xfrm>
            <a:custGeom>
              <a:avLst/>
              <a:gdLst/>
              <a:ahLst/>
              <a:cxnLst/>
              <a:rect l="l" t="t" r="r" b="b"/>
              <a:pathLst>
                <a:path w="3009900" h="9525">
                  <a:moveTo>
                    <a:pt x="0" y="0"/>
                  </a:moveTo>
                  <a:lnTo>
                    <a:pt x="3009900" y="0"/>
                  </a:lnTo>
                </a:path>
              </a:pathLst>
            </a:custGeom>
            <a:noFill/>
            <a:ln w="38100">
              <a:solidFill>
                <a:schemeClr val="accent5"/>
              </a:solidFill>
            </a:ln>
          </p:spPr>
        </p:sp>
        <p:sp>
          <p:nvSpPr>
            <p:cNvPr id="10" name="Line 10"/>
            <p:cNvSpPr/>
            <p:nvPr/>
          </p:nvSpPr>
          <p:spPr>
            <a:xfrm>
              <a:off x="1390650" y="3810000"/>
              <a:ext cx="3009900" cy="9525"/>
            </a:xfrm>
            <a:custGeom>
              <a:avLst/>
              <a:gdLst/>
              <a:ahLst/>
              <a:cxnLst/>
              <a:rect l="l" t="t" r="r" b="b"/>
              <a:pathLst>
                <a:path w="3009900" h="9525">
                  <a:moveTo>
                    <a:pt x="0" y="0"/>
                  </a:moveTo>
                  <a:lnTo>
                    <a:pt x="3009900" y="0"/>
                  </a:lnTo>
                </a:path>
              </a:pathLst>
            </a:custGeom>
            <a:noFill/>
            <a:ln w="38100">
              <a:solidFill>
                <a:schemeClr val="accent5"/>
              </a:solidFill>
            </a:ln>
          </p:spPr>
        </p:sp>
        <p:sp>
          <p:nvSpPr>
            <p:cNvPr id="11" name="Line 11"/>
            <p:cNvSpPr/>
            <p:nvPr/>
          </p:nvSpPr>
          <p:spPr>
            <a:xfrm>
              <a:off x="1390650" y="4552950"/>
              <a:ext cx="3009900" cy="9525"/>
            </a:xfrm>
            <a:custGeom>
              <a:avLst/>
              <a:gdLst/>
              <a:ahLst/>
              <a:cxnLst/>
              <a:rect l="l" t="t" r="r" b="b"/>
              <a:pathLst>
                <a:path w="3009900" h="9525">
                  <a:moveTo>
                    <a:pt x="0" y="0"/>
                  </a:moveTo>
                  <a:lnTo>
                    <a:pt x="3009900" y="0"/>
                  </a:lnTo>
                </a:path>
              </a:pathLst>
            </a:custGeom>
            <a:noFill/>
            <a:ln w="38100">
              <a:solidFill>
                <a:schemeClr val="accent5"/>
              </a:solidFill>
            </a:ln>
          </p:spPr>
        </p:sp>
        <p:sp>
          <p:nvSpPr>
            <p:cNvPr id="12" name="TextBox 12"/>
            <p:cNvSpPr txBox="1"/>
            <p:nvPr/>
          </p:nvSpPr>
          <p:spPr>
            <a:xfrm>
              <a:off x="450342" y="2978468"/>
              <a:ext cx="55892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硫化物</a:t>
              </a:r>
            </a:p>
          </p:txBody>
        </p:sp>
        <p:sp>
          <p:nvSpPr>
            <p:cNvPr id="13" name="TextBox 13"/>
            <p:cNvSpPr txBox="1"/>
            <p:nvPr/>
          </p:nvSpPr>
          <p:spPr>
            <a:xfrm>
              <a:off x="450342" y="3721418"/>
              <a:ext cx="74340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NASICON</a:t>
              </a:r>
            </a:p>
          </p:txBody>
        </p:sp>
        <p:sp>
          <p:nvSpPr>
            <p:cNvPr id="14" name="TextBox 14"/>
            <p:cNvSpPr txBox="1"/>
            <p:nvPr/>
          </p:nvSpPr>
          <p:spPr>
            <a:xfrm>
              <a:off x="450342" y="4464368"/>
              <a:ext cx="55892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卤化物</a:t>
              </a:r>
            </a:p>
          </p:txBody>
        </p:sp>
        <p:sp>
          <p:nvSpPr>
            <p:cNvPr id="15" name="Ellipse 15"/>
            <p:cNvSpPr/>
            <p:nvPr/>
          </p:nvSpPr>
          <p:spPr>
            <a:xfrm>
              <a:off x="2028825" y="2733675"/>
              <a:ext cx="171450" cy="171450"/>
            </a:xfrm>
            <a:prstGeom prst="ellipse">
              <a:avLst/>
            </a:prstGeom>
            <a:solidFill>
              <a:schemeClr val="accent2"/>
            </a:solidFill>
            <a:ln>
              <a:noFill/>
            </a:ln>
          </p:spPr>
        </p:sp>
        <p:sp>
          <p:nvSpPr>
            <p:cNvPr id="16" name="Ellipse 16"/>
            <p:cNvSpPr/>
            <p:nvPr/>
          </p:nvSpPr>
          <p:spPr>
            <a:xfrm>
              <a:off x="2828925" y="2562225"/>
              <a:ext cx="171450" cy="171450"/>
            </a:xfrm>
            <a:prstGeom prst="ellipse">
              <a:avLst/>
            </a:prstGeom>
            <a:solidFill>
              <a:schemeClr val="accent2"/>
            </a:solidFill>
            <a:ln>
              <a:noFill/>
            </a:ln>
          </p:spPr>
        </p:sp>
        <p:sp>
          <p:nvSpPr>
            <p:cNvPr id="17" name="Ellipse 17"/>
            <p:cNvSpPr/>
            <p:nvPr/>
          </p:nvSpPr>
          <p:spPr>
            <a:xfrm>
              <a:off x="3629025" y="2390775"/>
              <a:ext cx="171450" cy="171450"/>
            </a:xfrm>
            <a:prstGeom prst="ellipse">
              <a:avLst/>
            </a:prstGeom>
            <a:solidFill>
              <a:schemeClr val="accent2"/>
            </a:solidFill>
            <a:ln>
              <a:noFill/>
            </a:ln>
          </p:spPr>
        </p:sp>
        <p:sp>
          <p:nvSpPr>
            <p:cNvPr id="18" name="Ellipse 18"/>
            <p:cNvSpPr/>
            <p:nvPr/>
          </p:nvSpPr>
          <p:spPr>
            <a:xfrm>
              <a:off x="2028825" y="3876675"/>
              <a:ext cx="171450" cy="171450"/>
            </a:xfrm>
            <a:prstGeom prst="ellipse">
              <a:avLst/>
            </a:prstGeom>
            <a:solidFill>
              <a:schemeClr val="accent1"/>
            </a:solidFill>
            <a:ln>
              <a:noFill/>
            </a:ln>
          </p:spPr>
        </p:sp>
        <p:sp>
          <p:nvSpPr>
            <p:cNvPr id="19" name="Ellipse 19"/>
            <p:cNvSpPr/>
            <p:nvPr/>
          </p:nvSpPr>
          <p:spPr>
            <a:xfrm>
              <a:off x="2828925" y="3686175"/>
              <a:ext cx="171450" cy="171450"/>
            </a:xfrm>
            <a:prstGeom prst="ellipse">
              <a:avLst/>
            </a:prstGeom>
            <a:solidFill>
              <a:schemeClr val="accent1"/>
            </a:solidFill>
            <a:ln>
              <a:noFill/>
            </a:ln>
          </p:spPr>
        </p:sp>
        <p:sp>
          <p:nvSpPr>
            <p:cNvPr id="20" name="Ellipse 20"/>
            <p:cNvSpPr/>
            <p:nvPr/>
          </p:nvSpPr>
          <p:spPr>
            <a:xfrm>
              <a:off x="3629025" y="3495675"/>
              <a:ext cx="171450" cy="171450"/>
            </a:xfrm>
            <a:prstGeom prst="ellipse">
              <a:avLst/>
            </a:prstGeom>
            <a:solidFill>
              <a:schemeClr val="accent1"/>
            </a:solidFill>
            <a:ln>
              <a:noFill/>
            </a:ln>
          </p:spPr>
        </p:sp>
        <p:sp>
          <p:nvSpPr>
            <p:cNvPr id="21" name="Ellipse 21"/>
            <p:cNvSpPr/>
            <p:nvPr/>
          </p:nvSpPr>
          <p:spPr>
            <a:xfrm>
              <a:off x="2028825" y="4772025"/>
              <a:ext cx="171450" cy="171450"/>
            </a:xfrm>
            <a:prstGeom prst="ellipse">
              <a:avLst/>
            </a:prstGeom>
            <a:solidFill>
              <a:schemeClr val="accent3"/>
            </a:solidFill>
            <a:ln>
              <a:noFill/>
            </a:ln>
          </p:spPr>
        </p:sp>
        <p:sp>
          <p:nvSpPr>
            <p:cNvPr id="22" name="Ellipse 22"/>
            <p:cNvSpPr/>
            <p:nvPr/>
          </p:nvSpPr>
          <p:spPr>
            <a:xfrm>
              <a:off x="2828925" y="4562475"/>
              <a:ext cx="171450" cy="171450"/>
            </a:xfrm>
            <a:prstGeom prst="ellipse">
              <a:avLst/>
            </a:prstGeom>
            <a:solidFill>
              <a:schemeClr val="accent3"/>
            </a:solidFill>
            <a:ln>
              <a:noFill/>
            </a:ln>
          </p:spPr>
        </p:sp>
        <p:sp>
          <p:nvSpPr>
            <p:cNvPr id="23" name="Ellipse 23"/>
            <p:cNvSpPr/>
            <p:nvPr/>
          </p:nvSpPr>
          <p:spPr>
            <a:xfrm>
              <a:off x="3629025" y="4352925"/>
              <a:ext cx="171450" cy="171450"/>
            </a:xfrm>
            <a:prstGeom prst="ellipse">
              <a:avLst/>
            </a:prstGeom>
            <a:solidFill>
              <a:schemeClr val="accent3"/>
            </a:solidFill>
            <a:ln>
              <a:noFill/>
            </a:ln>
          </p:spPr>
        </p:sp>
        <p:sp>
          <p:nvSpPr>
            <p:cNvPr id="24" name="TextBox 24"/>
            <p:cNvSpPr txBox="1"/>
            <p:nvPr/>
          </p:nvSpPr>
          <p:spPr>
            <a:xfrm>
              <a:off x="450342" y="4959668"/>
              <a:ext cx="273977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体系身份本身就可能制造整体相关</a:t>
              </a:r>
            </a:p>
          </p:txBody>
        </p:sp>
      </p:grpSp>
      <p:grpSp>
        <p:nvGrpSpPr>
          <p:cNvPr id="29" name="Group 29"/>
          <p:cNvGrpSpPr/>
          <p:nvPr/>
        </p:nvGrpSpPr>
        <p:grpSpPr>
          <a:xfrm>
            <a:off x="4549245" y="2702242"/>
            <a:ext cx="2712510" cy="1511809"/>
            <a:chOff x="4549245" y="2702242"/>
            <a:chExt cx="2712510" cy="1511809"/>
          </a:xfrm>
        </p:grpSpPr>
        <p:sp>
          <p:nvSpPr>
            <p:cNvPr id="26" name="TextBox 26"/>
            <p:cNvSpPr txBox="1"/>
            <p:nvPr/>
          </p:nvSpPr>
          <p:spPr>
            <a:xfrm>
              <a:off x="5646180" y="2702242"/>
              <a:ext cx="518640" cy="1133475"/>
            </a:xfrm>
            <a:prstGeom prst="rect">
              <a:avLst/>
            </a:prstGeom>
            <a:noFill/>
            <a:ln>
              <a:noFill/>
            </a:ln>
          </p:spPr>
          <p:txBody>
            <a:bodyPr wrap="none" lIns="0" tIns="0" rIns="0" bIns="0" anchor="t" anchorCtr="0">
              <a:spAutoFit/>
            </a:bodyPr>
            <a:lstStyle/>
            <a:p>
              <a:pPr algn="ctr"/>
              <a:r>
                <a:rPr lang="en-US" sz="5850" b="1" dirty="0">
                  <a:solidFill>
                    <a:schemeClr val="accent2"/>
                  </a:solidFill>
                  <a:latin typeface="+mj-lt"/>
                  <a:ea typeface="+mj-ea"/>
                  <a:cs typeface="+mj-cs"/>
                </a:rPr>
                <a:t>−</a:t>
              </a:r>
            </a:p>
          </p:txBody>
        </p:sp>
        <p:sp>
          <p:nvSpPr>
            <p:cNvPr id="27" name="TextBox 27"/>
            <p:cNvSpPr txBox="1"/>
            <p:nvPr/>
          </p:nvSpPr>
          <p:spPr>
            <a:xfrm>
              <a:off x="5158504" y="3596640"/>
              <a:ext cx="149399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system 起点</a:t>
              </a:r>
            </a:p>
          </p:txBody>
        </p:sp>
        <p:sp>
          <p:nvSpPr>
            <p:cNvPr id="28" name="TextBox 28"/>
            <p:cNvSpPr txBox="1"/>
            <p:nvPr/>
          </p:nvSpPr>
          <p:spPr>
            <a:xfrm>
              <a:off x="4549245" y="3950018"/>
              <a:ext cx="2712510"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必要时加入独立 anion_type 信息</a:t>
              </a:r>
            </a:p>
          </p:txBody>
        </p:sp>
      </p:grpSp>
      <p:grpSp>
        <p:nvGrpSpPr>
          <p:cNvPr id="47" name="Group 47"/>
          <p:cNvGrpSpPr/>
          <p:nvPr/>
        </p:nvGrpSpPr>
        <p:grpSpPr>
          <a:xfrm>
            <a:off x="7155942" y="2121218"/>
            <a:ext cx="4350258" cy="3102483"/>
            <a:chOff x="7155942" y="2121218"/>
            <a:chExt cx="4350258" cy="3102483"/>
          </a:xfrm>
        </p:grpSpPr>
        <p:sp>
          <p:nvSpPr>
            <p:cNvPr id="30" name="TextBox 30"/>
            <p:cNvSpPr txBox="1"/>
            <p:nvPr/>
          </p:nvSpPr>
          <p:spPr>
            <a:xfrm>
              <a:off x="7155942" y="2121218"/>
              <a:ext cx="306689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第二代路径｜只看体系内部是否同向</a:t>
              </a:r>
            </a:p>
          </p:txBody>
        </p:sp>
        <p:sp>
          <p:nvSpPr>
            <p:cNvPr id="31" name="TextBox 31"/>
            <p:cNvSpPr txBox="1"/>
            <p:nvPr/>
          </p:nvSpPr>
          <p:spPr>
            <a:xfrm>
              <a:off x="7155942" y="27689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硫化物内部</a:t>
              </a:r>
            </a:p>
          </p:txBody>
        </p:sp>
        <p:sp>
          <p:nvSpPr>
            <p:cNvPr id="32" name="Line 32"/>
            <p:cNvSpPr/>
            <p:nvPr/>
          </p:nvSpPr>
          <p:spPr>
            <a:xfrm>
              <a:off x="8286750" y="2895600"/>
              <a:ext cx="3219450" cy="9525"/>
            </a:xfrm>
            <a:custGeom>
              <a:avLst/>
              <a:gdLst/>
              <a:ahLst/>
              <a:cxnLst/>
              <a:rect l="l" t="t" r="r" b="b"/>
              <a:pathLst>
                <a:path w="3219450" h="9525">
                  <a:moveTo>
                    <a:pt x="0" y="0"/>
                  </a:moveTo>
                  <a:lnTo>
                    <a:pt x="3219450" y="0"/>
                  </a:lnTo>
                </a:path>
              </a:pathLst>
            </a:custGeom>
            <a:noFill/>
            <a:ln w="19050">
              <a:solidFill>
                <a:schemeClr val="accent5"/>
              </a:solidFill>
            </a:ln>
          </p:spPr>
        </p:sp>
        <p:sp>
          <p:nvSpPr>
            <p:cNvPr id="33" name="Ellipse 33"/>
            <p:cNvSpPr/>
            <p:nvPr/>
          </p:nvSpPr>
          <p:spPr>
            <a:xfrm>
              <a:off x="8696325" y="2943225"/>
              <a:ext cx="171450" cy="171450"/>
            </a:xfrm>
            <a:prstGeom prst="ellipse">
              <a:avLst/>
            </a:prstGeom>
            <a:solidFill>
              <a:schemeClr val="accent2"/>
            </a:solidFill>
            <a:ln>
              <a:noFill/>
            </a:ln>
          </p:spPr>
        </p:sp>
        <p:sp>
          <p:nvSpPr>
            <p:cNvPr id="34" name="Ellipse 34"/>
            <p:cNvSpPr/>
            <p:nvPr/>
          </p:nvSpPr>
          <p:spPr>
            <a:xfrm>
              <a:off x="9610725" y="2752725"/>
              <a:ext cx="171450" cy="171450"/>
            </a:xfrm>
            <a:prstGeom prst="ellipse">
              <a:avLst/>
            </a:prstGeom>
            <a:solidFill>
              <a:schemeClr val="accent2"/>
            </a:solidFill>
            <a:ln>
              <a:noFill/>
            </a:ln>
          </p:spPr>
        </p:sp>
        <p:sp>
          <p:nvSpPr>
            <p:cNvPr id="35" name="Ellipse 35"/>
            <p:cNvSpPr/>
            <p:nvPr/>
          </p:nvSpPr>
          <p:spPr>
            <a:xfrm>
              <a:off x="10525125" y="2562225"/>
              <a:ext cx="171450" cy="171450"/>
            </a:xfrm>
            <a:prstGeom prst="ellipse">
              <a:avLst/>
            </a:prstGeom>
            <a:solidFill>
              <a:schemeClr val="accent2"/>
            </a:solidFill>
            <a:ln>
              <a:noFill/>
            </a:ln>
          </p:spPr>
        </p:sp>
        <p:sp>
          <p:nvSpPr>
            <p:cNvPr id="36" name="TextBox 36"/>
            <p:cNvSpPr txBox="1"/>
            <p:nvPr/>
          </p:nvSpPr>
          <p:spPr>
            <a:xfrm>
              <a:off x="7155942" y="3683318"/>
              <a:ext cx="11274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NASICON内部</a:t>
              </a:r>
            </a:p>
          </p:txBody>
        </p:sp>
        <p:sp>
          <p:nvSpPr>
            <p:cNvPr id="37" name="Line 37"/>
            <p:cNvSpPr/>
            <p:nvPr/>
          </p:nvSpPr>
          <p:spPr>
            <a:xfrm>
              <a:off x="8286750" y="3810000"/>
              <a:ext cx="3219450" cy="9525"/>
            </a:xfrm>
            <a:custGeom>
              <a:avLst/>
              <a:gdLst/>
              <a:ahLst/>
              <a:cxnLst/>
              <a:rect l="l" t="t" r="r" b="b"/>
              <a:pathLst>
                <a:path w="3219450" h="9525">
                  <a:moveTo>
                    <a:pt x="0" y="0"/>
                  </a:moveTo>
                  <a:lnTo>
                    <a:pt x="3219450" y="0"/>
                  </a:lnTo>
                </a:path>
              </a:pathLst>
            </a:custGeom>
            <a:noFill/>
            <a:ln w="19050">
              <a:solidFill>
                <a:schemeClr val="accent5"/>
              </a:solidFill>
            </a:ln>
          </p:spPr>
        </p:sp>
        <p:sp>
          <p:nvSpPr>
            <p:cNvPr id="38" name="Ellipse 38"/>
            <p:cNvSpPr/>
            <p:nvPr/>
          </p:nvSpPr>
          <p:spPr>
            <a:xfrm>
              <a:off x="8696325" y="3857625"/>
              <a:ext cx="171450" cy="171450"/>
            </a:xfrm>
            <a:prstGeom prst="ellipse">
              <a:avLst/>
            </a:prstGeom>
            <a:solidFill>
              <a:schemeClr val="accent1"/>
            </a:solidFill>
            <a:ln>
              <a:noFill/>
            </a:ln>
          </p:spPr>
        </p:sp>
        <p:sp>
          <p:nvSpPr>
            <p:cNvPr id="39" name="Ellipse 39"/>
            <p:cNvSpPr/>
            <p:nvPr/>
          </p:nvSpPr>
          <p:spPr>
            <a:xfrm>
              <a:off x="9610725" y="3667125"/>
              <a:ext cx="171450" cy="171450"/>
            </a:xfrm>
            <a:prstGeom prst="ellipse">
              <a:avLst/>
            </a:prstGeom>
            <a:solidFill>
              <a:schemeClr val="accent1"/>
            </a:solidFill>
            <a:ln>
              <a:noFill/>
            </a:ln>
          </p:spPr>
        </p:sp>
        <p:sp>
          <p:nvSpPr>
            <p:cNvPr id="40" name="Ellipse 40"/>
            <p:cNvSpPr/>
            <p:nvPr/>
          </p:nvSpPr>
          <p:spPr>
            <a:xfrm>
              <a:off x="10525125" y="3476625"/>
              <a:ext cx="171450" cy="171450"/>
            </a:xfrm>
            <a:prstGeom prst="ellipse">
              <a:avLst/>
            </a:prstGeom>
            <a:solidFill>
              <a:schemeClr val="accent1"/>
            </a:solidFill>
            <a:ln>
              <a:noFill/>
            </a:ln>
          </p:spPr>
        </p:sp>
        <p:sp>
          <p:nvSpPr>
            <p:cNvPr id="41" name="TextBox 41"/>
            <p:cNvSpPr txBox="1"/>
            <p:nvPr/>
          </p:nvSpPr>
          <p:spPr>
            <a:xfrm>
              <a:off x="7155942" y="45977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卤化物内部</a:t>
              </a:r>
            </a:p>
          </p:txBody>
        </p:sp>
        <p:sp>
          <p:nvSpPr>
            <p:cNvPr id="42" name="Line 42"/>
            <p:cNvSpPr/>
            <p:nvPr/>
          </p:nvSpPr>
          <p:spPr>
            <a:xfrm>
              <a:off x="8286750" y="4724400"/>
              <a:ext cx="3219450" cy="9525"/>
            </a:xfrm>
            <a:custGeom>
              <a:avLst/>
              <a:gdLst/>
              <a:ahLst/>
              <a:cxnLst/>
              <a:rect l="l" t="t" r="r" b="b"/>
              <a:pathLst>
                <a:path w="3219450" h="9525">
                  <a:moveTo>
                    <a:pt x="0" y="0"/>
                  </a:moveTo>
                  <a:lnTo>
                    <a:pt x="3219450" y="0"/>
                  </a:lnTo>
                </a:path>
              </a:pathLst>
            </a:custGeom>
            <a:noFill/>
            <a:ln w="19050">
              <a:solidFill>
                <a:schemeClr val="accent5"/>
              </a:solidFill>
            </a:ln>
          </p:spPr>
        </p:sp>
        <p:sp>
          <p:nvSpPr>
            <p:cNvPr id="43" name="Ellipse 43"/>
            <p:cNvSpPr/>
            <p:nvPr/>
          </p:nvSpPr>
          <p:spPr>
            <a:xfrm>
              <a:off x="8696325" y="4772025"/>
              <a:ext cx="171450" cy="171450"/>
            </a:xfrm>
            <a:prstGeom prst="ellipse">
              <a:avLst/>
            </a:prstGeom>
            <a:solidFill>
              <a:schemeClr val="accent3"/>
            </a:solidFill>
            <a:ln>
              <a:noFill/>
            </a:ln>
          </p:spPr>
        </p:sp>
        <p:sp>
          <p:nvSpPr>
            <p:cNvPr id="44" name="Ellipse 44"/>
            <p:cNvSpPr/>
            <p:nvPr/>
          </p:nvSpPr>
          <p:spPr>
            <a:xfrm>
              <a:off x="9610725" y="4581525"/>
              <a:ext cx="171450" cy="171450"/>
            </a:xfrm>
            <a:prstGeom prst="ellipse">
              <a:avLst/>
            </a:prstGeom>
            <a:solidFill>
              <a:schemeClr val="accent3"/>
            </a:solidFill>
            <a:ln>
              <a:noFill/>
            </a:ln>
          </p:spPr>
        </p:sp>
        <p:sp>
          <p:nvSpPr>
            <p:cNvPr id="45" name="Ellipse 45"/>
            <p:cNvSpPr/>
            <p:nvPr/>
          </p:nvSpPr>
          <p:spPr>
            <a:xfrm>
              <a:off x="10525125" y="4391025"/>
              <a:ext cx="171450" cy="171450"/>
            </a:xfrm>
            <a:prstGeom prst="ellipse">
              <a:avLst/>
            </a:prstGeom>
            <a:solidFill>
              <a:schemeClr val="accent3"/>
            </a:solidFill>
            <a:ln>
              <a:noFill/>
            </a:ln>
          </p:spPr>
        </p:sp>
        <p:sp>
          <p:nvSpPr>
            <p:cNvPr id="46" name="TextBox 46"/>
            <p:cNvSpPr txBox="1"/>
            <p:nvPr/>
          </p:nvSpPr>
          <p:spPr>
            <a:xfrm>
              <a:off x="7155942" y="4959668"/>
              <a:ext cx="312141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再汇总“扣除体系差异后的排序一致性”</a:t>
              </a:r>
            </a:p>
          </p:txBody>
        </p:sp>
      </p:grpSp>
      <p:grpSp>
        <p:nvGrpSpPr>
          <p:cNvPr id="51" name="Group 51"/>
          <p:cNvGrpSpPr/>
          <p:nvPr/>
        </p:nvGrpSpPr>
        <p:grpSpPr>
          <a:xfrm>
            <a:off x="457200" y="5467350"/>
            <a:ext cx="11277600" cy="524256"/>
            <a:chOff x="457200" y="5467350"/>
            <a:chExt cx="11277600" cy="524256"/>
          </a:xfrm>
        </p:grpSpPr>
        <p:sp>
          <p:nvSpPr>
            <p:cNvPr id="48" name="Rectangle 48"/>
            <p:cNvSpPr/>
            <p:nvPr/>
          </p:nvSpPr>
          <p:spPr>
            <a:xfrm>
              <a:off x="457200" y="5467350"/>
              <a:ext cx="11277600" cy="476250"/>
            </a:xfrm>
            <a:prstGeom prst="rect">
              <a:avLst/>
            </a:prstGeom>
            <a:solidFill>
              <a:schemeClr val="lt2"/>
            </a:solidFill>
            <a:ln>
              <a:noFill/>
            </a:ln>
          </p:spPr>
        </p:sp>
        <p:sp>
          <p:nvSpPr>
            <p:cNvPr id="49" name="TextBox 49"/>
            <p:cNvSpPr txBox="1"/>
            <p:nvPr/>
          </p:nvSpPr>
          <p:spPr>
            <a:xfrm>
              <a:off x="621792" y="5550218"/>
              <a:ext cx="5290752"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准确名称：线性残差的秩相关，不是标准 partial Spearman。</a:t>
              </a:r>
            </a:p>
          </p:txBody>
        </p:sp>
        <p:sp>
          <p:nvSpPr>
            <p:cNvPr id="50" name="TextBox 50"/>
            <p:cNvSpPr txBox="1"/>
            <p:nvPr/>
          </p:nvSpPr>
          <p:spPr>
            <a:xfrm>
              <a:off x="622554" y="5756910"/>
              <a:ext cx="451927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仍未控制：致密度、烧结条件、测试方法、total / bulk 差异。</a:t>
              </a:r>
            </a:p>
          </p:txBody>
        </p:sp>
      </p:grpSp>
      <p:grpSp>
        <p:nvGrpSpPr>
          <p:cNvPr id="54" name="Group 54"/>
          <p:cNvGrpSpPr/>
          <p:nvPr/>
        </p:nvGrpSpPr>
        <p:grpSpPr>
          <a:xfrm>
            <a:off x="451104" y="6356985"/>
            <a:ext cx="11289030" cy="234696"/>
            <a:chOff x="451104" y="6356985"/>
            <a:chExt cx="11289030" cy="234696"/>
          </a:xfrm>
        </p:grpSpPr>
        <p:sp>
          <p:nvSpPr>
            <p:cNvPr id="52" name="TextBox 52"/>
            <p:cNvSpPr txBox="1"/>
            <p:nvPr/>
          </p:nvSpPr>
          <p:spPr>
            <a:xfrm>
              <a:off x="451104" y="6356985"/>
              <a:ext cx="275844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概念示意｜点位和高度不编码真实数据</a:t>
              </a:r>
            </a:p>
          </p:txBody>
        </p:sp>
        <p:sp>
          <p:nvSpPr>
            <p:cNvPr id="53" name="TextBox 53"/>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08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36856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09｜第二道防线</a:t>
              </a:r>
            </a:p>
          </p:txBody>
        </p:sp>
        <p:sp>
          <p:nvSpPr>
            <p:cNvPr id="3" name="TextBox 3"/>
            <p:cNvSpPr txBox="1"/>
            <p:nvPr/>
          </p:nvSpPr>
          <p:spPr>
            <a:xfrm>
              <a:off x="441198" y="650558"/>
              <a:ext cx="572455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给每个描述符建立“身份证”</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7" name="Group 7"/>
          <p:cNvGrpSpPr/>
          <p:nvPr/>
        </p:nvGrpSpPr>
        <p:grpSpPr>
          <a:xfrm>
            <a:off x="445770" y="1395412"/>
            <a:ext cx="9109710" cy="440055"/>
            <a:chOff x="445770" y="1395412"/>
            <a:chExt cx="9109710" cy="440055"/>
          </a:xfrm>
        </p:grpSpPr>
        <p:sp>
          <p:nvSpPr>
            <p:cNvPr id="6" name="TextBox 6"/>
            <p:cNvSpPr txBox="1"/>
            <p:nvPr/>
          </p:nvSpPr>
          <p:spPr>
            <a:xfrm>
              <a:off x="445770" y="1395412"/>
              <a:ext cx="9109710"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名字、公式、来源和写法敏感性未对齐前，分数没有可靠物理解释。</a:t>
              </a:r>
            </a:p>
          </p:txBody>
        </p:sp>
      </p:grpSp>
      <p:grpSp>
        <p:nvGrpSpPr>
          <p:cNvPr id="20" name="Group 20"/>
          <p:cNvGrpSpPr/>
          <p:nvPr/>
        </p:nvGrpSpPr>
        <p:grpSpPr>
          <a:xfrm>
            <a:off x="438150" y="2083118"/>
            <a:ext cx="4973574" cy="2857499"/>
            <a:chOff x="438150" y="2083118"/>
            <a:chExt cx="4973574" cy="2857499"/>
          </a:xfrm>
        </p:grpSpPr>
        <p:sp>
          <p:nvSpPr>
            <p:cNvPr id="8" name="TextBox 8"/>
            <p:cNvSpPr txBox="1"/>
            <p:nvPr/>
          </p:nvSpPr>
          <p:spPr>
            <a:xfrm>
              <a:off x="450342" y="2083118"/>
              <a:ext cx="3169150"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DESCRIPTOR IDENTITY｜登记表字段</a:t>
              </a:r>
            </a:p>
          </p:txBody>
        </p:sp>
        <p:sp>
          <p:nvSpPr>
            <p:cNvPr id="9" name="Line 9"/>
            <p:cNvSpPr/>
            <p:nvPr/>
          </p:nvSpPr>
          <p:spPr>
            <a:xfrm>
              <a:off x="457200" y="2381250"/>
              <a:ext cx="4495800" cy="9525"/>
            </a:xfrm>
            <a:custGeom>
              <a:avLst/>
              <a:gdLst/>
              <a:ahLst/>
              <a:cxnLst/>
              <a:rect l="l" t="t" r="r" b="b"/>
              <a:pathLst>
                <a:path w="4495800" h="9525">
                  <a:moveTo>
                    <a:pt x="0" y="0"/>
                  </a:moveTo>
                  <a:lnTo>
                    <a:pt x="4495800" y="0"/>
                  </a:lnTo>
                </a:path>
              </a:pathLst>
            </a:custGeom>
            <a:noFill/>
            <a:ln w="28575">
              <a:solidFill>
                <a:schemeClr val="accent1"/>
              </a:solidFill>
            </a:ln>
          </p:spPr>
        </p:sp>
        <p:sp>
          <p:nvSpPr>
            <p:cNvPr id="10" name="TextBox 10"/>
            <p:cNvSpPr txBox="1"/>
            <p:nvPr/>
          </p:nvSpPr>
          <p:spPr>
            <a:xfrm>
              <a:off x="448056" y="2586990"/>
              <a:ext cx="88335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01 公式</a:t>
              </a:r>
            </a:p>
          </p:txBody>
        </p:sp>
        <p:sp>
          <p:nvSpPr>
            <p:cNvPr id="11" name="TextBox 11"/>
            <p:cNvSpPr txBox="1"/>
            <p:nvPr/>
          </p:nvSpPr>
          <p:spPr>
            <a:xfrm>
              <a:off x="2657856" y="2586990"/>
              <a:ext cx="132679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04 代码来源</a:t>
              </a:r>
            </a:p>
          </p:txBody>
        </p:sp>
        <p:sp>
          <p:nvSpPr>
            <p:cNvPr id="12" name="TextBox 12"/>
            <p:cNvSpPr txBox="1"/>
            <p:nvPr/>
          </p:nvSpPr>
          <p:spPr>
            <a:xfrm>
              <a:off x="448056" y="3044190"/>
              <a:ext cx="88335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02 单位</a:t>
              </a:r>
            </a:p>
          </p:txBody>
        </p:sp>
        <p:sp>
          <p:nvSpPr>
            <p:cNvPr id="13" name="TextBox 13"/>
            <p:cNvSpPr txBox="1"/>
            <p:nvPr/>
          </p:nvSpPr>
          <p:spPr>
            <a:xfrm>
              <a:off x="2657856" y="3044190"/>
              <a:ext cx="84216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05 别名</a:t>
              </a:r>
            </a:p>
          </p:txBody>
        </p:sp>
        <p:sp>
          <p:nvSpPr>
            <p:cNvPr id="14" name="TextBox 14"/>
            <p:cNvSpPr txBox="1"/>
            <p:nvPr/>
          </p:nvSpPr>
          <p:spPr>
            <a:xfrm>
              <a:off x="448056" y="350139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03 物理类别</a:t>
              </a:r>
            </a:p>
          </p:txBody>
        </p:sp>
        <p:sp>
          <p:nvSpPr>
            <p:cNvPr id="15" name="TextBox 15"/>
            <p:cNvSpPr txBox="1"/>
            <p:nvPr/>
          </p:nvSpPr>
          <p:spPr>
            <a:xfrm>
              <a:off x="2657856" y="3501390"/>
              <a:ext cx="156911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06 已知敏感性</a:t>
              </a:r>
            </a:p>
          </p:txBody>
        </p:sp>
        <p:sp>
          <p:nvSpPr>
            <p:cNvPr id="16" name="Line 16"/>
            <p:cNvSpPr/>
            <p:nvPr/>
          </p:nvSpPr>
          <p:spPr>
            <a:xfrm>
              <a:off x="457200" y="3943350"/>
              <a:ext cx="4495800" cy="9525"/>
            </a:xfrm>
            <a:custGeom>
              <a:avLst/>
              <a:gdLst/>
              <a:ahLst/>
              <a:cxnLst/>
              <a:rect l="l" t="t" r="r" b="b"/>
              <a:pathLst>
                <a:path w="4495800" h="9525">
                  <a:moveTo>
                    <a:pt x="0" y="0"/>
                  </a:moveTo>
                  <a:lnTo>
                    <a:pt x="4495800" y="0"/>
                  </a:lnTo>
                </a:path>
              </a:pathLst>
            </a:custGeom>
            <a:noFill/>
            <a:ln w="9525">
              <a:solidFill>
                <a:schemeClr val="accent5"/>
              </a:solidFill>
            </a:ln>
          </p:spPr>
        </p:sp>
        <p:sp>
          <p:nvSpPr>
            <p:cNvPr id="17" name="TextBox 17"/>
            <p:cNvSpPr txBox="1"/>
            <p:nvPr/>
          </p:nvSpPr>
          <p:spPr>
            <a:xfrm>
              <a:off x="438150" y="3807142"/>
              <a:ext cx="1479720" cy="1133475"/>
            </a:xfrm>
            <a:prstGeom prst="rect">
              <a:avLst/>
            </a:prstGeom>
            <a:noFill/>
            <a:ln>
              <a:noFill/>
            </a:ln>
          </p:spPr>
          <p:txBody>
            <a:bodyPr wrap="none" lIns="0" tIns="0" rIns="0" bIns="0" anchor="t" anchorCtr="0">
              <a:spAutoFit/>
            </a:bodyPr>
            <a:lstStyle/>
            <a:p>
              <a:pPr algn="l"/>
              <a:r>
                <a:rPr lang="en-US" sz="5850" b="1" dirty="0">
                  <a:solidFill>
                    <a:schemeClr val="accent2"/>
                  </a:solidFill>
                  <a:latin typeface="+mj-lt"/>
                  <a:ea typeface="+mj-ea"/>
                  <a:cs typeface="+mj-cs"/>
                </a:rPr>
                <a:t>205</a:t>
              </a:r>
            </a:p>
          </p:txBody>
        </p:sp>
        <p:sp>
          <p:nvSpPr>
            <p:cNvPr id="18" name="TextBox 18"/>
            <p:cNvSpPr txBox="1"/>
            <p:nvPr/>
          </p:nvSpPr>
          <p:spPr>
            <a:xfrm>
              <a:off x="2124456" y="4072890"/>
              <a:ext cx="106673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处 TODO</a:t>
              </a:r>
            </a:p>
          </p:txBody>
        </p:sp>
        <p:sp>
          <p:nvSpPr>
            <p:cNvPr id="19" name="TextBox 19"/>
            <p:cNvSpPr txBox="1"/>
            <p:nvPr/>
          </p:nvSpPr>
          <p:spPr>
            <a:xfrm>
              <a:off x="2126742" y="4445318"/>
              <a:ext cx="328498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公式身份、名称匹配和参数出处仍待完成</a:t>
              </a:r>
            </a:p>
          </p:txBody>
        </p:sp>
      </p:grpSp>
      <p:grpSp>
        <p:nvGrpSpPr>
          <p:cNvPr id="31" name="Group 31"/>
          <p:cNvGrpSpPr/>
          <p:nvPr/>
        </p:nvGrpSpPr>
        <p:grpSpPr>
          <a:xfrm>
            <a:off x="5689092" y="2083118"/>
            <a:ext cx="6045708" cy="3197733"/>
            <a:chOff x="5689092" y="2083118"/>
            <a:chExt cx="6045708" cy="3197733"/>
          </a:xfrm>
        </p:grpSpPr>
        <p:sp>
          <p:nvSpPr>
            <p:cNvPr id="21" name="TextBox 21"/>
            <p:cNvSpPr txBox="1"/>
            <p:nvPr/>
          </p:nvSpPr>
          <p:spPr>
            <a:xfrm>
              <a:off x="5689092" y="2083118"/>
              <a:ext cx="2112778"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注册入口不等于搜索入口</a:t>
              </a:r>
            </a:p>
          </p:txBody>
        </p:sp>
        <p:sp>
          <p:nvSpPr>
            <p:cNvPr id="22" name="Freeform 22"/>
            <p:cNvSpPr/>
            <p:nvPr/>
          </p:nvSpPr>
          <p:spPr>
            <a:xfrm>
              <a:off x="5695950" y="2514600"/>
              <a:ext cx="6038850" cy="762000"/>
            </a:xfrm>
            <a:custGeom>
              <a:avLst/>
              <a:gdLst/>
              <a:ahLst/>
              <a:cxnLst/>
              <a:rect l="l" t="t" r="r" b="b"/>
              <a:pathLst>
                <a:path w="6038850" h="762000">
                  <a:moveTo>
                    <a:pt x="0" y="0"/>
                  </a:moveTo>
                  <a:lnTo>
                    <a:pt x="6038850" y="0"/>
                  </a:lnTo>
                  <a:lnTo>
                    <a:pt x="5429250" y="762000"/>
                  </a:lnTo>
                  <a:lnTo>
                    <a:pt x="609600" y="762000"/>
                  </a:lnTo>
                  <a:close/>
                </a:path>
              </a:pathLst>
            </a:custGeom>
            <a:solidFill>
              <a:schemeClr val="accent1"/>
            </a:solidFill>
            <a:ln>
              <a:noFill/>
            </a:ln>
          </p:spPr>
        </p:sp>
        <p:sp>
          <p:nvSpPr>
            <p:cNvPr id="23" name="TextBox 23"/>
            <p:cNvSpPr txBox="1"/>
            <p:nvPr/>
          </p:nvSpPr>
          <p:spPr>
            <a:xfrm>
              <a:off x="6958675" y="2536508"/>
              <a:ext cx="3513399" cy="616077"/>
            </a:xfrm>
            <a:prstGeom prst="rect">
              <a:avLst/>
            </a:prstGeom>
            <a:noFill/>
            <a:ln>
              <a:noFill/>
            </a:ln>
          </p:spPr>
          <p:txBody>
            <a:bodyPr wrap="none" lIns="0" tIns="0" rIns="0" bIns="0" anchor="t" anchorCtr="0">
              <a:spAutoFit/>
            </a:bodyPr>
            <a:lstStyle/>
            <a:p>
              <a:pPr algn="ctr"/>
              <a:r>
                <a:rPr lang="zh-CN" sz="3150" b="1" dirty="0">
                  <a:solidFill>
                    <a:srgbClr val="FFFFFF"/>
                  </a:solidFill>
                  <a:latin typeface="+mj-lt"/>
                  <a:ea typeface="+mj-ea"/>
                  <a:cs typeface="+mj-cs"/>
                </a:rPr>
                <a:t>41 个注册描述符</a:t>
              </a:r>
            </a:p>
          </p:txBody>
        </p:sp>
        <p:sp>
          <p:nvSpPr>
            <p:cNvPr id="24" name="TextBox 24"/>
            <p:cNvSpPr txBox="1"/>
            <p:nvPr/>
          </p:nvSpPr>
          <p:spPr>
            <a:xfrm>
              <a:off x="8308162" y="3004185"/>
              <a:ext cx="814426" cy="234696"/>
            </a:xfrm>
            <a:prstGeom prst="rect">
              <a:avLst/>
            </a:prstGeom>
            <a:noFill/>
            <a:ln>
              <a:noFill/>
            </a:ln>
          </p:spPr>
          <p:txBody>
            <a:bodyPr wrap="none" lIns="0" tIns="0" rIns="0" bIns="0" anchor="t" anchorCtr="0">
              <a:spAutoFit/>
            </a:bodyPr>
            <a:lstStyle/>
            <a:p>
              <a:pPr algn="ctr"/>
              <a:r>
                <a:rPr lang="en-US" sz="1200" dirty="0">
                  <a:solidFill>
                    <a:srgbClr val="DCE7E9"/>
                  </a:solidFill>
                  <a:latin typeface="+mn-lt"/>
                  <a:ea typeface="+mn-ea"/>
                  <a:cs typeface="+mn-cs"/>
                </a:rPr>
                <a:t>AVAILABLE</a:t>
              </a:r>
            </a:p>
          </p:txBody>
        </p:sp>
        <p:sp>
          <p:nvSpPr>
            <p:cNvPr id="25" name="Freeform 25"/>
            <p:cNvSpPr/>
            <p:nvPr/>
          </p:nvSpPr>
          <p:spPr>
            <a:xfrm>
              <a:off x="6305550" y="3467100"/>
              <a:ext cx="4819650" cy="666750"/>
            </a:xfrm>
            <a:custGeom>
              <a:avLst/>
              <a:gdLst/>
              <a:ahLst/>
              <a:cxnLst/>
              <a:rect l="l" t="t" r="r" b="b"/>
              <a:pathLst>
                <a:path w="4819650" h="666750">
                  <a:moveTo>
                    <a:pt x="0" y="0"/>
                  </a:moveTo>
                  <a:lnTo>
                    <a:pt x="4819650" y="0"/>
                  </a:lnTo>
                  <a:lnTo>
                    <a:pt x="4286250" y="666750"/>
                  </a:lnTo>
                  <a:lnTo>
                    <a:pt x="533400" y="666750"/>
                  </a:lnTo>
                  <a:close/>
                </a:path>
              </a:pathLst>
            </a:custGeom>
            <a:solidFill>
              <a:schemeClr val="accent2"/>
            </a:solidFill>
            <a:ln>
              <a:noFill/>
            </a:ln>
          </p:spPr>
        </p:sp>
        <p:sp>
          <p:nvSpPr>
            <p:cNvPr id="26" name="TextBox 26"/>
            <p:cNvSpPr txBox="1"/>
            <p:nvPr/>
          </p:nvSpPr>
          <p:spPr>
            <a:xfrm>
              <a:off x="7239173" y="3626168"/>
              <a:ext cx="295240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− 1 个兼容别名　− 2 个永久不可用</a:t>
              </a:r>
            </a:p>
          </p:txBody>
        </p:sp>
        <p:sp>
          <p:nvSpPr>
            <p:cNvPr id="27" name="TextBox 27"/>
            <p:cNvSpPr txBox="1"/>
            <p:nvPr/>
          </p:nvSpPr>
          <p:spPr>
            <a:xfrm>
              <a:off x="7290707" y="3870960"/>
              <a:ext cx="2849336" cy="234696"/>
            </a:xfrm>
            <a:prstGeom prst="rect">
              <a:avLst/>
            </a:prstGeom>
            <a:noFill/>
            <a:ln>
              <a:noFill/>
            </a:ln>
          </p:spPr>
          <p:txBody>
            <a:bodyPr wrap="none" lIns="0" tIns="0" rIns="0" bIns="0" anchor="t" anchorCtr="0">
              <a:spAutoFit/>
            </a:bodyPr>
            <a:lstStyle/>
            <a:p>
              <a:pPr algn="ctr"/>
              <a:r>
                <a:rPr lang="zh-CN" sz="1200" dirty="0">
                  <a:solidFill>
                    <a:srgbClr val="FBE5DF"/>
                  </a:solidFill>
                  <a:latin typeface="+mn-lt"/>
                  <a:ea typeface="+mn-ea"/>
                  <a:cs typeface="+mn-cs"/>
                </a:rPr>
                <a:t>其中 BVSE 入口缺后端、当前返回 NaN</a:t>
              </a:r>
            </a:p>
          </p:txBody>
        </p:sp>
        <p:sp>
          <p:nvSpPr>
            <p:cNvPr id="28" name="Freeform 28"/>
            <p:cNvSpPr/>
            <p:nvPr/>
          </p:nvSpPr>
          <p:spPr>
            <a:xfrm>
              <a:off x="6838950" y="4324350"/>
              <a:ext cx="3752850" cy="609600"/>
            </a:xfrm>
            <a:custGeom>
              <a:avLst/>
              <a:gdLst/>
              <a:ahLst/>
              <a:cxnLst/>
              <a:rect l="l" t="t" r="r" b="b"/>
              <a:pathLst>
                <a:path w="3752850" h="609600">
                  <a:moveTo>
                    <a:pt x="0" y="0"/>
                  </a:moveTo>
                  <a:lnTo>
                    <a:pt x="3752850" y="0"/>
                  </a:lnTo>
                  <a:lnTo>
                    <a:pt x="3295650" y="609600"/>
                  </a:lnTo>
                  <a:lnTo>
                    <a:pt x="457200" y="609600"/>
                  </a:lnTo>
                  <a:close/>
                </a:path>
              </a:pathLst>
            </a:custGeom>
            <a:solidFill>
              <a:schemeClr val="accent3"/>
            </a:solidFill>
            <a:ln>
              <a:noFill/>
            </a:ln>
          </p:spPr>
        </p:sp>
        <p:sp>
          <p:nvSpPr>
            <p:cNvPr id="29" name="TextBox 29"/>
            <p:cNvSpPr txBox="1"/>
            <p:nvPr/>
          </p:nvSpPr>
          <p:spPr>
            <a:xfrm>
              <a:off x="6958675" y="4365308"/>
              <a:ext cx="3513399" cy="616077"/>
            </a:xfrm>
            <a:prstGeom prst="rect">
              <a:avLst/>
            </a:prstGeom>
            <a:noFill/>
            <a:ln>
              <a:noFill/>
            </a:ln>
          </p:spPr>
          <p:txBody>
            <a:bodyPr wrap="none" lIns="0" tIns="0" rIns="0" bIns="0" anchor="t" anchorCtr="0">
              <a:spAutoFit/>
            </a:bodyPr>
            <a:lstStyle/>
            <a:p>
              <a:pPr algn="ctr"/>
              <a:r>
                <a:rPr lang="zh-CN" sz="3150" b="1" dirty="0">
                  <a:solidFill>
                    <a:srgbClr val="FFFFFF"/>
                  </a:solidFill>
                  <a:latin typeface="+mj-lt"/>
                  <a:ea typeface="+mj-ea"/>
                  <a:cs typeface="+mj-cs"/>
                </a:rPr>
                <a:t>38 个可搜索入口</a:t>
              </a:r>
            </a:p>
          </p:txBody>
        </p:sp>
        <p:sp>
          <p:nvSpPr>
            <p:cNvPr id="30" name="TextBox 30"/>
            <p:cNvSpPr txBox="1"/>
            <p:nvPr/>
          </p:nvSpPr>
          <p:spPr>
            <a:xfrm>
              <a:off x="7436358" y="5016818"/>
              <a:ext cx="2558034"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再按新数据有效覆盖率继续减少</a:t>
              </a:r>
            </a:p>
          </p:txBody>
        </p:sp>
      </p:grpSp>
      <p:grpSp>
        <p:nvGrpSpPr>
          <p:cNvPr id="35" name="Group 35"/>
          <p:cNvGrpSpPr/>
          <p:nvPr/>
        </p:nvGrpSpPr>
        <p:grpSpPr>
          <a:xfrm>
            <a:off x="457200" y="5410200"/>
            <a:ext cx="11277600" cy="562356"/>
            <a:chOff x="457200" y="5410200"/>
            <a:chExt cx="11277600" cy="562356"/>
          </a:xfrm>
        </p:grpSpPr>
        <p:sp>
          <p:nvSpPr>
            <p:cNvPr id="32" name="Rectangle 32"/>
            <p:cNvSpPr/>
            <p:nvPr/>
          </p:nvSpPr>
          <p:spPr>
            <a:xfrm>
              <a:off x="457200" y="5410200"/>
              <a:ext cx="11277600" cy="552450"/>
            </a:xfrm>
            <a:prstGeom prst="rect">
              <a:avLst/>
            </a:prstGeom>
            <a:solidFill>
              <a:schemeClr val="lt2"/>
            </a:solidFill>
            <a:ln>
              <a:noFill/>
            </a:ln>
          </p:spPr>
        </p:sp>
        <p:sp>
          <p:nvSpPr>
            <p:cNvPr id="33" name="TextBox 33"/>
            <p:cNvSpPr txBox="1"/>
            <p:nvPr/>
          </p:nvSpPr>
          <p:spPr>
            <a:xfrm>
              <a:off x="621792" y="5493068"/>
              <a:ext cx="4173676"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独立审计工具｜当前未自动串入 run_pipeline.py</a:t>
              </a:r>
            </a:p>
          </p:txBody>
        </p:sp>
        <p:sp>
          <p:nvSpPr>
            <p:cNvPr id="34" name="TextBox 34"/>
            <p:cNvSpPr txBox="1"/>
            <p:nvPr/>
          </p:nvSpPr>
          <p:spPr>
            <a:xfrm>
              <a:off x="622554" y="5737860"/>
              <a:ext cx="596508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等价写法检查：换原点 / 超胞 / 占位写法　　数值指纹：5个固定合成结构逐格比较</a:t>
              </a:r>
            </a:p>
          </p:txBody>
        </p:sp>
      </p:grpSp>
      <p:grpSp>
        <p:nvGrpSpPr>
          <p:cNvPr id="38" name="Group 38"/>
          <p:cNvGrpSpPr/>
          <p:nvPr/>
        </p:nvGrpSpPr>
        <p:grpSpPr>
          <a:xfrm>
            <a:off x="451104" y="6356985"/>
            <a:ext cx="11289030" cy="234696"/>
            <a:chOff x="451104" y="6356985"/>
            <a:chExt cx="11289030" cy="234696"/>
          </a:xfrm>
        </p:grpSpPr>
        <p:sp>
          <p:nvSpPr>
            <p:cNvPr id="36" name="TextBox 36"/>
            <p:cNvSpPr txBox="1"/>
            <p:nvPr/>
          </p:nvSpPr>
          <p:spPr>
            <a:xfrm>
              <a:off x="451104" y="6356985"/>
              <a:ext cx="440131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典型发现：a2_max_dist 与第一代 A2 名称相近、物理量不同</a:t>
              </a:r>
            </a:p>
          </p:txBody>
        </p:sp>
        <p:sp>
          <p:nvSpPr>
            <p:cNvPr id="37" name="TextBox 37"/>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09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36856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10｜第三道防线</a:t>
              </a:r>
            </a:p>
          </p:txBody>
        </p:sp>
        <p:sp>
          <p:nvSpPr>
            <p:cNvPr id="3" name="TextBox 3"/>
            <p:cNvSpPr txBox="1"/>
            <p:nvPr/>
          </p:nvSpPr>
          <p:spPr>
            <a:xfrm>
              <a:off x="441198" y="650558"/>
              <a:ext cx="567751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换样本、限组合，再谈高分</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7" name="Group 7"/>
          <p:cNvGrpSpPr/>
          <p:nvPr/>
        </p:nvGrpSpPr>
        <p:grpSpPr>
          <a:xfrm>
            <a:off x="445770" y="1395412"/>
            <a:ext cx="7292340" cy="440055"/>
            <a:chOff x="445770" y="1395412"/>
            <a:chExt cx="7292340" cy="440055"/>
          </a:xfrm>
        </p:grpSpPr>
        <p:sp>
          <p:nvSpPr>
            <p:cNvPr id="6" name="TextBox 6"/>
            <p:cNvSpPr txBox="1"/>
            <p:nvPr/>
          </p:nvSpPr>
          <p:spPr>
            <a:xfrm>
              <a:off x="445770" y="1395412"/>
              <a:ext cx="7292340"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候选既要反复留下，也要能用材料语言解释组合关系。</a:t>
              </a:r>
            </a:p>
          </p:txBody>
        </p:sp>
      </p:grpSp>
      <p:grpSp>
        <p:nvGrpSpPr>
          <p:cNvPr id="38" name="Group 38"/>
          <p:cNvGrpSpPr/>
          <p:nvPr/>
        </p:nvGrpSpPr>
        <p:grpSpPr>
          <a:xfrm>
            <a:off x="457200" y="2102168"/>
            <a:ext cx="10621322" cy="2759583"/>
            <a:chOff x="457200" y="2102168"/>
            <a:chExt cx="10621322" cy="2759583"/>
          </a:xfrm>
        </p:grpSpPr>
        <p:sp>
          <p:nvSpPr>
            <p:cNvPr id="8" name="Rectangle 8"/>
            <p:cNvSpPr/>
            <p:nvPr/>
          </p:nvSpPr>
          <p:spPr>
            <a:xfrm>
              <a:off x="457200" y="3105150"/>
              <a:ext cx="1600200" cy="819150"/>
            </a:xfrm>
            <a:prstGeom prst="rect">
              <a:avLst/>
            </a:prstGeom>
            <a:solidFill>
              <a:schemeClr val="accent1"/>
            </a:solidFill>
            <a:ln>
              <a:noFill/>
            </a:ln>
          </p:spPr>
        </p:sp>
        <p:sp>
          <p:nvSpPr>
            <p:cNvPr id="9" name="TextBox 9"/>
            <p:cNvSpPr txBox="1"/>
            <p:nvPr/>
          </p:nvSpPr>
          <p:spPr>
            <a:xfrm>
              <a:off x="1068705" y="3283268"/>
              <a:ext cx="377190" cy="264033"/>
            </a:xfrm>
            <a:prstGeom prst="rect">
              <a:avLst/>
            </a:prstGeom>
            <a:noFill/>
            <a:ln>
              <a:noFill/>
            </a:ln>
          </p:spPr>
          <p:txBody>
            <a:bodyPr wrap="none" lIns="0" tIns="0" rIns="0" bIns="0" anchor="t" anchorCtr="0">
              <a:spAutoFit/>
            </a:bodyPr>
            <a:lstStyle/>
            <a:p>
              <a:pPr algn="ctr"/>
              <a:r>
                <a:rPr lang="zh-CN" sz="1350" dirty="0">
                  <a:solidFill>
                    <a:srgbClr val="DCE7E9"/>
                  </a:solidFill>
                  <a:latin typeface="+mn-lt"/>
                  <a:ea typeface="+mn-ea"/>
                  <a:cs typeface="+mn-cs"/>
                </a:rPr>
                <a:t>起点</a:t>
              </a:r>
            </a:p>
          </p:txBody>
        </p:sp>
        <p:sp>
          <p:nvSpPr>
            <p:cNvPr id="10" name="TextBox 10"/>
            <p:cNvSpPr txBox="1"/>
            <p:nvPr/>
          </p:nvSpPr>
          <p:spPr>
            <a:xfrm>
              <a:off x="484861" y="3520440"/>
              <a:ext cx="1544879"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有效单描述符</a:t>
              </a:r>
            </a:p>
          </p:txBody>
        </p:sp>
        <p:sp>
          <p:nvSpPr>
            <p:cNvPr id="11" name="Line 11"/>
            <p:cNvSpPr/>
            <p:nvPr/>
          </p:nvSpPr>
          <p:spPr>
            <a:xfrm>
              <a:off x="2057400" y="2628900"/>
              <a:ext cx="819150" cy="876300"/>
            </a:xfrm>
            <a:custGeom>
              <a:avLst/>
              <a:gdLst/>
              <a:ahLst/>
              <a:cxnLst/>
              <a:rect l="l" t="t" r="r" b="b"/>
              <a:pathLst>
                <a:path w="819150" h="876300">
                  <a:moveTo>
                    <a:pt x="0" y="876300"/>
                  </a:moveTo>
                  <a:lnTo>
                    <a:pt x="819150" y="0"/>
                  </a:lnTo>
                </a:path>
              </a:pathLst>
            </a:custGeom>
            <a:noFill/>
            <a:ln w="28575">
              <a:solidFill>
                <a:schemeClr val="accent5"/>
              </a:solidFill>
            </a:ln>
          </p:spPr>
        </p:sp>
        <p:sp>
          <p:nvSpPr>
            <p:cNvPr id="12" name="Line 12"/>
            <p:cNvSpPr/>
            <p:nvPr/>
          </p:nvSpPr>
          <p:spPr>
            <a:xfrm>
              <a:off x="2057400" y="3505200"/>
              <a:ext cx="819150" cy="895350"/>
            </a:xfrm>
            <a:custGeom>
              <a:avLst/>
              <a:gdLst/>
              <a:ahLst/>
              <a:cxnLst/>
              <a:rect l="l" t="t" r="r" b="b"/>
              <a:pathLst>
                <a:path w="819150" h="895350">
                  <a:moveTo>
                    <a:pt x="0" y="0"/>
                  </a:moveTo>
                  <a:lnTo>
                    <a:pt x="819150" y="895350"/>
                  </a:lnTo>
                </a:path>
              </a:pathLst>
            </a:custGeom>
            <a:noFill/>
            <a:ln w="28575">
              <a:solidFill>
                <a:schemeClr val="accent5"/>
              </a:solidFill>
            </a:ln>
          </p:spPr>
        </p:sp>
        <p:sp>
          <p:nvSpPr>
            <p:cNvPr id="13" name="TextBox 13"/>
            <p:cNvSpPr txBox="1"/>
            <p:nvPr/>
          </p:nvSpPr>
          <p:spPr>
            <a:xfrm>
              <a:off x="2869692" y="2102168"/>
              <a:ext cx="306689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稳定性线｜换一半样本还能留下吗？</a:t>
              </a:r>
            </a:p>
          </p:txBody>
        </p:sp>
        <p:sp>
          <p:nvSpPr>
            <p:cNvPr id="14" name="Ellipse 14"/>
            <p:cNvSpPr/>
            <p:nvPr/>
          </p:nvSpPr>
          <p:spPr>
            <a:xfrm>
              <a:off x="2933700" y="2514600"/>
              <a:ext cx="419100" cy="419100"/>
            </a:xfrm>
            <a:prstGeom prst="ellipse">
              <a:avLst/>
            </a:prstGeom>
            <a:solidFill>
              <a:schemeClr val="accent3"/>
            </a:solidFill>
            <a:ln>
              <a:noFill/>
            </a:ln>
          </p:spPr>
        </p:sp>
        <p:sp>
          <p:nvSpPr>
            <p:cNvPr id="15" name="TextBox 15"/>
            <p:cNvSpPr txBox="1"/>
            <p:nvPr/>
          </p:nvSpPr>
          <p:spPr>
            <a:xfrm>
              <a:off x="3083915" y="265461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6" name="TextBox 16"/>
            <p:cNvSpPr txBox="1"/>
            <p:nvPr/>
          </p:nvSpPr>
          <p:spPr>
            <a:xfrm>
              <a:off x="3508248" y="2307908"/>
              <a:ext cx="808261"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100</a:t>
              </a:r>
            </a:p>
          </p:txBody>
        </p:sp>
        <p:sp>
          <p:nvSpPr>
            <p:cNvPr id="17" name="TextBox 17"/>
            <p:cNvSpPr txBox="1"/>
            <p:nvPr/>
          </p:nvSpPr>
          <p:spPr>
            <a:xfrm>
              <a:off x="3517392" y="2787968"/>
              <a:ext cx="128587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次无放回半样本</a:t>
              </a:r>
            </a:p>
          </p:txBody>
        </p:sp>
        <p:sp>
          <p:nvSpPr>
            <p:cNvPr id="18" name="Line 18"/>
            <p:cNvSpPr/>
            <p:nvPr/>
          </p:nvSpPr>
          <p:spPr>
            <a:xfrm>
              <a:off x="4914900" y="2724150"/>
              <a:ext cx="800100" cy="9525"/>
            </a:xfrm>
            <a:custGeom>
              <a:avLst/>
              <a:gdLst/>
              <a:ahLst/>
              <a:cxnLst/>
              <a:rect l="l" t="t" r="r" b="b"/>
              <a:pathLst>
                <a:path w="800100" h="9525">
                  <a:moveTo>
                    <a:pt x="0" y="0"/>
                  </a:moveTo>
                  <a:lnTo>
                    <a:pt x="800100" y="0"/>
                  </a:lnTo>
                </a:path>
              </a:pathLst>
            </a:custGeom>
            <a:noFill/>
            <a:ln w="28575">
              <a:solidFill>
                <a:schemeClr val="accent5"/>
              </a:solidFill>
            </a:ln>
          </p:spPr>
        </p:sp>
        <p:sp>
          <p:nvSpPr>
            <p:cNvPr id="19" name="Ellipse 19"/>
            <p:cNvSpPr/>
            <p:nvPr/>
          </p:nvSpPr>
          <p:spPr>
            <a:xfrm>
              <a:off x="5772150" y="2514600"/>
              <a:ext cx="419100" cy="419100"/>
            </a:xfrm>
            <a:prstGeom prst="ellipse">
              <a:avLst/>
            </a:prstGeom>
            <a:solidFill>
              <a:schemeClr val="accent3"/>
            </a:solidFill>
            <a:ln>
              <a:noFill/>
            </a:ln>
          </p:spPr>
        </p:sp>
        <p:sp>
          <p:nvSpPr>
            <p:cNvPr id="20" name="TextBox 20"/>
            <p:cNvSpPr txBox="1"/>
            <p:nvPr/>
          </p:nvSpPr>
          <p:spPr>
            <a:xfrm>
              <a:off x="5922365" y="265461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21" name="TextBox 21"/>
            <p:cNvSpPr txBox="1"/>
            <p:nvPr/>
          </p:nvSpPr>
          <p:spPr>
            <a:xfrm>
              <a:off x="6353556" y="2453640"/>
              <a:ext cx="230817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每次重新做稀疏选择</a:t>
              </a:r>
            </a:p>
          </p:txBody>
        </p:sp>
        <p:sp>
          <p:nvSpPr>
            <p:cNvPr id="22" name="TextBox 22"/>
            <p:cNvSpPr txBox="1"/>
            <p:nvPr/>
          </p:nvSpPr>
          <p:spPr>
            <a:xfrm>
              <a:off x="6355842" y="2787968"/>
              <a:ext cx="183108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观察候选是否持续出现</a:t>
              </a:r>
            </a:p>
          </p:txBody>
        </p:sp>
        <p:sp>
          <p:nvSpPr>
            <p:cNvPr id="23" name="Line 23"/>
            <p:cNvSpPr/>
            <p:nvPr/>
          </p:nvSpPr>
          <p:spPr>
            <a:xfrm>
              <a:off x="8591550" y="2724150"/>
              <a:ext cx="1143000" cy="628650"/>
            </a:xfrm>
            <a:custGeom>
              <a:avLst/>
              <a:gdLst/>
              <a:ahLst/>
              <a:cxnLst/>
              <a:rect l="l" t="t" r="r" b="b"/>
              <a:pathLst>
                <a:path w="1143000" h="628650">
                  <a:moveTo>
                    <a:pt x="0" y="0"/>
                  </a:moveTo>
                  <a:lnTo>
                    <a:pt x="1143000" y="628650"/>
                  </a:lnTo>
                </a:path>
              </a:pathLst>
            </a:custGeom>
            <a:noFill/>
            <a:ln w="28575">
              <a:solidFill>
                <a:schemeClr val="accent3"/>
              </a:solidFill>
            </a:ln>
          </p:spPr>
        </p:sp>
        <p:sp>
          <p:nvSpPr>
            <p:cNvPr id="24" name="TextBox 24"/>
            <p:cNvSpPr txBox="1"/>
            <p:nvPr/>
          </p:nvSpPr>
          <p:spPr>
            <a:xfrm>
              <a:off x="2869692" y="3950018"/>
              <a:ext cx="287607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解释线｜这个公式有材料意义吗？</a:t>
              </a:r>
            </a:p>
          </p:txBody>
        </p:sp>
        <p:sp>
          <p:nvSpPr>
            <p:cNvPr id="25" name="Ellipse 25"/>
            <p:cNvSpPr/>
            <p:nvPr/>
          </p:nvSpPr>
          <p:spPr>
            <a:xfrm>
              <a:off x="2933700" y="4324350"/>
              <a:ext cx="419100" cy="419100"/>
            </a:xfrm>
            <a:prstGeom prst="ellipse">
              <a:avLst/>
            </a:prstGeom>
            <a:solidFill>
              <a:schemeClr val="accent3"/>
            </a:solidFill>
            <a:ln>
              <a:noFill/>
            </a:ln>
          </p:spPr>
        </p:sp>
        <p:sp>
          <p:nvSpPr>
            <p:cNvPr id="26" name="TextBox 26"/>
            <p:cNvSpPr txBox="1"/>
            <p:nvPr/>
          </p:nvSpPr>
          <p:spPr>
            <a:xfrm>
              <a:off x="3083915" y="44643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27" name="TextBox 27"/>
            <p:cNvSpPr txBox="1"/>
            <p:nvPr/>
          </p:nvSpPr>
          <p:spPr>
            <a:xfrm>
              <a:off x="3515106" y="4263390"/>
              <a:ext cx="230817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先按物理类别选代表</a:t>
              </a:r>
            </a:p>
          </p:txBody>
        </p:sp>
        <p:sp>
          <p:nvSpPr>
            <p:cNvPr id="28" name="TextBox 28"/>
            <p:cNvSpPr txBox="1"/>
            <p:nvPr/>
          </p:nvSpPr>
          <p:spPr>
            <a:xfrm>
              <a:off x="3517392" y="4597718"/>
              <a:ext cx="273977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局域｜网络｜浓度｜骨架｜对称性</a:t>
              </a:r>
            </a:p>
          </p:txBody>
        </p:sp>
        <p:sp>
          <p:nvSpPr>
            <p:cNvPr id="29" name="Line 29"/>
            <p:cNvSpPr/>
            <p:nvPr/>
          </p:nvSpPr>
          <p:spPr>
            <a:xfrm>
              <a:off x="5467350" y="4533900"/>
              <a:ext cx="571500" cy="9525"/>
            </a:xfrm>
            <a:custGeom>
              <a:avLst/>
              <a:gdLst/>
              <a:ahLst/>
              <a:cxnLst/>
              <a:rect l="l" t="t" r="r" b="b"/>
              <a:pathLst>
                <a:path w="571500" h="9525">
                  <a:moveTo>
                    <a:pt x="0" y="0"/>
                  </a:moveTo>
                  <a:lnTo>
                    <a:pt x="571500" y="0"/>
                  </a:lnTo>
                </a:path>
              </a:pathLst>
            </a:custGeom>
            <a:noFill/>
            <a:ln w="28575">
              <a:solidFill>
                <a:schemeClr val="accent5"/>
              </a:solidFill>
            </a:ln>
          </p:spPr>
        </p:sp>
        <p:sp>
          <p:nvSpPr>
            <p:cNvPr id="30" name="Ellipse 30"/>
            <p:cNvSpPr/>
            <p:nvPr/>
          </p:nvSpPr>
          <p:spPr>
            <a:xfrm>
              <a:off x="6096000" y="4324350"/>
              <a:ext cx="419100" cy="419100"/>
            </a:xfrm>
            <a:prstGeom prst="ellipse">
              <a:avLst/>
            </a:prstGeom>
            <a:solidFill>
              <a:schemeClr val="accent3"/>
            </a:solidFill>
            <a:ln>
              <a:noFill/>
            </a:ln>
          </p:spPr>
        </p:sp>
        <p:sp>
          <p:nvSpPr>
            <p:cNvPr id="31" name="TextBox 31"/>
            <p:cNvSpPr txBox="1"/>
            <p:nvPr/>
          </p:nvSpPr>
          <p:spPr>
            <a:xfrm>
              <a:off x="6246215" y="44643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32" name="TextBox 32"/>
            <p:cNvSpPr txBox="1"/>
            <p:nvPr/>
          </p:nvSpPr>
          <p:spPr>
            <a:xfrm>
              <a:off x="6677406" y="426339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再限制算符与量纲</a:t>
              </a:r>
            </a:p>
          </p:txBody>
        </p:sp>
        <p:sp>
          <p:nvSpPr>
            <p:cNvPr id="33" name="TextBox 33"/>
            <p:cNvSpPr txBox="1"/>
            <p:nvPr/>
          </p:nvSpPr>
          <p:spPr>
            <a:xfrm>
              <a:off x="6679692" y="4597718"/>
              <a:ext cx="310324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只允许预先规定的跨类别加、乘、比值</a:t>
              </a:r>
            </a:p>
          </p:txBody>
        </p:sp>
        <p:sp>
          <p:nvSpPr>
            <p:cNvPr id="34" name="Line 34"/>
            <p:cNvSpPr/>
            <p:nvPr/>
          </p:nvSpPr>
          <p:spPr>
            <a:xfrm>
              <a:off x="9258300" y="3714750"/>
              <a:ext cx="476250" cy="819150"/>
            </a:xfrm>
            <a:custGeom>
              <a:avLst/>
              <a:gdLst/>
              <a:ahLst/>
              <a:cxnLst/>
              <a:rect l="l" t="t" r="r" b="b"/>
              <a:pathLst>
                <a:path w="476250" h="819150">
                  <a:moveTo>
                    <a:pt x="0" y="819150"/>
                  </a:moveTo>
                  <a:lnTo>
                    <a:pt x="476250" y="0"/>
                  </a:lnTo>
                </a:path>
              </a:pathLst>
            </a:custGeom>
            <a:noFill/>
            <a:ln w="28575">
              <a:solidFill>
                <a:schemeClr val="accent3"/>
              </a:solidFill>
            </a:ln>
          </p:spPr>
        </p:sp>
        <p:sp>
          <p:nvSpPr>
            <p:cNvPr id="35" name="Ellipse 35"/>
            <p:cNvSpPr/>
            <p:nvPr/>
          </p:nvSpPr>
          <p:spPr>
            <a:xfrm>
              <a:off x="9753600" y="2971800"/>
              <a:ext cx="1066800" cy="1066800"/>
            </a:xfrm>
            <a:prstGeom prst="ellipse">
              <a:avLst/>
            </a:prstGeom>
            <a:solidFill>
              <a:schemeClr val="lt2"/>
            </a:solidFill>
            <a:ln w="38100">
              <a:solidFill>
                <a:schemeClr val="accent3"/>
              </a:solidFill>
            </a:ln>
          </p:spPr>
        </p:sp>
        <p:sp>
          <p:nvSpPr>
            <p:cNvPr id="36" name="TextBox 36"/>
            <p:cNvSpPr txBox="1"/>
            <p:nvPr/>
          </p:nvSpPr>
          <p:spPr>
            <a:xfrm>
              <a:off x="9916668" y="3264218"/>
              <a:ext cx="740664"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最终保留</a:t>
              </a:r>
            </a:p>
          </p:txBody>
        </p:sp>
        <p:sp>
          <p:nvSpPr>
            <p:cNvPr id="37" name="TextBox 37"/>
            <p:cNvSpPr txBox="1"/>
            <p:nvPr/>
          </p:nvSpPr>
          <p:spPr>
            <a:xfrm>
              <a:off x="9495478" y="3520440"/>
              <a:ext cx="1583044"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稳定 + 可解释</a:t>
              </a:r>
            </a:p>
          </p:txBody>
        </p:sp>
      </p:grpSp>
      <p:grpSp>
        <p:nvGrpSpPr>
          <p:cNvPr id="45" name="Group 45"/>
          <p:cNvGrpSpPr/>
          <p:nvPr/>
        </p:nvGrpSpPr>
        <p:grpSpPr>
          <a:xfrm>
            <a:off x="457200" y="5353050"/>
            <a:ext cx="11277600" cy="590550"/>
            <a:chOff x="457200" y="5353050"/>
            <a:chExt cx="11277600" cy="590550"/>
          </a:xfrm>
        </p:grpSpPr>
        <p:sp>
          <p:nvSpPr>
            <p:cNvPr id="39" name="Rectangle 39"/>
            <p:cNvSpPr/>
            <p:nvPr/>
          </p:nvSpPr>
          <p:spPr>
            <a:xfrm>
              <a:off x="457200" y="5353050"/>
              <a:ext cx="3714750" cy="590550"/>
            </a:xfrm>
            <a:prstGeom prst="rect">
              <a:avLst/>
            </a:prstGeom>
            <a:solidFill>
              <a:schemeClr val="lt2"/>
            </a:solidFill>
            <a:ln>
              <a:noFill/>
            </a:ln>
          </p:spPr>
        </p:sp>
        <p:sp>
          <p:nvSpPr>
            <p:cNvPr id="40" name="TextBox 40"/>
            <p:cNvSpPr txBox="1"/>
            <p:nvPr/>
          </p:nvSpPr>
          <p:spPr>
            <a:xfrm>
              <a:off x="621792" y="5445442"/>
              <a:ext cx="3105062"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第一代｜两批各3544个公式后再排名</a:t>
              </a:r>
            </a:p>
          </p:txBody>
        </p:sp>
        <p:sp>
          <p:nvSpPr>
            <p:cNvPr id="41" name="TextBox 41"/>
            <p:cNvSpPr txBox="1"/>
            <p:nvPr/>
          </p:nvSpPr>
          <p:spPr>
            <a:xfrm>
              <a:off x="622554" y="5699760"/>
              <a:ext cx="195072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重复抽样主要观察相关排名</a:t>
              </a:r>
            </a:p>
          </p:txBody>
        </p:sp>
        <p:sp>
          <p:nvSpPr>
            <p:cNvPr id="42" name="Rectangle 42"/>
            <p:cNvSpPr/>
            <p:nvPr/>
          </p:nvSpPr>
          <p:spPr>
            <a:xfrm>
              <a:off x="4324350" y="5353050"/>
              <a:ext cx="7410450" cy="590550"/>
            </a:xfrm>
            <a:prstGeom prst="rect">
              <a:avLst/>
            </a:prstGeom>
            <a:solidFill>
              <a:srgbClr val="F8EDE9"/>
            </a:solidFill>
            <a:ln>
              <a:noFill/>
            </a:ln>
          </p:spPr>
        </p:sp>
        <p:sp>
          <p:nvSpPr>
            <p:cNvPr id="43" name="TextBox 43"/>
            <p:cNvSpPr txBox="1"/>
            <p:nvPr/>
          </p:nvSpPr>
          <p:spPr>
            <a:xfrm>
              <a:off x="4488942" y="5445442"/>
              <a:ext cx="613916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当前边界｜“bootstrap”实为子抽样；top_k=10与簇阈值0.8尚无消费者</a:t>
              </a:r>
            </a:p>
          </p:txBody>
        </p:sp>
        <p:sp>
          <p:nvSpPr>
            <p:cNvPr id="44" name="TextBox 44"/>
            <p:cNvSpPr txBox="1"/>
            <p:nvPr/>
          </p:nvSpPr>
          <p:spPr>
            <a:xfrm>
              <a:off x="4489704" y="5699760"/>
              <a:ext cx="3869741"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没有嵌套LOSO，选择后的组合证据仍应标为探索性</a:t>
              </a:r>
            </a:p>
          </p:txBody>
        </p:sp>
      </p:grpSp>
      <p:grpSp>
        <p:nvGrpSpPr>
          <p:cNvPr id="48" name="Group 48"/>
          <p:cNvGrpSpPr/>
          <p:nvPr/>
        </p:nvGrpSpPr>
        <p:grpSpPr>
          <a:xfrm>
            <a:off x="451104" y="6356985"/>
            <a:ext cx="11289030" cy="234696"/>
            <a:chOff x="451104" y="6356985"/>
            <a:chExt cx="11289030" cy="234696"/>
          </a:xfrm>
        </p:grpSpPr>
        <p:sp>
          <p:nvSpPr>
            <p:cNvPr id="46" name="TextBox 46"/>
            <p:cNvSpPr txBox="1"/>
            <p:nvPr/>
          </p:nvSpPr>
          <p:spPr>
            <a:xfrm>
              <a:off x="451104" y="6356985"/>
              <a:ext cx="275844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先缩小可解释空间，再让数据选择候选</a:t>
              </a:r>
            </a:p>
          </p:txBody>
        </p:sp>
        <p:sp>
          <p:nvSpPr>
            <p:cNvPr id="47" name="TextBox 47"/>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10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55938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11｜回答现场问题</a:t>
              </a:r>
            </a:p>
          </p:txBody>
        </p:sp>
        <p:sp>
          <p:nvSpPr>
            <p:cNvPr id="3" name="TextBox 3"/>
            <p:cNvSpPr txBox="1"/>
            <p:nvPr/>
          </p:nvSpPr>
          <p:spPr>
            <a:xfrm>
              <a:off x="441198" y="650558"/>
              <a:ext cx="708888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现在能回答什么，还不能回答什么</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7" name="Group 7"/>
          <p:cNvGrpSpPr/>
          <p:nvPr/>
        </p:nvGrpSpPr>
        <p:grpSpPr>
          <a:xfrm>
            <a:off x="445770" y="1395412"/>
            <a:ext cx="8503920" cy="440055"/>
            <a:chOff x="445770" y="1395412"/>
            <a:chExt cx="8503920" cy="440055"/>
          </a:xfrm>
        </p:grpSpPr>
        <p:sp>
          <p:nvSpPr>
            <p:cNvPr id="6" name="TextBox 6"/>
            <p:cNvSpPr txBox="1"/>
            <p:nvPr/>
          </p:nvSpPr>
          <p:spPr>
            <a:xfrm>
              <a:off x="445770" y="1395412"/>
              <a:ext cx="8503920"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冗余和空位都能分层排查，但当前代码只覆盖证据链的一部分。</a:t>
              </a:r>
            </a:p>
          </p:txBody>
        </p:sp>
      </p:grpSp>
      <p:grpSp>
        <p:nvGrpSpPr>
          <p:cNvPr id="18" name="Group 18"/>
          <p:cNvGrpSpPr/>
          <p:nvPr/>
        </p:nvGrpSpPr>
        <p:grpSpPr>
          <a:xfrm>
            <a:off x="445008" y="1969770"/>
            <a:ext cx="4774692" cy="2907030"/>
            <a:chOff x="445008" y="1969770"/>
            <a:chExt cx="4774692" cy="2907030"/>
          </a:xfrm>
        </p:grpSpPr>
        <p:sp>
          <p:nvSpPr>
            <p:cNvPr id="8" name="TextBox 8"/>
            <p:cNvSpPr txBox="1"/>
            <p:nvPr/>
          </p:nvSpPr>
          <p:spPr>
            <a:xfrm>
              <a:off x="445008" y="1969770"/>
              <a:ext cx="325038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问题一｜描述符冗余</a:t>
              </a:r>
            </a:p>
          </p:txBody>
        </p:sp>
        <p:sp>
          <p:nvSpPr>
            <p:cNvPr id="9" name="TextBox 9"/>
            <p:cNvSpPr txBox="1"/>
            <p:nvPr/>
          </p:nvSpPr>
          <p:spPr>
            <a:xfrm>
              <a:off x="4372966" y="2099310"/>
              <a:ext cx="79568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证据增强 ↑</a:t>
              </a:r>
            </a:p>
          </p:txBody>
        </p:sp>
        <p:sp>
          <p:nvSpPr>
            <p:cNvPr id="10" name="Rectangle 10"/>
            <p:cNvSpPr/>
            <p:nvPr/>
          </p:nvSpPr>
          <p:spPr>
            <a:xfrm>
              <a:off x="457200" y="4362450"/>
              <a:ext cx="4762500" cy="514350"/>
            </a:xfrm>
            <a:prstGeom prst="rect">
              <a:avLst/>
            </a:prstGeom>
            <a:solidFill>
              <a:schemeClr val="accent3"/>
            </a:solidFill>
            <a:ln>
              <a:noFill/>
            </a:ln>
          </p:spPr>
        </p:sp>
        <p:sp>
          <p:nvSpPr>
            <p:cNvPr id="11" name="TextBox 11"/>
            <p:cNvSpPr txBox="1"/>
            <p:nvPr/>
          </p:nvSpPr>
          <p:spPr>
            <a:xfrm>
              <a:off x="621792" y="4531042"/>
              <a:ext cx="268525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精确别名｜可直接排除重复入口</a:t>
              </a:r>
            </a:p>
          </p:txBody>
        </p:sp>
        <p:sp>
          <p:nvSpPr>
            <p:cNvPr id="12" name="Rectangle 12"/>
            <p:cNvSpPr/>
            <p:nvPr/>
          </p:nvSpPr>
          <p:spPr>
            <a:xfrm>
              <a:off x="781050" y="3752850"/>
              <a:ext cx="4438650" cy="514350"/>
            </a:xfrm>
            <a:prstGeom prst="rect">
              <a:avLst/>
            </a:prstGeom>
            <a:solidFill>
              <a:srgbClr val="E9F2EF"/>
            </a:solidFill>
            <a:ln w="19050">
              <a:solidFill>
                <a:schemeClr val="accent3"/>
              </a:solidFill>
            </a:ln>
          </p:spPr>
        </p:sp>
        <p:sp>
          <p:nvSpPr>
            <p:cNvPr id="13" name="TextBox 13"/>
            <p:cNvSpPr txBox="1"/>
            <p:nvPr/>
          </p:nvSpPr>
          <p:spPr>
            <a:xfrm>
              <a:off x="945642" y="3921442"/>
              <a:ext cx="255803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共同计算来源｜能标记同源风险</a:t>
              </a:r>
            </a:p>
          </p:txBody>
        </p:sp>
        <p:sp>
          <p:nvSpPr>
            <p:cNvPr id="14" name="Rectangle 14"/>
            <p:cNvSpPr/>
            <p:nvPr/>
          </p:nvSpPr>
          <p:spPr>
            <a:xfrm>
              <a:off x="1104900" y="3143250"/>
              <a:ext cx="4114800" cy="514350"/>
            </a:xfrm>
            <a:prstGeom prst="rect">
              <a:avLst/>
            </a:prstGeom>
            <a:solidFill>
              <a:schemeClr val="lt2"/>
            </a:solidFill>
            <a:ln>
              <a:noFill/>
            </a:ln>
          </p:spPr>
        </p:sp>
        <p:sp>
          <p:nvSpPr>
            <p:cNvPr id="15" name="TextBox 15"/>
            <p:cNvSpPr txBox="1"/>
            <p:nvPr/>
          </p:nvSpPr>
          <p:spPr>
            <a:xfrm>
              <a:off x="1269492" y="3311842"/>
              <a:ext cx="273977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同类数学形式｜不能直接当作别名</a:t>
              </a:r>
            </a:p>
          </p:txBody>
        </p:sp>
        <p:sp>
          <p:nvSpPr>
            <p:cNvPr id="16" name="Rectangle 16"/>
            <p:cNvSpPr/>
            <p:nvPr/>
          </p:nvSpPr>
          <p:spPr>
            <a:xfrm>
              <a:off x="1428750" y="2533650"/>
              <a:ext cx="3790950" cy="514350"/>
            </a:xfrm>
            <a:prstGeom prst="rect">
              <a:avLst/>
            </a:prstGeom>
            <a:solidFill>
              <a:schemeClr val="lt1"/>
            </a:solidFill>
            <a:ln w="19050">
              <a:solidFill>
                <a:schemeClr val="accent2"/>
              </a:solidFill>
            </a:ln>
          </p:spPr>
        </p:sp>
        <p:sp>
          <p:nvSpPr>
            <p:cNvPr id="17" name="TextBox 17"/>
            <p:cNvSpPr txBox="1"/>
            <p:nvPr/>
          </p:nvSpPr>
          <p:spPr>
            <a:xfrm>
              <a:off x="1593342" y="2702242"/>
              <a:ext cx="287607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新数据高度相关｜自动聚类未实现</a:t>
              </a:r>
            </a:p>
          </p:txBody>
        </p:sp>
      </p:grpSp>
      <p:grpSp>
        <p:nvGrpSpPr>
          <p:cNvPr id="29" name="Group 29"/>
          <p:cNvGrpSpPr/>
          <p:nvPr/>
        </p:nvGrpSpPr>
        <p:grpSpPr>
          <a:xfrm>
            <a:off x="6502908" y="1969770"/>
            <a:ext cx="5237988" cy="2907030"/>
            <a:chOff x="6502908" y="1969770"/>
            <a:chExt cx="5237988" cy="2907030"/>
          </a:xfrm>
        </p:grpSpPr>
        <p:sp>
          <p:nvSpPr>
            <p:cNvPr id="19" name="TextBox 19"/>
            <p:cNvSpPr txBox="1"/>
            <p:nvPr/>
          </p:nvSpPr>
          <p:spPr>
            <a:xfrm>
              <a:off x="6502908" y="1969770"/>
              <a:ext cx="289194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j-lt"/>
                  <a:ea typeface="+mj-ea"/>
                  <a:cs typeface="+mj-cs"/>
                </a:rPr>
                <a:t>问题二｜空位识别</a:t>
              </a:r>
            </a:p>
          </p:txBody>
        </p:sp>
        <p:sp>
          <p:nvSpPr>
            <p:cNvPr id="20" name="TextBox 20"/>
            <p:cNvSpPr txBox="1"/>
            <p:nvPr/>
          </p:nvSpPr>
          <p:spPr>
            <a:xfrm>
              <a:off x="10945216" y="2099310"/>
              <a:ext cx="79568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证据增强 ↑</a:t>
              </a:r>
            </a:p>
          </p:txBody>
        </p:sp>
        <p:sp>
          <p:nvSpPr>
            <p:cNvPr id="21" name="Rectangle 21"/>
            <p:cNvSpPr/>
            <p:nvPr/>
          </p:nvSpPr>
          <p:spPr>
            <a:xfrm>
              <a:off x="6515100" y="4362450"/>
              <a:ext cx="4762500" cy="514350"/>
            </a:xfrm>
            <a:prstGeom prst="rect">
              <a:avLst/>
            </a:prstGeom>
            <a:solidFill>
              <a:schemeClr val="accent3"/>
            </a:solidFill>
            <a:ln>
              <a:noFill/>
            </a:ln>
          </p:spPr>
        </p:sp>
        <p:sp>
          <p:nvSpPr>
            <p:cNvPr id="22" name="TextBox 22"/>
            <p:cNvSpPr txBox="1"/>
            <p:nvPr/>
          </p:nvSpPr>
          <p:spPr>
            <a:xfrm>
              <a:off x="6679692" y="4531042"/>
              <a:ext cx="353063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CIF / pymatgen占位｜可计算已报告亏缺</a:t>
              </a:r>
            </a:p>
          </p:txBody>
        </p:sp>
        <p:sp>
          <p:nvSpPr>
            <p:cNvPr id="23" name="Rectangle 23"/>
            <p:cNvSpPr/>
            <p:nvPr/>
          </p:nvSpPr>
          <p:spPr>
            <a:xfrm>
              <a:off x="6838950" y="3752850"/>
              <a:ext cx="4438650" cy="514350"/>
            </a:xfrm>
            <a:prstGeom prst="rect">
              <a:avLst/>
            </a:prstGeom>
            <a:solidFill>
              <a:schemeClr val="lt2"/>
            </a:solidFill>
            <a:ln>
              <a:noFill/>
            </a:ln>
          </p:spPr>
        </p:sp>
        <p:sp>
          <p:nvSpPr>
            <p:cNvPr id="24" name="TextBox 24"/>
            <p:cNvSpPr txBox="1"/>
            <p:nvPr/>
          </p:nvSpPr>
          <p:spPr>
            <a:xfrm>
              <a:off x="7003542" y="3921442"/>
              <a:ext cx="26787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Voronoi / Zeo++｜几何空腔线索</a:t>
              </a:r>
            </a:p>
          </p:txBody>
        </p:sp>
        <p:sp>
          <p:nvSpPr>
            <p:cNvPr id="25" name="Rectangle 25"/>
            <p:cNvSpPr/>
            <p:nvPr/>
          </p:nvSpPr>
          <p:spPr>
            <a:xfrm>
              <a:off x="7162800" y="3143250"/>
              <a:ext cx="4114800" cy="514350"/>
            </a:xfrm>
            <a:prstGeom prst="rect">
              <a:avLst/>
            </a:prstGeom>
            <a:solidFill>
              <a:schemeClr val="lt1"/>
            </a:solidFill>
            <a:ln w="19050">
              <a:solidFill>
                <a:schemeClr val="accent2"/>
              </a:solidFill>
            </a:ln>
          </p:spPr>
        </p:sp>
        <p:sp>
          <p:nvSpPr>
            <p:cNvPr id="26" name="TextBox 26"/>
            <p:cNvSpPr txBox="1"/>
            <p:nvPr/>
          </p:nvSpPr>
          <p:spPr>
            <a:xfrm>
              <a:off x="7327392" y="3311842"/>
              <a:ext cx="2943810"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BVS / BVSE / SoftBV｜后端未接齐</a:t>
              </a:r>
            </a:p>
          </p:txBody>
        </p:sp>
        <p:sp>
          <p:nvSpPr>
            <p:cNvPr id="27" name="Rectangle 27"/>
            <p:cNvSpPr/>
            <p:nvPr/>
          </p:nvSpPr>
          <p:spPr>
            <a:xfrm>
              <a:off x="7486650" y="2533650"/>
              <a:ext cx="3790950" cy="514350"/>
            </a:xfrm>
            <a:prstGeom prst="rect">
              <a:avLst/>
            </a:prstGeom>
            <a:solidFill>
              <a:schemeClr val="lt1"/>
            </a:solidFill>
            <a:ln w="19050">
              <a:solidFill>
                <a:schemeClr val="accent2"/>
              </a:solidFill>
            </a:ln>
          </p:spPr>
        </p:sp>
        <p:sp>
          <p:nvSpPr>
            <p:cNvPr id="28" name="TextBox 28"/>
            <p:cNvSpPr txBox="1"/>
            <p:nvPr/>
          </p:nvSpPr>
          <p:spPr>
            <a:xfrm>
              <a:off x="7651242" y="2702242"/>
              <a:ext cx="262476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DFT / AIMD｜高成本动态验证</a:t>
              </a:r>
            </a:p>
          </p:txBody>
        </p:sp>
      </p:grpSp>
      <p:grpSp>
        <p:nvGrpSpPr>
          <p:cNvPr id="33" name="Group 33"/>
          <p:cNvGrpSpPr/>
          <p:nvPr/>
        </p:nvGrpSpPr>
        <p:grpSpPr>
          <a:xfrm>
            <a:off x="457200" y="5219700"/>
            <a:ext cx="11277600" cy="742950"/>
            <a:chOff x="457200" y="5219700"/>
            <a:chExt cx="11277600" cy="742950"/>
          </a:xfrm>
        </p:grpSpPr>
        <p:sp>
          <p:nvSpPr>
            <p:cNvPr id="30" name="Rectangle 30"/>
            <p:cNvSpPr/>
            <p:nvPr/>
          </p:nvSpPr>
          <p:spPr>
            <a:xfrm>
              <a:off x="457200" y="5219700"/>
              <a:ext cx="11277600" cy="742950"/>
            </a:xfrm>
            <a:prstGeom prst="rect">
              <a:avLst/>
            </a:prstGeom>
            <a:solidFill>
              <a:srgbClr val="F8EDE9"/>
            </a:solidFill>
            <a:ln>
              <a:noFill/>
            </a:ln>
          </p:spPr>
        </p:sp>
        <p:sp>
          <p:nvSpPr>
            <p:cNvPr id="31" name="TextBox 31"/>
            <p:cNvSpPr txBox="1"/>
            <p:nvPr/>
          </p:nvSpPr>
          <p:spPr>
            <a:xfrm>
              <a:off x="621792" y="5321618"/>
              <a:ext cx="809452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当前事实：二代没有Zeo++自动后端；BVSE入口永久返回NaN；旧SoftBV脚本依赖外部程序。</a:t>
              </a:r>
            </a:p>
          </p:txBody>
        </p:sp>
        <p:sp>
          <p:nvSpPr>
            <p:cNvPr id="32" name="TextBox 32"/>
            <p:cNvSpPr txBox="1"/>
            <p:nvPr/>
          </p:nvSpPr>
          <p:spPr>
            <a:xfrm>
              <a:off x="621792" y="5607368"/>
              <a:ext cx="984005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重要纠正：occupancy_split拆的是非Na满占位点，只证明等价CIF写法可能改变描述符，不能证明真实Na空位识别不准。</a:t>
              </a:r>
            </a:p>
          </p:txBody>
        </p:sp>
      </p:grpSp>
      <p:grpSp>
        <p:nvGrpSpPr>
          <p:cNvPr id="36" name="Group 36"/>
          <p:cNvGrpSpPr/>
          <p:nvPr/>
        </p:nvGrpSpPr>
        <p:grpSpPr>
          <a:xfrm>
            <a:off x="451104" y="6356985"/>
            <a:ext cx="11289030" cy="234696"/>
            <a:chOff x="451104" y="6356985"/>
            <a:chExt cx="11289030" cy="234696"/>
          </a:xfrm>
        </p:grpSpPr>
        <p:sp>
          <p:nvSpPr>
            <p:cNvPr id="34" name="TextBox 34"/>
            <p:cNvSpPr txBox="1"/>
            <p:nvPr/>
          </p:nvSpPr>
          <p:spPr>
            <a:xfrm>
              <a:off x="451104" y="6356985"/>
              <a:ext cx="243535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能标记风险，不等于已经完成验证</a:t>
              </a:r>
            </a:p>
          </p:txBody>
        </p:sp>
        <p:sp>
          <p:nvSpPr>
            <p:cNvPr id="35" name="TextBox 35"/>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11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11468"/>
            <a:ext cx="11293602" cy="936117"/>
            <a:chOff x="441198" y="311468"/>
            <a:chExt cx="11293602" cy="936117"/>
          </a:xfrm>
        </p:grpSpPr>
        <p:sp>
          <p:nvSpPr>
            <p:cNvPr id="2" name="TextBox 2"/>
            <p:cNvSpPr txBox="1"/>
            <p:nvPr/>
          </p:nvSpPr>
          <p:spPr>
            <a:xfrm>
              <a:off x="450342" y="311468"/>
              <a:ext cx="1177741"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12｜正文结论</a:t>
              </a:r>
            </a:p>
          </p:txBody>
        </p:sp>
        <p:sp>
          <p:nvSpPr>
            <p:cNvPr id="3" name="TextBox 3"/>
            <p:cNvSpPr txBox="1"/>
            <p:nvPr/>
          </p:nvSpPr>
          <p:spPr>
            <a:xfrm>
              <a:off x="441198" y="631508"/>
              <a:ext cx="760639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阶段性成果：把“能否相信”变成流程</a:t>
              </a:r>
            </a:p>
          </p:txBody>
        </p:sp>
        <p:sp>
          <p:nvSpPr>
            <p:cNvPr id="4" name="Line 4"/>
            <p:cNvSpPr/>
            <p:nvPr/>
          </p:nvSpPr>
          <p:spPr>
            <a:xfrm>
              <a:off x="457200" y="118110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7" name="Group 7"/>
          <p:cNvGrpSpPr/>
          <p:nvPr/>
        </p:nvGrpSpPr>
        <p:grpSpPr>
          <a:xfrm>
            <a:off x="445770" y="1376362"/>
            <a:ext cx="7595235" cy="440055"/>
            <a:chOff x="445770" y="1376362"/>
            <a:chExt cx="7595235" cy="440055"/>
          </a:xfrm>
        </p:grpSpPr>
        <p:sp>
          <p:nvSpPr>
            <p:cNvPr id="6" name="TextBox 6"/>
            <p:cNvSpPr txBox="1"/>
            <p:nvPr/>
          </p:nvSpPr>
          <p:spPr>
            <a:xfrm>
              <a:off x="445770" y="1376362"/>
              <a:ext cx="759523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框架已建立；统计闭环补齐前，结果不能进入论文结论。</a:t>
              </a:r>
            </a:p>
          </p:txBody>
        </p:sp>
      </p:grpSp>
      <p:grpSp>
        <p:nvGrpSpPr>
          <p:cNvPr id="23" name="Group 23"/>
          <p:cNvGrpSpPr/>
          <p:nvPr/>
        </p:nvGrpSpPr>
        <p:grpSpPr>
          <a:xfrm>
            <a:off x="457200" y="1981200"/>
            <a:ext cx="4762500" cy="3276600"/>
            <a:chOff x="457200" y="1981200"/>
            <a:chExt cx="4762500" cy="3276600"/>
          </a:xfrm>
        </p:grpSpPr>
        <p:sp>
          <p:nvSpPr>
            <p:cNvPr id="8" name="Rectangle 8"/>
            <p:cNvSpPr/>
            <p:nvPr/>
          </p:nvSpPr>
          <p:spPr>
            <a:xfrm>
              <a:off x="457200" y="1981200"/>
              <a:ext cx="4762500" cy="990600"/>
            </a:xfrm>
            <a:prstGeom prst="rect">
              <a:avLst/>
            </a:prstGeom>
            <a:solidFill>
              <a:srgbClr val="E9F2EF"/>
            </a:solidFill>
            <a:ln>
              <a:noFill/>
            </a:ln>
          </p:spPr>
        </p:sp>
        <p:sp>
          <p:nvSpPr>
            <p:cNvPr id="9" name="Rectangle 9"/>
            <p:cNvSpPr/>
            <p:nvPr/>
          </p:nvSpPr>
          <p:spPr>
            <a:xfrm>
              <a:off x="457200" y="1981200"/>
              <a:ext cx="95250" cy="990600"/>
            </a:xfrm>
            <a:prstGeom prst="rect">
              <a:avLst/>
            </a:prstGeom>
            <a:solidFill>
              <a:schemeClr val="accent3"/>
            </a:solidFill>
            <a:ln>
              <a:noFill/>
            </a:ln>
          </p:spPr>
        </p:sp>
        <p:sp>
          <p:nvSpPr>
            <p:cNvPr id="10" name="TextBox 10"/>
            <p:cNvSpPr txBox="1"/>
            <p:nvPr/>
          </p:nvSpPr>
          <p:spPr>
            <a:xfrm>
              <a:off x="736092" y="21212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已实现</a:t>
              </a:r>
            </a:p>
          </p:txBody>
        </p:sp>
        <p:sp>
          <p:nvSpPr>
            <p:cNvPr id="11" name="TextBox 11"/>
            <p:cNvSpPr txBox="1"/>
            <p:nvPr/>
          </p:nvSpPr>
          <p:spPr>
            <a:xfrm>
              <a:off x="736854" y="2423160"/>
              <a:ext cx="36227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41个计算入口 / 38个搜索入口｜体系差异控制排序</a:t>
              </a:r>
            </a:p>
          </p:txBody>
        </p:sp>
        <p:sp>
          <p:nvSpPr>
            <p:cNvPr id="12" name="TextBox 12"/>
            <p:cNvSpPr txBox="1"/>
            <p:nvPr/>
          </p:nvSpPr>
          <p:spPr>
            <a:xfrm>
              <a:off x="736854" y="2670810"/>
              <a:ext cx="356616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半样本稳定性｜受约束组合｜组合分体系探索检查</a:t>
              </a:r>
            </a:p>
          </p:txBody>
        </p:sp>
        <p:sp>
          <p:nvSpPr>
            <p:cNvPr id="13" name="Rectangle 13"/>
            <p:cNvSpPr/>
            <p:nvPr/>
          </p:nvSpPr>
          <p:spPr>
            <a:xfrm>
              <a:off x="457200" y="3124200"/>
              <a:ext cx="4762500" cy="990600"/>
            </a:xfrm>
            <a:prstGeom prst="rect">
              <a:avLst/>
            </a:prstGeom>
            <a:solidFill>
              <a:schemeClr val="lt2"/>
            </a:solidFill>
            <a:ln>
              <a:noFill/>
            </a:ln>
          </p:spPr>
        </p:sp>
        <p:sp>
          <p:nvSpPr>
            <p:cNvPr id="14" name="Rectangle 14"/>
            <p:cNvSpPr/>
            <p:nvPr/>
          </p:nvSpPr>
          <p:spPr>
            <a:xfrm>
              <a:off x="457200" y="3124200"/>
              <a:ext cx="95250" cy="990600"/>
            </a:xfrm>
            <a:prstGeom prst="rect">
              <a:avLst/>
            </a:prstGeom>
            <a:solidFill>
              <a:schemeClr val="accent1"/>
            </a:solidFill>
            <a:ln>
              <a:noFill/>
            </a:ln>
          </p:spPr>
        </p:sp>
        <p:sp>
          <p:nvSpPr>
            <p:cNvPr id="15" name="TextBox 15"/>
            <p:cNvSpPr txBox="1"/>
            <p:nvPr/>
          </p:nvSpPr>
          <p:spPr>
            <a:xfrm>
              <a:off x="736092" y="3264218"/>
              <a:ext cx="134948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已记录，待接入</a:t>
              </a:r>
            </a:p>
          </p:txBody>
        </p:sp>
        <p:sp>
          <p:nvSpPr>
            <p:cNvPr id="16" name="TextBox 16"/>
            <p:cNvSpPr txBox="1"/>
            <p:nvPr/>
          </p:nvSpPr>
          <p:spPr>
            <a:xfrm>
              <a:off x="736854" y="3566160"/>
              <a:ext cx="2362657"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两表数据契约｜7种等价写法探针</a:t>
              </a:r>
            </a:p>
          </p:txBody>
        </p:sp>
        <p:sp>
          <p:nvSpPr>
            <p:cNvPr id="17" name="TextBox 17"/>
            <p:cNvSpPr txBox="1"/>
            <p:nvPr/>
          </p:nvSpPr>
          <p:spPr>
            <a:xfrm>
              <a:off x="736854" y="3813810"/>
              <a:ext cx="2039569"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5结构数值指纹｜相关簇阈值</a:t>
              </a:r>
            </a:p>
          </p:txBody>
        </p:sp>
        <p:sp>
          <p:nvSpPr>
            <p:cNvPr id="18" name="Rectangle 18"/>
            <p:cNvSpPr/>
            <p:nvPr/>
          </p:nvSpPr>
          <p:spPr>
            <a:xfrm>
              <a:off x="457200" y="4267200"/>
              <a:ext cx="4762500" cy="990600"/>
            </a:xfrm>
            <a:prstGeom prst="rect">
              <a:avLst/>
            </a:prstGeom>
            <a:solidFill>
              <a:srgbClr val="F8EDE9"/>
            </a:solidFill>
            <a:ln>
              <a:noFill/>
            </a:ln>
          </p:spPr>
        </p:sp>
        <p:sp>
          <p:nvSpPr>
            <p:cNvPr id="19" name="Rectangle 19"/>
            <p:cNvSpPr/>
            <p:nvPr/>
          </p:nvSpPr>
          <p:spPr>
            <a:xfrm>
              <a:off x="457200" y="4267200"/>
              <a:ext cx="95250" cy="990600"/>
            </a:xfrm>
            <a:prstGeom prst="rect">
              <a:avLst/>
            </a:prstGeom>
            <a:solidFill>
              <a:schemeClr val="accent2"/>
            </a:solidFill>
            <a:ln>
              <a:noFill/>
            </a:ln>
          </p:spPr>
        </p:sp>
        <p:sp>
          <p:nvSpPr>
            <p:cNvPr id="20" name="TextBox 20"/>
            <p:cNvSpPr txBox="1"/>
            <p:nvPr/>
          </p:nvSpPr>
          <p:spPr>
            <a:xfrm>
              <a:off x="736092" y="4407218"/>
              <a:ext cx="77701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必须完成</a:t>
              </a:r>
            </a:p>
          </p:txBody>
        </p:sp>
        <p:sp>
          <p:nvSpPr>
            <p:cNvPr id="21" name="TextBox 21"/>
            <p:cNvSpPr txBox="1"/>
            <p:nvPr/>
          </p:nvSpPr>
          <p:spPr>
            <a:xfrm>
              <a:off x="736854" y="4709160"/>
              <a:ext cx="3113837"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三类体系枚举｜205处身份字段｜主检验p值</a:t>
              </a:r>
            </a:p>
          </p:txBody>
        </p:sp>
        <p:sp>
          <p:nvSpPr>
            <p:cNvPr id="22" name="TextBox 22"/>
            <p:cNvSpPr txBox="1"/>
            <p:nvPr/>
          </p:nvSpPr>
          <p:spPr>
            <a:xfrm>
              <a:off x="736854" y="4956810"/>
              <a:ext cx="3528365"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相关簇选择｜真正LOSO｜治理工具串入主流程</a:t>
              </a:r>
            </a:p>
          </p:txBody>
        </p:sp>
      </p:grpSp>
      <p:grpSp>
        <p:nvGrpSpPr>
          <p:cNvPr id="47" name="Group 47"/>
          <p:cNvGrpSpPr/>
          <p:nvPr/>
        </p:nvGrpSpPr>
        <p:grpSpPr>
          <a:xfrm>
            <a:off x="5746242" y="2025968"/>
            <a:ext cx="3108408" cy="3216783"/>
            <a:chOff x="5746242" y="2025968"/>
            <a:chExt cx="3108408" cy="3216783"/>
          </a:xfrm>
        </p:grpSpPr>
        <p:sp>
          <p:nvSpPr>
            <p:cNvPr id="24" name="TextBox 24"/>
            <p:cNvSpPr txBox="1"/>
            <p:nvPr/>
          </p:nvSpPr>
          <p:spPr>
            <a:xfrm>
              <a:off x="5746242" y="2025968"/>
              <a:ext cx="2494426"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新数据到位后的正确执行顺序</a:t>
              </a:r>
            </a:p>
          </p:txBody>
        </p:sp>
        <p:sp>
          <p:nvSpPr>
            <p:cNvPr id="25" name="Line 25"/>
            <p:cNvSpPr/>
            <p:nvPr/>
          </p:nvSpPr>
          <p:spPr>
            <a:xfrm>
              <a:off x="6076950" y="2457450"/>
              <a:ext cx="9525" cy="2647950"/>
            </a:xfrm>
            <a:custGeom>
              <a:avLst/>
              <a:gdLst/>
              <a:ahLst/>
              <a:cxnLst/>
              <a:rect l="l" t="t" r="r" b="b"/>
              <a:pathLst>
                <a:path w="9525" h="2647950">
                  <a:moveTo>
                    <a:pt x="0" y="0"/>
                  </a:moveTo>
                  <a:lnTo>
                    <a:pt x="0" y="2647950"/>
                  </a:lnTo>
                </a:path>
              </a:pathLst>
            </a:custGeom>
            <a:noFill/>
            <a:ln w="38100">
              <a:solidFill>
                <a:schemeClr val="accent5"/>
              </a:solidFill>
            </a:ln>
          </p:spPr>
        </p:sp>
        <p:sp>
          <p:nvSpPr>
            <p:cNvPr id="26" name="Ellipse 26"/>
            <p:cNvSpPr/>
            <p:nvPr/>
          </p:nvSpPr>
          <p:spPr>
            <a:xfrm>
              <a:off x="5924550" y="2400300"/>
              <a:ext cx="304800" cy="304800"/>
            </a:xfrm>
            <a:prstGeom prst="ellipse">
              <a:avLst/>
            </a:prstGeom>
            <a:solidFill>
              <a:schemeClr val="accent3"/>
            </a:solidFill>
            <a:ln>
              <a:noFill/>
            </a:ln>
          </p:spPr>
        </p:sp>
        <p:sp>
          <p:nvSpPr>
            <p:cNvPr id="27" name="Ellipse 27"/>
            <p:cNvSpPr/>
            <p:nvPr/>
          </p:nvSpPr>
          <p:spPr>
            <a:xfrm>
              <a:off x="5924550" y="2819400"/>
              <a:ext cx="304800" cy="304800"/>
            </a:xfrm>
            <a:prstGeom prst="ellipse">
              <a:avLst/>
            </a:prstGeom>
            <a:solidFill>
              <a:schemeClr val="accent3"/>
            </a:solidFill>
            <a:ln>
              <a:noFill/>
            </a:ln>
          </p:spPr>
        </p:sp>
        <p:sp>
          <p:nvSpPr>
            <p:cNvPr id="28" name="Ellipse 28"/>
            <p:cNvSpPr/>
            <p:nvPr/>
          </p:nvSpPr>
          <p:spPr>
            <a:xfrm>
              <a:off x="5924550" y="3238500"/>
              <a:ext cx="304800" cy="304800"/>
            </a:xfrm>
            <a:prstGeom prst="ellipse">
              <a:avLst/>
            </a:prstGeom>
            <a:solidFill>
              <a:schemeClr val="accent3"/>
            </a:solidFill>
            <a:ln>
              <a:noFill/>
            </a:ln>
          </p:spPr>
        </p:sp>
        <p:sp>
          <p:nvSpPr>
            <p:cNvPr id="29" name="Ellipse 29"/>
            <p:cNvSpPr/>
            <p:nvPr/>
          </p:nvSpPr>
          <p:spPr>
            <a:xfrm>
              <a:off x="5924550" y="3657600"/>
              <a:ext cx="304800" cy="304800"/>
            </a:xfrm>
            <a:prstGeom prst="ellipse">
              <a:avLst/>
            </a:prstGeom>
            <a:solidFill>
              <a:schemeClr val="accent1"/>
            </a:solidFill>
            <a:ln>
              <a:noFill/>
            </a:ln>
          </p:spPr>
        </p:sp>
        <p:sp>
          <p:nvSpPr>
            <p:cNvPr id="30" name="Ellipse 30"/>
            <p:cNvSpPr/>
            <p:nvPr/>
          </p:nvSpPr>
          <p:spPr>
            <a:xfrm>
              <a:off x="5924550" y="4076700"/>
              <a:ext cx="304800" cy="304800"/>
            </a:xfrm>
            <a:prstGeom prst="ellipse">
              <a:avLst/>
            </a:prstGeom>
            <a:solidFill>
              <a:schemeClr val="accent1"/>
            </a:solidFill>
            <a:ln>
              <a:noFill/>
            </a:ln>
          </p:spPr>
        </p:sp>
        <p:sp>
          <p:nvSpPr>
            <p:cNvPr id="31" name="Ellipse 31"/>
            <p:cNvSpPr/>
            <p:nvPr/>
          </p:nvSpPr>
          <p:spPr>
            <a:xfrm>
              <a:off x="5924550" y="4495800"/>
              <a:ext cx="304800" cy="304800"/>
            </a:xfrm>
            <a:prstGeom prst="ellipse">
              <a:avLst/>
            </a:prstGeom>
            <a:solidFill>
              <a:schemeClr val="accent2"/>
            </a:solidFill>
            <a:ln>
              <a:noFill/>
            </a:ln>
          </p:spPr>
        </p:sp>
        <p:sp>
          <p:nvSpPr>
            <p:cNvPr id="32" name="Ellipse 32"/>
            <p:cNvSpPr/>
            <p:nvPr/>
          </p:nvSpPr>
          <p:spPr>
            <a:xfrm>
              <a:off x="5924550" y="4914900"/>
              <a:ext cx="304800" cy="304800"/>
            </a:xfrm>
            <a:prstGeom prst="ellipse">
              <a:avLst/>
            </a:prstGeom>
            <a:solidFill>
              <a:schemeClr val="accent2"/>
            </a:solidFill>
            <a:ln>
              <a:noFill/>
            </a:ln>
          </p:spPr>
        </p:sp>
        <p:sp>
          <p:nvSpPr>
            <p:cNvPr id="33" name="TextBox 33"/>
            <p:cNvSpPr txBox="1"/>
            <p:nvPr/>
          </p:nvSpPr>
          <p:spPr>
            <a:xfrm>
              <a:off x="6030801" y="24965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1</a:t>
              </a:r>
            </a:p>
          </p:txBody>
        </p:sp>
        <p:sp>
          <p:nvSpPr>
            <p:cNvPr id="34" name="TextBox 34"/>
            <p:cNvSpPr txBox="1"/>
            <p:nvPr/>
          </p:nvSpPr>
          <p:spPr>
            <a:xfrm>
              <a:off x="6030801" y="29156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2</a:t>
              </a:r>
            </a:p>
          </p:txBody>
        </p:sp>
        <p:sp>
          <p:nvSpPr>
            <p:cNvPr id="35" name="TextBox 35"/>
            <p:cNvSpPr txBox="1"/>
            <p:nvPr/>
          </p:nvSpPr>
          <p:spPr>
            <a:xfrm>
              <a:off x="6030801" y="33347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3</a:t>
              </a:r>
            </a:p>
          </p:txBody>
        </p:sp>
        <p:sp>
          <p:nvSpPr>
            <p:cNvPr id="36" name="TextBox 36"/>
            <p:cNvSpPr txBox="1"/>
            <p:nvPr/>
          </p:nvSpPr>
          <p:spPr>
            <a:xfrm>
              <a:off x="6030801" y="37538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4</a:t>
              </a:r>
            </a:p>
          </p:txBody>
        </p:sp>
        <p:sp>
          <p:nvSpPr>
            <p:cNvPr id="37" name="TextBox 37"/>
            <p:cNvSpPr txBox="1"/>
            <p:nvPr/>
          </p:nvSpPr>
          <p:spPr>
            <a:xfrm>
              <a:off x="6030801" y="41729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5</a:t>
              </a:r>
            </a:p>
          </p:txBody>
        </p:sp>
        <p:sp>
          <p:nvSpPr>
            <p:cNvPr id="38" name="TextBox 38"/>
            <p:cNvSpPr txBox="1"/>
            <p:nvPr/>
          </p:nvSpPr>
          <p:spPr>
            <a:xfrm>
              <a:off x="6030801" y="45920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6</a:t>
              </a:r>
            </a:p>
          </p:txBody>
        </p:sp>
        <p:sp>
          <p:nvSpPr>
            <p:cNvPr id="39" name="TextBox 39"/>
            <p:cNvSpPr txBox="1"/>
            <p:nvPr/>
          </p:nvSpPr>
          <p:spPr>
            <a:xfrm>
              <a:off x="6030801" y="5011102"/>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7</a:t>
              </a:r>
            </a:p>
          </p:txBody>
        </p:sp>
        <p:sp>
          <p:nvSpPr>
            <p:cNvPr id="40" name="TextBox 40"/>
            <p:cNvSpPr txBox="1"/>
            <p:nvPr/>
          </p:nvSpPr>
          <p:spPr>
            <a:xfrm>
              <a:off x="6451092" y="246411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数据字段与体系值域定稿</a:t>
              </a:r>
            </a:p>
          </p:txBody>
        </p:sp>
        <p:sp>
          <p:nvSpPr>
            <p:cNvPr id="41" name="TextBox 41"/>
            <p:cNvSpPr txBox="1"/>
            <p:nvPr/>
          </p:nvSpPr>
          <p:spPr>
            <a:xfrm>
              <a:off x="6451092" y="2883218"/>
              <a:ext cx="240355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数据契约校验 + 室温测量选择</a:t>
              </a:r>
            </a:p>
          </p:txBody>
        </p:sp>
        <p:sp>
          <p:nvSpPr>
            <p:cNvPr id="42" name="TextBox 42"/>
            <p:cNvSpPr txBox="1"/>
            <p:nvPr/>
          </p:nvSpPr>
          <p:spPr>
            <a:xfrm>
              <a:off x="6451092" y="3302318"/>
              <a:ext cx="162671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CIF路径和解析预检</a:t>
              </a:r>
            </a:p>
          </p:txBody>
        </p:sp>
        <p:sp>
          <p:nvSpPr>
            <p:cNvPr id="43" name="TextBox 43"/>
            <p:cNvSpPr txBox="1"/>
            <p:nvPr/>
          </p:nvSpPr>
          <p:spPr>
            <a:xfrm>
              <a:off x="6451092" y="3721418"/>
              <a:ext cx="185834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身份 / 写法敏感性审计</a:t>
              </a:r>
            </a:p>
          </p:txBody>
        </p:sp>
        <p:sp>
          <p:nvSpPr>
            <p:cNvPr id="44" name="TextBox 44"/>
            <p:cNvSpPr txBox="1"/>
            <p:nvPr/>
          </p:nvSpPr>
          <p:spPr>
            <a:xfrm>
              <a:off x="6451092" y="414051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按覆盖率形成实际候选集</a:t>
              </a:r>
            </a:p>
          </p:txBody>
        </p:sp>
        <p:sp>
          <p:nvSpPr>
            <p:cNvPr id="45" name="TextBox 45"/>
            <p:cNvSpPr txBox="1"/>
            <p:nvPr/>
          </p:nvSpPr>
          <p:spPr>
            <a:xfrm>
              <a:off x="6451092" y="4559618"/>
              <a:ext cx="2188834"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修复p值 / 相关簇 / LOSO</a:t>
              </a:r>
            </a:p>
          </p:txBody>
        </p:sp>
        <p:sp>
          <p:nvSpPr>
            <p:cNvPr id="46" name="TextBox 46"/>
            <p:cNvSpPr txBox="1"/>
            <p:nvPr/>
          </p:nvSpPr>
          <p:spPr>
            <a:xfrm>
              <a:off x="6451092" y="4978718"/>
              <a:ext cx="230360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正式运行，并如实报告结果</a:t>
              </a:r>
            </a:p>
          </p:txBody>
        </p:sp>
      </p:grpSp>
      <p:grpSp>
        <p:nvGrpSpPr>
          <p:cNvPr id="50" name="Group 50"/>
          <p:cNvGrpSpPr/>
          <p:nvPr/>
        </p:nvGrpSpPr>
        <p:grpSpPr>
          <a:xfrm>
            <a:off x="457200" y="5467350"/>
            <a:ext cx="11277600" cy="495300"/>
            <a:chOff x="457200" y="5467350"/>
            <a:chExt cx="11277600" cy="495300"/>
          </a:xfrm>
        </p:grpSpPr>
        <p:sp>
          <p:nvSpPr>
            <p:cNvPr id="48" name="Rectangle 48"/>
            <p:cNvSpPr/>
            <p:nvPr/>
          </p:nvSpPr>
          <p:spPr>
            <a:xfrm>
              <a:off x="457200" y="5467350"/>
              <a:ext cx="11277600" cy="495300"/>
            </a:xfrm>
            <a:prstGeom prst="rect">
              <a:avLst/>
            </a:prstGeom>
            <a:solidFill>
              <a:schemeClr val="accent1"/>
            </a:solidFill>
            <a:ln>
              <a:noFill/>
            </a:ln>
          </p:spPr>
        </p:sp>
        <p:sp>
          <p:nvSpPr>
            <p:cNvPr id="49" name="TextBox 49"/>
            <p:cNvSpPr txBox="1"/>
            <p:nvPr/>
          </p:nvSpPr>
          <p:spPr>
            <a:xfrm>
              <a:off x="2003226" y="5587365"/>
              <a:ext cx="8185549"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不是已经找到更强描述符，而是让“哪些结果有资格被相信”变得可追溯。</a:t>
              </a:r>
            </a:p>
          </p:txBody>
        </p:sp>
      </p:grpSp>
      <p:grpSp>
        <p:nvGrpSpPr>
          <p:cNvPr id="53" name="Group 53"/>
          <p:cNvGrpSpPr/>
          <p:nvPr/>
        </p:nvGrpSpPr>
        <p:grpSpPr>
          <a:xfrm>
            <a:off x="451104" y="6356985"/>
            <a:ext cx="11289030" cy="234696"/>
            <a:chOff x="451104" y="6356985"/>
            <a:chExt cx="11289030" cy="234696"/>
          </a:xfrm>
        </p:grpSpPr>
        <p:sp>
          <p:nvSpPr>
            <p:cNvPr id="51" name="TextBox 51"/>
            <p:cNvSpPr txBox="1"/>
            <p:nvPr/>
          </p:nvSpPr>
          <p:spPr>
            <a:xfrm>
              <a:off x="451104" y="6356985"/>
              <a:ext cx="2362657"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正文结束｜以下为5分钟问答附录</a:t>
              </a:r>
            </a:p>
          </p:txBody>
        </p:sp>
        <p:sp>
          <p:nvSpPr>
            <p:cNvPr id="52" name="TextBox 52"/>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12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28395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Q1｜数据口径</a:t>
              </a:r>
            </a:p>
          </p:txBody>
        </p:sp>
        <p:sp>
          <p:nvSpPr>
            <p:cNvPr id="3" name="TextBox 3"/>
            <p:cNvSpPr txBox="1"/>
            <p:nvPr/>
          </p:nvSpPr>
          <p:spPr>
            <a:xfrm>
              <a:off x="441198" y="650558"/>
              <a:ext cx="555989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到底是103条，还是84条？</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13" name="Group 13"/>
          <p:cNvGrpSpPr/>
          <p:nvPr/>
        </p:nvGrpSpPr>
        <p:grpSpPr>
          <a:xfrm>
            <a:off x="438150" y="1759268"/>
            <a:ext cx="4514850" cy="2778633"/>
            <a:chOff x="438150" y="1759268"/>
            <a:chExt cx="4514850" cy="2778633"/>
          </a:xfrm>
        </p:grpSpPr>
        <p:sp>
          <p:nvSpPr>
            <p:cNvPr id="6" name="TextBox 6"/>
            <p:cNvSpPr txBox="1"/>
            <p:nvPr/>
          </p:nvSpPr>
          <p:spPr>
            <a:xfrm>
              <a:off x="450342" y="175926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第一代正式口径</a:t>
              </a:r>
            </a:p>
          </p:txBody>
        </p:sp>
        <p:sp>
          <p:nvSpPr>
            <p:cNvPr id="7" name="TextBox 7"/>
            <p:cNvSpPr txBox="1"/>
            <p:nvPr/>
          </p:nvSpPr>
          <p:spPr>
            <a:xfrm>
              <a:off x="438150" y="2111692"/>
              <a:ext cx="3926106" cy="1133475"/>
            </a:xfrm>
            <a:prstGeom prst="rect">
              <a:avLst/>
            </a:prstGeom>
            <a:noFill/>
            <a:ln>
              <a:noFill/>
            </a:ln>
          </p:spPr>
          <p:txBody>
            <a:bodyPr wrap="none" lIns="0" tIns="0" rIns="0" bIns="0" anchor="t" anchorCtr="0">
              <a:spAutoFit/>
            </a:bodyPr>
            <a:lstStyle/>
            <a:p>
              <a:pPr algn="l"/>
              <a:r>
                <a:rPr lang="en-US" sz="5850" b="1" dirty="0">
                  <a:solidFill>
                    <a:schemeClr val="accent1"/>
                  </a:solidFill>
                  <a:latin typeface="+mj-lt"/>
                  <a:ea typeface="+mj-ea"/>
                  <a:cs typeface="+mj-cs"/>
                </a:rPr>
                <a:t>103 + 103</a:t>
              </a:r>
            </a:p>
          </p:txBody>
        </p:sp>
        <p:sp>
          <p:nvSpPr>
            <p:cNvPr id="8" name="TextBox 8"/>
            <p:cNvSpPr txBox="1"/>
            <p:nvPr/>
          </p:nvSpPr>
          <p:spPr>
            <a:xfrm>
              <a:off x="448056" y="2948940"/>
              <a:ext cx="320396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有效材料记录 + 根目录 CIF</a:t>
              </a:r>
            </a:p>
          </p:txBody>
        </p:sp>
        <p:sp>
          <p:nvSpPr>
            <p:cNvPr id="9" name="Line 9"/>
            <p:cNvSpPr/>
            <p:nvPr/>
          </p:nvSpPr>
          <p:spPr>
            <a:xfrm>
              <a:off x="457200" y="3352800"/>
              <a:ext cx="4495800" cy="9525"/>
            </a:xfrm>
            <a:custGeom>
              <a:avLst/>
              <a:gdLst/>
              <a:ahLst/>
              <a:cxnLst/>
              <a:rect l="l" t="t" r="r" b="b"/>
              <a:pathLst>
                <a:path w="4495800" h="9525">
                  <a:moveTo>
                    <a:pt x="0" y="0"/>
                  </a:moveTo>
                  <a:lnTo>
                    <a:pt x="4495800" y="0"/>
                  </a:lnTo>
                </a:path>
              </a:pathLst>
            </a:custGeom>
            <a:noFill/>
            <a:ln w="38100">
              <a:solidFill>
                <a:schemeClr val="accent3"/>
              </a:solidFill>
            </a:ln>
          </p:spPr>
        </p:sp>
        <p:sp>
          <p:nvSpPr>
            <p:cNvPr id="10" name="TextBox 10"/>
            <p:cNvSpPr txBox="1"/>
            <p:nvPr/>
          </p:nvSpPr>
          <p:spPr>
            <a:xfrm>
              <a:off x="450342" y="3588068"/>
              <a:ext cx="30032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data/快慢离子导体数据集_107.xlsx</a:t>
              </a:r>
            </a:p>
          </p:txBody>
        </p:sp>
        <p:sp>
          <p:nvSpPr>
            <p:cNvPr id="11" name="TextBox 11"/>
            <p:cNvSpPr txBox="1"/>
            <p:nvPr/>
          </p:nvSpPr>
          <p:spPr>
            <a:xfrm>
              <a:off x="450342" y="3892868"/>
              <a:ext cx="389380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“汇报主表”实际保留103行；cif/同样103个文件</a:t>
              </a:r>
            </a:p>
          </p:txBody>
        </p:sp>
        <p:sp>
          <p:nvSpPr>
            <p:cNvPr id="12" name="TextBox 12"/>
            <p:cNvSpPr txBox="1"/>
            <p:nvPr/>
          </p:nvSpPr>
          <p:spPr>
            <a:xfrm>
              <a:off x="450342" y="4273868"/>
              <a:ext cx="4237215"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文件名仍叫_107：历史上删去4个含Li结构，未改名</a:t>
              </a:r>
            </a:p>
          </p:txBody>
        </p:sp>
      </p:grpSp>
      <p:grpSp>
        <p:nvGrpSpPr>
          <p:cNvPr id="21" name="Group 21"/>
          <p:cNvGrpSpPr/>
          <p:nvPr/>
        </p:nvGrpSpPr>
        <p:grpSpPr>
          <a:xfrm>
            <a:off x="6648450" y="1759268"/>
            <a:ext cx="5086350" cy="2778633"/>
            <a:chOff x="6648450" y="1759268"/>
            <a:chExt cx="5086350" cy="2778633"/>
          </a:xfrm>
        </p:grpSpPr>
        <p:sp>
          <p:nvSpPr>
            <p:cNvPr id="14" name="TextBox 14"/>
            <p:cNvSpPr txBox="1"/>
            <p:nvPr/>
          </p:nvSpPr>
          <p:spPr>
            <a:xfrm>
              <a:off x="6660642" y="1759268"/>
              <a:ext cx="2112778"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第二代目录中的历史缓存</a:t>
              </a:r>
            </a:p>
          </p:txBody>
        </p:sp>
        <p:sp>
          <p:nvSpPr>
            <p:cNvPr id="15" name="TextBox 15"/>
            <p:cNvSpPr txBox="1"/>
            <p:nvPr/>
          </p:nvSpPr>
          <p:spPr>
            <a:xfrm>
              <a:off x="6648450" y="2111692"/>
              <a:ext cx="2965026" cy="1133475"/>
            </a:xfrm>
            <a:prstGeom prst="rect">
              <a:avLst/>
            </a:prstGeom>
            <a:noFill/>
            <a:ln>
              <a:noFill/>
            </a:ln>
          </p:spPr>
          <p:txBody>
            <a:bodyPr wrap="none" lIns="0" tIns="0" rIns="0" bIns="0" anchor="t" anchorCtr="0">
              <a:spAutoFit/>
            </a:bodyPr>
            <a:lstStyle/>
            <a:p>
              <a:pPr algn="l"/>
              <a:r>
                <a:rPr lang="en-US" sz="5850" b="1" dirty="0">
                  <a:solidFill>
                    <a:schemeClr val="accent2"/>
                  </a:solidFill>
                  <a:latin typeface="+mj-lt"/>
                  <a:ea typeface="+mj-ea"/>
                  <a:cs typeface="+mj-cs"/>
                </a:rPr>
                <a:t>84 + 84</a:t>
              </a:r>
            </a:p>
          </p:txBody>
        </p:sp>
        <p:sp>
          <p:nvSpPr>
            <p:cNvPr id="16" name="TextBox 16"/>
            <p:cNvSpPr txBox="1"/>
            <p:nvPr/>
          </p:nvSpPr>
          <p:spPr>
            <a:xfrm>
              <a:off x="6658356" y="2948940"/>
              <a:ext cx="277887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raw 行 + featurized 行</a:t>
              </a:r>
            </a:p>
          </p:txBody>
        </p:sp>
        <p:sp>
          <p:nvSpPr>
            <p:cNvPr id="17" name="Line 17"/>
            <p:cNvSpPr/>
            <p:nvPr/>
          </p:nvSpPr>
          <p:spPr>
            <a:xfrm>
              <a:off x="6667500" y="3352800"/>
              <a:ext cx="5067300" cy="9525"/>
            </a:xfrm>
            <a:custGeom>
              <a:avLst/>
              <a:gdLst/>
              <a:ahLst/>
              <a:cxnLst/>
              <a:rect l="l" t="t" r="r" b="b"/>
              <a:pathLst>
                <a:path w="5067300" h="9525">
                  <a:moveTo>
                    <a:pt x="0" y="0"/>
                  </a:moveTo>
                  <a:lnTo>
                    <a:pt x="5067300" y="0"/>
                  </a:lnTo>
                </a:path>
              </a:pathLst>
            </a:custGeom>
            <a:noFill/>
            <a:ln w="38100">
              <a:solidFill>
                <a:schemeClr val="accent2"/>
              </a:solidFill>
            </a:ln>
          </p:spPr>
        </p:sp>
        <p:sp>
          <p:nvSpPr>
            <p:cNvPr id="18" name="TextBox 18"/>
            <p:cNvSpPr txBox="1"/>
            <p:nvPr/>
          </p:nvSpPr>
          <p:spPr>
            <a:xfrm>
              <a:off x="6660642" y="3588068"/>
              <a:ext cx="44208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automat-naconductor/data/ 下的旧输入与特征缓存</a:t>
              </a:r>
            </a:p>
          </p:txBody>
        </p:sp>
        <p:sp>
          <p:nvSpPr>
            <p:cNvPr id="19" name="TextBox 19"/>
            <p:cNvSpPr txBox="1"/>
            <p:nvPr/>
          </p:nvSpPr>
          <p:spPr>
            <a:xfrm>
              <a:off x="6660642" y="3892868"/>
              <a:ext cx="273977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可说明第二代接触过历史真实数据</a:t>
              </a:r>
            </a:p>
          </p:txBody>
        </p:sp>
        <p:sp>
          <p:nvSpPr>
            <p:cNvPr id="20" name="TextBox 20"/>
            <p:cNvSpPr txBox="1"/>
            <p:nvPr/>
          </p:nvSpPr>
          <p:spPr>
            <a:xfrm>
              <a:off x="6660642" y="4273868"/>
              <a:ext cx="3830193"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不能替代新扩充数据集的正式输入和最终结果</a:t>
              </a:r>
            </a:p>
          </p:txBody>
        </p:sp>
      </p:grpSp>
      <p:grpSp>
        <p:nvGrpSpPr>
          <p:cNvPr id="24" name="Group 24"/>
          <p:cNvGrpSpPr/>
          <p:nvPr/>
        </p:nvGrpSpPr>
        <p:grpSpPr>
          <a:xfrm>
            <a:off x="5950622" y="1790700"/>
            <a:ext cx="290756" cy="2647950"/>
            <a:chOff x="5950622" y="1790700"/>
            <a:chExt cx="290756" cy="2647950"/>
          </a:xfrm>
        </p:grpSpPr>
        <p:sp>
          <p:nvSpPr>
            <p:cNvPr id="22" name="Line 22"/>
            <p:cNvSpPr/>
            <p:nvPr/>
          </p:nvSpPr>
          <p:spPr>
            <a:xfrm>
              <a:off x="6096000" y="1790700"/>
              <a:ext cx="9525" cy="2647950"/>
            </a:xfrm>
            <a:custGeom>
              <a:avLst/>
              <a:gdLst/>
              <a:ahLst/>
              <a:cxnLst/>
              <a:rect l="l" t="t" r="r" b="b"/>
              <a:pathLst>
                <a:path w="9525" h="2647950">
                  <a:moveTo>
                    <a:pt x="0" y="0"/>
                  </a:moveTo>
                  <a:lnTo>
                    <a:pt x="0" y="2647950"/>
                  </a:lnTo>
                </a:path>
              </a:pathLst>
            </a:custGeom>
            <a:noFill/>
            <a:ln w="19050">
              <a:solidFill>
                <a:schemeClr val="accent5"/>
              </a:solidFill>
            </a:ln>
          </p:spPr>
        </p:sp>
        <p:sp>
          <p:nvSpPr>
            <p:cNvPr id="23" name="TextBox 23"/>
            <p:cNvSpPr txBox="1"/>
            <p:nvPr/>
          </p:nvSpPr>
          <p:spPr>
            <a:xfrm>
              <a:off x="5950622" y="2898458"/>
              <a:ext cx="290756" cy="616077"/>
            </a:xfrm>
            <a:prstGeom prst="rect">
              <a:avLst/>
            </a:prstGeom>
            <a:noFill/>
            <a:ln>
              <a:noFill/>
            </a:ln>
          </p:spPr>
          <p:txBody>
            <a:bodyPr wrap="none" lIns="0" tIns="0" rIns="0" bIns="0" anchor="t" anchorCtr="0">
              <a:spAutoFit/>
            </a:bodyPr>
            <a:lstStyle/>
            <a:p>
              <a:pPr algn="ctr"/>
              <a:r>
                <a:rPr lang="en-US" sz="3150" b="1" dirty="0">
                  <a:solidFill>
                    <a:schemeClr val="accent6"/>
                  </a:solidFill>
                  <a:latin typeface="+mj-lt"/>
                  <a:ea typeface="+mj-ea"/>
                  <a:cs typeface="+mj-cs"/>
                </a:rPr>
                <a:t>≠</a:t>
              </a:r>
            </a:p>
          </p:txBody>
        </p:sp>
      </p:grpSp>
      <p:grpSp>
        <p:nvGrpSpPr>
          <p:cNvPr id="29" name="Group 29"/>
          <p:cNvGrpSpPr/>
          <p:nvPr/>
        </p:nvGrpSpPr>
        <p:grpSpPr>
          <a:xfrm>
            <a:off x="457200" y="5067300"/>
            <a:ext cx="11277600" cy="918401"/>
            <a:chOff x="457200" y="5067300"/>
            <a:chExt cx="11277600" cy="918401"/>
          </a:xfrm>
        </p:grpSpPr>
        <p:sp>
          <p:nvSpPr>
            <p:cNvPr id="25" name="Rectangle 25"/>
            <p:cNvSpPr/>
            <p:nvPr/>
          </p:nvSpPr>
          <p:spPr>
            <a:xfrm>
              <a:off x="457200" y="5067300"/>
              <a:ext cx="11277600" cy="876300"/>
            </a:xfrm>
            <a:prstGeom prst="rect">
              <a:avLst/>
            </a:prstGeom>
            <a:solidFill>
              <a:schemeClr val="lt2"/>
            </a:solidFill>
            <a:ln>
              <a:noFill/>
            </a:ln>
          </p:spPr>
        </p:sp>
        <p:sp>
          <p:nvSpPr>
            <p:cNvPr id="26" name="TextBox 26"/>
            <p:cNvSpPr txBox="1"/>
            <p:nvPr/>
          </p:nvSpPr>
          <p:spPr>
            <a:xfrm>
              <a:off x="621792" y="5169218"/>
              <a:ext cx="223681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103条历史数据的七类分布</a:t>
              </a:r>
            </a:p>
          </p:txBody>
        </p:sp>
        <p:sp>
          <p:nvSpPr>
            <p:cNvPr id="27" name="TextBox 27"/>
            <p:cNvSpPr txBox="1"/>
            <p:nvPr/>
          </p:nvSpPr>
          <p:spPr>
            <a:xfrm>
              <a:off x="621792" y="5474018"/>
              <a:ext cx="499673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NASICON 30　硫化物 41　卤化物 13　氢化物/硼氢化物 14</a:t>
              </a:r>
            </a:p>
          </p:txBody>
        </p:sp>
        <p:sp>
          <p:nvSpPr>
            <p:cNvPr id="28" name="TextBox 28"/>
            <p:cNvSpPr txBox="1"/>
            <p:nvPr/>
          </p:nvSpPr>
          <p:spPr>
            <a:xfrm>
              <a:off x="621792" y="5721668"/>
              <a:ext cx="288233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β-Al₂O₃ 2　反钙钛矿 2　氧化物 1</a:t>
              </a:r>
            </a:p>
          </p:txBody>
        </p:sp>
      </p:grpSp>
      <p:grpSp>
        <p:nvGrpSpPr>
          <p:cNvPr id="32" name="Group 32"/>
          <p:cNvGrpSpPr/>
          <p:nvPr/>
        </p:nvGrpSpPr>
        <p:grpSpPr>
          <a:xfrm>
            <a:off x="451104" y="6356985"/>
            <a:ext cx="11289030" cy="234696"/>
            <a:chOff x="451104" y="6356985"/>
            <a:chExt cx="11289030" cy="234696"/>
          </a:xfrm>
        </p:grpSpPr>
        <p:sp>
          <p:nvSpPr>
            <p:cNvPr id="30" name="TextBox 30"/>
            <p:cNvSpPr txBox="1"/>
            <p:nvPr/>
          </p:nvSpPr>
          <p:spPr>
            <a:xfrm>
              <a:off x="451104" y="6356985"/>
              <a:ext cx="2888285"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Q&amp;A附录｜数字必须和文件角色一起说</a:t>
              </a:r>
            </a:p>
          </p:txBody>
        </p:sp>
        <p:sp>
          <p:nvSpPr>
            <p:cNvPr id="31" name="TextBox 31"/>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13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28395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Q2｜公式身份</a:t>
              </a:r>
            </a:p>
          </p:txBody>
        </p:sp>
        <p:sp>
          <p:nvSpPr>
            <p:cNvPr id="3" name="TextBox 3"/>
            <p:cNvSpPr txBox="1"/>
            <p:nvPr/>
          </p:nvSpPr>
          <p:spPr>
            <a:xfrm>
              <a:off x="441198" y="650558"/>
              <a:ext cx="868643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A2和NaNa为什么不能跨代直接对应？</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7" name="Group 7"/>
          <p:cNvGrpSpPr/>
          <p:nvPr/>
        </p:nvGrpSpPr>
        <p:grpSpPr>
          <a:xfrm>
            <a:off x="445770" y="1376362"/>
            <a:ext cx="8806815" cy="440055"/>
            <a:chOff x="445770" y="1376362"/>
            <a:chExt cx="8806815" cy="440055"/>
          </a:xfrm>
        </p:grpSpPr>
        <p:sp>
          <p:nvSpPr>
            <p:cNvPr id="6" name="TextBox 6"/>
            <p:cNvSpPr txBox="1"/>
            <p:nvPr/>
          </p:nvSpPr>
          <p:spPr>
            <a:xfrm>
              <a:off x="445770" y="1376362"/>
              <a:ext cx="880681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同名不代表同一物理量：公式、单位、聚合和数据依赖都要核对。</a:t>
              </a:r>
            </a:p>
          </p:txBody>
        </p:sp>
      </p:grpSp>
      <p:grpSp>
        <p:nvGrpSpPr>
          <p:cNvPr id="24" name="Group 24"/>
          <p:cNvGrpSpPr/>
          <p:nvPr/>
        </p:nvGrpSpPr>
        <p:grpSpPr>
          <a:xfrm>
            <a:off x="457200" y="1924050"/>
            <a:ext cx="11277600" cy="1504950"/>
            <a:chOff x="457200" y="1924050"/>
            <a:chExt cx="11277600" cy="1504950"/>
          </a:xfrm>
        </p:grpSpPr>
        <p:sp>
          <p:nvSpPr>
            <p:cNvPr id="8" name="Rectangle 8"/>
            <p:cNvSpPr/>
            <p:nvPr/>
          </p:nvSpPr>
          <p:spPr>
            <a:xfrm>
              <a:off x="457200" y="1924050"/>
              <a:ext cx="11277600" cy="400050"/>
            </a:xfrm>
            <a:prstGeom prst="rect">
              <a:avLst/>
            </a:prstGeom>
            <a:solidFill>
              <a:schemeClr val="accent1"/>
            </a:solidFill>
            <a:ln>
              <a:noFill/>
            </a:ln>
          </p:spPr>
        </p:sp>
        <p:sp>
          <p:nvSpPr>
            <p:cNvPr id="9" name="Rectangle 9"/>
            <p:cNvSpPr/>
            <p:nvPr/>
          </p:nvSpPr>
          <p:spPr>
            <a:xfrm>
              <a:off x="457200" y="2324100"/>
              <a:ext cx="1238250" cy="1104900"/>
            </a:xfrm>
            <a:prstGeom prst="rect">
              <a:avLst/>
            </a:prstGeom>
            <a:solidFill>
              <a:schemeClr val="lt2"/>
            </a:solidFill>
            <a:ln>
              <a:noFill/>
            </a:ln>
          </p:spPr>
        </p:sp>
        <p:sp>
          <p:nvSpPr>
            <p:cNvPr id="10" name="Rectangle 10"/>
            <p:cNvSpPr/>
            <p:nvPr/>
          </p:nvSpPr>
          <p:spPr>
            <a:xfrm>
              <a:off x="1695450" y="2324100"/>
              <a:ext cx="3667125" cy="1104900"/>
            </a:xfrm>
            <a:prstGeom prst="rect">
              <a:avLst/>
            </a:prstGeom>
            <a:solidFill>
              <a:srgbClr val="F6F8F7"/>
            </a:solidFill>
            <a:ln>
              <a:noFill/>
            </a:ln>
          </p:spPr>
        </p:sp>
        <p:sp>
          <p:nvSpPr>
            <p:cNvPr id="11" name="Rectangle 11"/>
            <p:cNvSpPr/>
            <p:nvPr/>
          </p:nvSpPr>
          <p:spPr>
            <a:xfrm>
              <a:off x="5362575" y="2324100"/>
              <a:ext cx="3667125" cy="1104900"/>
            </a:xfrm>
            <a:prstGeom prst="rect">
              <a:avLst/>
            </a:prstGeom>
            <a:solidFill>
              <a:srgbClr val="E9F2EF"/>
            </a:solidFill>
            <a:ln>
              <a:noFill/>
            </a:ln>
          </p:spPr>
        </p:sp>
        <p:sp>
          <p:nvSpPr>
            <p:cNvPr id="12" name="Rectangle 12"/>
            <p:cNvSpPr/>
            <p:nvPr/>
          </p:nvSpPr>
          <p:spPr>
            <a:xfrm>
              <a:off x="9029700" y="2324100"/>
              <a:ext cx="2705100" cy="1104900"/>
            </a:xfrm>
            <a:prstGeom prst="rect">
              <a:avLst/>
            </a:prstGeom>
            <a:solidFill>
              <a:srgbClr val="F8EDE9"/>
            </a:solidFill>
            <a:ln>
              <a:noFill/>
            </a:ln>
          </p:spPr>
        </p:sp>
        <p:sp>
          <p:nvSpPr>
            <p:cNvPr id="13" name="Line 13"/>
            <p:cNvSpPr/>
            <p:nvPr/>
          </p:nvSpPr>
          <p:spPr>
            <a:xfrm>
              <a:off x="1695450" y="1924050"/>
              <a:ext cx="9525" cy="1504950"/>
            </a:xfrm>
            <a:custGeom>
              <a:avLst/>
              <a:gdLst/>
              <a:ahLst/>
              <a:cxnLst/>
              <a:rect l="l" t="t" r="r" b="b"/>
              <a:pathLst>
                <a:path w="9525" h="1504950">
                  <a:moveTo>
                    <a:pt x="0" y="0"/>
                  </a:moveTo>
                  <a:lnTo>
                    <a:pt x="0" y="1504950"/>
                  </a:lnTo>
                </a:path>
              </a:pathLst>
            </a:custGeom>
            <a:noFill/>
            <a:ln w="9525">
              <a:solidFill>
                <a:schemeClr val="accent5"/>
              </a:solidFill>
            </a:ln>
          </p:spPr>
        </p:sp>
        <p:sp>
          <p:nvSpPr>
            <p:cNvPr id="14" name="Line 14"/>
            <p:cNvSpPr/>
            <p:nvPr/>
          </p:nvSpPr>
          <p:spPr>
            <a:xfrm>
              <a:off x="5362575" y="1924050"/>
              <a:ext cx="9525" cy="1504950"/>
            </a:xfrm>
            <a:custGeom>
              <a:avLst/>
              <a:gdLst/>
              <a:ahLst/>
              <a:cxnLst/>
              <a:rect l="l" t="t" r="r" b="b"/>
              <a:pathLst>
                <a:path w="9525" h="1504950">
                  <a:moveTo>
                    <a:pt x="0" y="0"/>
                  </a:moveTo>
                  <a:lnTo>
                    <a:pt x="0" y="1504950"/>
                  </a:lnTo>
                </a:path>
              </a:pathLst>
            </a:custGeom>
            <a:noFill/>
            <a:ln w="9525">
              <a:solidFill>
                <a:schemeClr val="accent5"/>
              </a:solidFill>
            </a:ln>
          </p:spPr>
        </p:sp>
        <p:sp>
          <p:nvSpPr>
            <p:cNvPr id="15" name="Line 15"/>
            <p:cNvSpPr/>
            <p:nvPr/>
          </p:nvSpPr>
          <p:spPr>
            <a:xfrm>
              <a:off x="9029700" y="1924050"/>
              <a:ext cx="9525" cy="1504950"/>
            </a:xfrm>
            <a:custGeom>
              <a:avLst/>
              <a:gdLst/>
              <a:ahLst/>
              <a:cxnLst/>
              <a:rect l="l" t="t" r="r" b="b"/>
              <a:pathLst>
                <a:path w="9525" h="1504950">
                  <a:moveTo>
                    <a:pt x="0" y="0"/>
                  </a:moveTo>
                  <a:lnTo>
                    <a:pt x="0" y="1504950"/>
                  </a:lnTo>
                </a:path>
              </a:pathLst>
            </a:custGeom>
            <a:noFill/>
            <a:ln w="9525">
              <a:solidFill>
                <a:schemeClr val="accent5"/>
              </a:solidFill>
            </a:ln>
          </p:spPr>
        </p:sp>
        <p:sp>
          <p:nvSpPr>
            <p:cNvPr id="16" name="TextBox 16"/>
            <p:cNvSpPr txBox="1"/>
            <p:nvPr/>
          </p:nvSpPr>
          <p:spPr>
            <a:xfrm>
              <a:off x="783231" y="203549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描述符</a:t>
              </a:r>
            </a:p>
          </p:txBody>
        </p:sp>
        <p:sp>
          <p:nvSpPr>
            <p:cNvPr id="17" name="TextBox 17"/>
            <p:cNvSpPr txBox="1"/>
            <p:nvPr/>
          </p:nvSpPr>
          <p:spPr>
            <a:xfrm>
              <a:off x="3231156" y="203549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第一代</a:t>
              </a:r>
            </a:p>
          </p:txBody>
        </p:sp>
        <p:sp>
          <p:nvSpPr>
            <p:cNvPr id="18" name="TextBox 18"/>
            <p:cNvSpPr txBox="1"/>
            <p:nvPr/>
          </p:nvSpPr>
          <p:spPr>
            <a:xfrm>
              <a:off x="6907806" y="203549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第二代</a:t>
              </a:r>
            </a:p>
          </p:txBody>
        </p:sp>
        <p:sp>
          <p:nvSpPr>
            <p:cNvPr id="19" name="TextBox 19"/>
            <p:cNvSpPr txBox="1"/>
            <p:nvPr/>
          </p:nvSpPr>
          <p:spPr>
            <a:xfrm>
              <a:off x="9802920" y="2035492"/>
              <a:ext cx="115865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为何不能对应</a:t>
              </a:r>
            </a:p>
          </p:txBody>
        </p:sp>
        <p:sp>
          <p:nvSpPr>
            <p:cNvPr id="20" name="TextBox 20"/>
            <p:cNvSpPr txBox="1"/>
            <p:nvPr/>
          </p:nvSpPr>
          <p:spPr>
            <a:xfrm>
              <a:off x="746124" y="2574608"/>
              <a:ext cx="660403" cy="616077"/>
            </a:xfrm>
            <a:prstGeom prst="rect">
              <a:avLst/>
            </a:prstGeom>
            <a:noFill/>
            <a:ln>
              <a:noFill/>
            </a:ln>
          </p:spPr>
          <p:txBody>
            <a:bodyPr wrap="none" lIns="0" tIns="0" rIns="0" bIns="0" anchor="t" anchorCtr="0">
              <a:spAutoFit/>
            </a:bodyPr>
            <a:lstStyle/>
            <a:p>
              <a:pPr algn="ctr"/>
              <a:r>
                <a:rPr lang="en-US" sz="3150" b="1" dirty="0">
                  <a:solidFill>
                    <a:schemeClr val="accent1"/>
                  </a:solidFill>
                  <a:latin typeface="+mj-lt"/>
                  <a:ea typeface="+mj-ea"/>
                  <a:cs typeface="+mj-cs"/>
                </a:rPr>
                <a:t>A2</a:t>
              </a:r>
            </a:p>
          </p:txBody>
        </p:sp>
        <p:sp>
          <p:nvSpPr>
            <p:cNvPr id="21" name="TextBox 21"/>
            <p:cNvSpPr txBox="1"/>
            <p:nvPr/>
          </p:nvSpPr>
          <p:spPr>
            <a:xfrm>
              <a:off x="1860804" y="2461260"/>
              <a:ext cx="2427732" cy="65379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全结构最长 Na–X 键长 ÷（有效 Na 半径 + 有效阴离子半径）无量纲；取全结构最大值</a:t>
              </a:r>
            </a:p>
          </p:txBody>
        </p:sp>
        <p:sp>
          <p:nvSpPr>
            <p:cNvPr id="22" name="TextBox 22"/>
            <p:cNvSpPr txBox="1"/>
            <p:nvPr/>
          </p:nvSpPr>
          <p:spPr>
            <a:xfrm>
              <a:off x="5527929" y="2461260"/>
              <a:ext cx="1947672" cy="65379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a2_max_dist：每个 Na 位点最长 Na–X 键长的均值单位 Å；无目标键长分母</a:t>
              </a:r>
            </a:p>
          </p:txBody>
        </p:sp>
        <p:sp>
          <p:nvSpPr>
            <p:cNvPr id="23" name="TextBox 23"/>
            <p:cNvSpPr txBox="1"/>
            <p:nvPr/>
          </p:nvSpPr>
          <p:spPr>
            <a:xfrm>
              <a:off x="9195054" y="2556510"/>
              <a:ext cx="972312" cy="691896"/>
            </a:xfrm>
            <a:prstGeom prst="rect">
              <a:avLst/>
            </a:prstGeom>
            <a:noFill/>
            <a:ln>
              <a:noFill/>
            </a:ln>
          </p:spPr>
          <p:txBody>
            <a:bodyPr wrap="square" lIns="0" tIns="0" rIns="0" bIns="0" anchor="t" anchorCtr="0"/>
            <a:lstStyle/>
            <a:p>
              <a:pPr algn="l">
                <a:lnSpc>
                  <a:spcPts val="1800"/>
                </a:lnSpc>
              </a:pPr>
              <a:r>
                <a:rPr lang="zh-CN" sz="1200" b="1" dirty="0">
                  <a:solidFill>
                    <a:schemeClr val="accent2"/>
                  </a:solidFill>
                  <a:latin typeface="+mn-lt"/>
                  <a:ea typeface="+mn-ea"/>
                  <a:cs typeface="+mn-cs"/>
                </a:rPr>
                <a:t>单位不同分母不同聚合方式不同</a:t>
              </a:r>
            </a:p>
          </p:txBody>
        </p:sp>
      </p:grpSp>
      <p:grpSp>
        <p:nvGrpSpPr>
          <p:cNvPr id="41" name="Group 41"/>
          <p:cNvGrpSpPr/>
          <p:nvPr/>
        </p:nvGrpSpPr>
        <p:grpSpPr>
          <a:xfrm>
            <a:off x="457200" y="3638550"/>
            <a:ext cx="11277600" cy="1562100"/>
            <a:chOff x="457200" y="3638550"/>
            <a:chExt cx="11277600" cy="1562100"/>
          </a:xfrm>
        </p:grpSpPr>
        <p:sp>
          <p:nvSpPr>
            <p:cNvPr id="25" name="Rectangle 25"/>
            <p:cNvSpPr/>
            <p:nvPr/>
          </p:nvSpPr>
          <p:spPr>
            <a:xfrm>
              <a:off x="457200" y="3638550"/>
              <a:ext cx="11277600" cy="400050"/>
            </a:xfrm>
            <a:prstGeom prst="rect">
              <a:avLst/>
            </a:prstGeom>
            <a:solidFill>
              <a:schemeClr val="accent1"/>
            </a:solidFill>
            <a:ln>
              <a:noFill/>
            </a:ln>
          </p:spPr>
        </p:sp>
        <p:sp>
          <p:nvSpPr>
            <p:cNvPr id="26" name="Rectangle 26"/>
            <p:cNvSpPr/>
            <p:nvPr/>
          </p:nvSpPr>
          <p:spPr>
            <a:xfrm>
              <a:off x="457200" y="4038600"/>
              <a:ext cx="1238250" cy="1162050"/>
            </a:xfrm>
            <a:prstGeom prst="rect">
              <a:avLst/>
            </a:prstGeom>
            <a:solidFill>
              <a:schemeClr val="lt2"/>
            </a:solidFill>
            <a:ln>
              <a:noFill/>
            </a:ln>
          </p:spPr>
        </p:sp>
        <p:sp>
          <p:nvSpPr>
            <p:cNvPr id="27" name="Rectangle 27"/>
            <p:cNvSpPr/>
            <p:nvPr/>
          </p:nvSpPr>
          <p:spPr>
            <a:xfrm>
              <a:off x="1695450" y="4038600"/>
              <a:ext cx="3667125" cy="1162050"/>
            </a:xfrm>
            <a:prstGeom prst="rect">
              <a:avLst/>
            </a:prstGeom>
            <a:solidFill>
              <a:srgbClr val="F6F8F7"/>
            </a:solidFill>
            <a:ln>
              <a:noFill/>
            </a:ln>
          </p:spPr>
        </p:sp>
        <p:sp>
          <p:nvSpPr>
            <p:cNvPr id="28" name="Rectangle 28"/>
            <p:cNvSpPr/>
            <p:nvPr/>
          </p:nvSpPr>
          <p:spPr>
            <a:xfrm>
              <a:off x="5362575" y="4038600"/>
              <a:ext cx="3667125" cy="1162050"/>
            </a:xfrm>
            <a:prstGeom prst="rect">
              <a:avLst/>
            </a:prstGeom>
            <a:solidFill>
              <a:srgbClr val="E9F2EF"/>
            </a:solidFill>
            <a:ln>
              <a:noFill/>
            </a:ln>
          </p:spPr>
        </p:sp>
        <p:sp>
          <p:nvSpPr>
            <p:cNvPr id="29" name="Rectangle 29"/>
            <p:cNvSpPr/>
            <p:nvPr/>
          </p:nvSpPr>
          <p:spPr>
            <a:xfrm>
              <a:off x="9029700" y="4038600"/>
              <a:ext cx="2705100" cy="1162050"/>
            </a:xfrm>
            <a:prstGeom prst="rect">
              <a:avLst/>
            </a:prstGeom>
            <a:solidFill>
              <a:srgbClr val="F8EDE9"/>
            </a:solidFill>
            <a:ln>
              <a:noFill/>
            </a:ln>
          </p:spPr>
        </p:sp>
        <p:sp>
          <p:nvSpPr>
            <p:cNvPr id="30" name="Line 30"/>
            <p:cNvSpPr/>
            <p:nvPr/>
          </p:nvSpPr>
          <p:spPr>
            <a:xfrm>
              <a:off x="1695450" y="3638550"/>
              <a:ext cx="9525" cy="1562100"/>
            </a:xfrm>
            <a:custGeom>
              <a:avLst/>
              <a:gdLst/>
              <a:ahLst/>
              <a:cxnLst/>
              <a:rect l="l" t="t" r="r" b="b"/>
              <a:pathLst>
                <a:path w="9525" h="1562100">
                  <a:moveTo>
                    <a:pt x="0" y="0"/>
                  </a:moveTo>
                  <a:lnTo>
                    <a:pt x="0" y="1562100"/>
                  </a:lnTo>
                </a:path>
              </a:pathLst>
            </a:custGeom>
            <a:noFill/>
            <a:ln w="9525">
              <a:solidFill>
                <a:schemeClr val="accent5"/>
              </a:solidFill>
            </a:ln>
          </p:spPr>
        </p:sp>
        <p:sp>
          <p:nvSpPr>
            <p:cNvPr id="31" name="Line 31"/>
            <p:cNvSpPr/>
            <p:nvPr/>
          </p:nvSpPr>
          <p:spPr>
            <a:xfrm>
              <a:off x="5362575" y="3638550"/>
              <a:ext cx="9525" cy="1562100"/>
            </a:xfrm>
            <a:custGeom>
              <a:avLst/>
              <a:gdLst/>
              <a:ahLst/>
              <a:cxnLst/>
              <a:rect l="l" t="t" r="r" b="b"/>
              <a:pathLst>
                <a:path w="9525" h="1562100">
                  <a:moveTo>
                    <a:pt x="0" y="0"/>
                  </a:moveTo>
                  <a:lnTo>
                    <a:pt x="0" y="1562100"/>
                  </a:lnTo>
                </a:path>
              </a:pathLst>
            </a:custGeom>
            <a:noFill/>
            <a:ln w="9525">
              <a:solidFill>
                <a:schemeClr val="accent5"/>
              </a:solidFill>
            </a:ln>
          </p:spPr>
        </p:sp>
        <p:sp>
          <p:nvSpPr>
            <p:cNvPr id="32" name="Line 32"/>
            <p:cNvSpPr/>
            <p:nvPr/>
          </p:nvSpPr>
          <p:spPr>
            <a:xfrm>
              <a:off x="9029700" y="3638550"/>
              <a:ext cx="9525" cy="1562100"/>
            </a:xfrm>
            <a:custGeom>
              <a:avLst/>
              <a:gdLst/>
              <a:ahLst/>
              <a:cxnLst/>
              <a:rect l="l" t="t" r="r" b="b"/>
              <a:pathLst>
                <a:path w="9525" h="1562100">
                  <a:moveTo>
                    <a:pt x="0" y="0"/>
                  </a:moveTo>
                  <a:lnTo>
                    <a:pt x="0" y="1562100"/>
                  </a:lnTo>
                </a:path>
              </a:pathLst>
            </a:custGeom>
            <a:noFill/>
            <a:ln w="9525">
              <a:solidFill>
                <a:schemeClr val="accent5"/>
              </a:solidFill>
            </a:ln>
          </p:spPr>
        </p:sp>
        <p:sp>
          <p:nvSpPr>
            <p:cNvPr id="33" name="TextBox 33"/>
            <p:cNvSpPr txBox="1"/>
            <p:nvPr/>
          </p:nvSpPr>
          <p:spPr>
            <a:xfrm>
              <a:off x="783231" y="374999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描述符</a:t>
              </a:r>
            </a:p>
          </p:txBody>
        </p:sp>
        <p:sp>
          <p:nvSpPr>
            <p:cNvPr id="34" name="TextBox 34"/>
            <p:cNvSpPr txBox="1"/>
            <p:nvPr/>
          </p:nvSpPr>
          <p:spPr>
            <a:xfrm>
              <a:off x="3231156" y="374999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第一代</a:t>
              </a:r>
            </a:p>
          </p:txBody>
        </p:sp>
        <p:sp>
          <p:nvSpPr>
            <p:cNvPr id="35" name="TextBox 35"/>
            <p:cNvSpPr txBox="1"/>
            <p:nvPr/>
          </p:nvSpPr>
          <p:spPr>
            <a:xfrm>
              <a:off x="6907806" y="374999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第二代</a:t>
              </a:r>
            </a:p>
          </p:txBody>
        </p:sp>
        <p:sp>
          <p:nvSpPr>
            <p:cNvPr id="36" name="TextBox 36"/>
            <p:cNvSpPr txBox="1"/>
            <p:nvPr/>
          </p:nvSpPr>
          <p:spPr>
            <a:xfrm>
              <a:off x="9802920" y="3749992"/>
              <a:ext cx="115865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为何不能对应</a:t>
              </a:r>
            </a:p>
          </p:txBody>
        </p:sp>
        <p:sp>
          <p:nvSpPr>
            <p:cNvPr id="37" name="TextBox 37"/>
            <p:cNvSpPr txBox="1"/>
            <p:nvPr/>
          </p:nvSpPr>
          <p:spPr>
            <a:xfrm>
              <a:off x="627598" y="4408170"/>
              <a:ext cx="897453" cy="469392"/>
            </a:xfrm>
            <a:prstGeom prst="rect">
              <a:avLst/>
            </a:prstGeom>
            <a:noFill/>
            <a:ln>
              <a:noFill/>
            </a:ln>
          </p:spPr>
          <p:txBody>
            <a:bodyPr wrap="none" lIns="0" tIns="0" rIns="0" bIns="0" anchor="t" anchorCtr="0">
              <a:spAutoFit/>
            </a:bodyPr>
            <a:lstStyle/>
            <a:p>
              <a:pPr algn="ctr"/>
              <a:r>
                <a:rPr lang="en-US" sz="2400" b="1" dirty="0">
                  <a:solidFill>
                    <a:schemeClr val="accent1"/>
                  </a:solidFill>
                  <a:latin typeface="+mj-lt"/>
                  <a:ea typeface="+mj-ea"/>
                  <a:cs typeface="+mj-cs"/>
                </a:rPr>
                <a:t>NaNa</a:t>
              </a:r>
            </a:p>
          </p:txBody>
        </p:sp>
        <p:sp>
          <p:nvSpPr>
            <p:cNvPr id="38" name="TextBox 38"/>
            <p:cNvSpPr txBox="1"/>
            <p:nvPr/>
          </p:nvSpPr>
          <p:spPr>
            <a:xfrm>
              <a:off x="1860804" y="4194810"/>
              <a:ext cx="1840992" cy="65379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两个网络量在整批样本中先做百分位秩，再取均值同一结构会随同批材料改变</a:t>
              </a:r>
            </a:p>
          </p:txBody>
        </p:sp>
        <p:sp>
          <p:nvSpPr>
            <p:cNvPr id="39" name="TextBox 39"/>
            <p:cNvSpPr txBox="1"/>
            <p:nvPr/>
          </p:nvSpPr>
          <p:spPr>
            <a:xfrm>
              <a:off x="5527929" y="4137660"/>
              <a:ext cx="1696212" cy="863346"/>
            </a:xfrm>
            <a:prstGeom prst="rect">
              <a:avLst/>
            </a:prstGeom>
            <a:noFill/>
            <a:ln>
              <a:noFill/>
            </a:ln>
          </p:spPr>
          <p:txBody>
            <a:bodyPr wrap="square" lIns="0" tIns="0" rIns="0" bIns="0" anchor="t" anchorCtr="0"/>
            <a:lstStyle/>
            <a:p>
              <a:pPr algn="l">
                <a:lnSpc>
                  <a:spcPts val="1650"/>
                </a:lnSpc>
              </a:pPr>
              <a:r>
                <a:rPr lang="zh-CN" sz="1200" dirty="0">
                  <a:solidFill>
                    <a:schemeClr val="dk1"/>
                  </a:solidFill>
                  <a:latin typeface="+mn-lt"/>
                  <a:ea typeface="+mn-ea"/>
                  <a:cs typeface="+mn-cs"/>
                </a:rPr>
                <a:t>最大连通分量占比 ×</a:t>
              </a:r>
              <a:r>
                <a:rPr lang="en-US" sz="1200" dirty="0">
                  <a:solidFill>
                    <a:schemeClr val="dk1"/>
                  </a:solidFill>
                  <a:latin typeface="+mn-lt"/>
                  <a:ea typeface="+mn-ea"/>
                  <a:cs typeface="+mn-cs"/>
                </a:rPr>
                <a:t> </a:t>
              </a:r>
              <a:r>
                <a:rPr lang="zh-CN" sz="1200" dirty="0">
                  <a:solidFill>
                    <a:schemeClr val="dk1"/>
                  </a:solidFill>
                  <a:latin typeface="+mn-lt"/>
                  <a:ea typeface="+mn-ea"/>
                  <a:cs typeface="+mn-cs"/>
                </a:rPr>
                <a:t>min(平均邻居数/8, 1) ×</a:t>
              </a:r>
              <a:r>
                <a:rPr lang="en-US" sz="1200" dirty="0">
                  <a:solidFill>
                    <a:schemeClr val="dk1"/>
                  </a:solidFill>
                  <a:latin typeface="+mn-lt"/>
                  <a:ea typeface="+mn-ea"/>
                  <a:cs typeface="+mn-cs"/>
                </a:rPr>
                <a:t> </a:t>
              </a:r>
              <a:r>
                <a:rPr lang="zh-CN" sz="1200" dirty="0">
                  <a:solidFill>
                    <a:schemeClr val="dk1"/>
                  </a:solidFill>
                  <a:latin typeface="+mn-lt"/>
                  <a:ea typeface="+mn-ea"/>
                  <a:cs typeface="+mn-cs"/>
                </a:rPr>
                <a:t>(估计维度+1)/4单结构近似</a:t>
              </a:r>
            </a:p>
          </p:txBody>
        </p:sp>
        <p:sp>
          <p:nvSpPr>
            <p:cNvPr id="40" name="TextBox 40"/>
            <p:cNvSpPr txBox="1"/>
            <p:nvPr/>
          </p:nvSpPr>
          <p:spPr>
            <a:xfrm>
              <a:off x="9195054" y="4309110"/>
              <a:ext cx="1292352" cy="729996"/>
            </a:xfrm>
            <a:prstGeom prst="rect">
              <a:avLst/>
            </a:prstGeom>
            <a:noFill/>
            <a:ln>
              <a:noFill/>
            </a:ln>
          </p:spPr>
          <p:txBody>
            <a:bodyPr wrap="square" lIns="0" tIns="0" rIns="0" bIns="0" anchor="t" anchorCtr="0"/>
            <a:lstStyle/>
            <a:p>
              <a:pPr algn="l">
                <a:lnSpc>
                  <a:spcPts val="1950"/>
                </a:lnSpc>
              </a:pPr>
              <a:r>
                <a:rPr lang="zh-CN" sz="1200" b="1" dirty="0">
                  <a:solidFill>
                    <a:schemeClr val="accent2"/>
                  </a:solidFill>
                  <a:latin typeface="+mn-lt"/>
                  <a:ea typeface="+mn-ea"/>
                  <a:cs typeface="+mn-cs"/>
                </a:rPr>
                <a:t>第一代依赖数据集第二代是另一套单结构公式</a:t>
              </a:r>
            </a:p>
          </p:txBody>
        </p:sp>
      </p:grpSp>
      <p:grpSp>
        <p:nvGrpSpPr>
          <p:cNvPr id="44" name="Group 44"/>
          <p:cNvGrpSpPr/>
          <p:nvPr/>
        </p:nvGrpSpPr>
        <p:grpSpPr>
          <a:xfrm>
            <a:off x="457200" y="5467350"/>
            <a:ext cx="11277600" cy="476250"/>
            <a:chOff x="457200" y="5467350"/>
            <a:chExt cx="11277600" cy="476250"/>
          </a:xfrm>
        </p:grpSpPr>
        <p:sp>
          <p:nvSpPr>
            <p:cNvPr id="42" name="Rectangle 42"/>
            <p:cNvSpPr/>
            <p:nvPr/>
          </p:nvSpPr>
          <p:spPr>
            <a:xfrm>
              <a:off x="457200" y="5467350"/>
              <a:ext cx="11277600" cy="476250"/>
            </a:xfrm>
            <a:prstGeom prst="rect">
              <a:avLst/>
            </a:prstGeom>
            <a:solidFill>
              <a:schemeClr val="lt2"/>
            </a:solidFill>
            <a:ln>
              <a:noFill/>
            </a:ln>
          </p:spPr>
        </p:sp>
        <p:sp>
          <p:nvSpPr>
            <p:cNvPr id="43" name="TextBox 43"/>
            <p:cNvSpPr txBox="1"/>
            <p:nvPr/>
          </p:nvSpPr>
          <p:spPr>
            <a:xfrm>
              <a:off x="619506" y="5577840"/>
              <a:ext cx="66335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必须重新命名或重新实现，再在新数据下重新检验相关性。</a:t>
              </a:r>
            </a:p>
          </p:txBody>
        </p:sp>
      </p:grpSp>
      <p:grpSp>
        <p:nvGrpSpPr>
          <p:cNvPr id="47" name="Group 47"/>
          <p:cNvGrpSpPr/>
          <p:nvPr/>
        </p:nvGrpSpPr>
        <p:grpSpPr>
          <a:xfrm>
            <a:off x="451104" y="6356985"/>
            <a:ext cx="11289030" cy="234696"/>
            <a:chOff x="451104" y="6356985"/>
            <a:chExt cx="11289030" cy="234696"/>
          </a:xfrm>
        </p:grpSpPr>
        <p:sp>
          <p:nvSpPr>
            <p:cNvPr id="45" name="TextBox 45"/>
            <p:cNvSpPr txBox="1"/>
            <p:nvPr/>
          </p:nvSpPr>
          <p:spPr>
            <a:xfrm>
              <a:off x="451104" y="6356985"/>
              <a:ext cx="2376221"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Q&amp;A附录｜公式保持可编辑文本</a:t>
              </a:r>
            </a:p>
          </p:txBody>
        </p:sp>
        <p:sp>
          <p:nvSpPr>
            <p:cNvPr id="46" name="TextBox 46"/>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14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28395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Q3｜数字口径</a:t>
              </a:r>
            </a:p>
          </p:txBody>
        </p:sp>
        <p:sp>
          <p:nvSpPr>
            <p:cNvPr id="3" name="TextBox 3"/>
            <p:cNvSpPr txBox="1"/>
            <p:nvPr/>
          </p:nvSpPr>
          <p:spPr>
            <a:xfrm>
              <a:off x="441198" y="650558"/>
              <a:ext cx="638319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0.793和41→38分别代表什么？</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13" name="Group 13"/>
          <p:cNvGrpSpPr/>
          <p:nvPr/>
        </p:nvGrpSpPr>
        <p:grpSpPr>
          <a:xfrm>
            <a:off x="438150" y="1816418"/>
            <a:ext cx="4705350" cy="2816733"/>
            <a:chOff x="438150" y="1816418"/>
            <a:chExt cx="4705350" cy="2816733"/>
          </a:xfrm>
        </p:grpSpPr>
        <p:sp>
          <p:nvSpPr>
            <p:cNvPr id="6" name="TextBox 6"/>
            <p:cNvSpPr txBox="1"/>
            <p:nvPr/>
          </p:nvSpPr>
          <p:spPr>
            <a:xfrm>
              <a:off x="450342" y="18164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历史模型性能</a:t>
              </a:r>
            </a:p>
          </p:txBody>
        </p:sp>
        <p:sp>
          <p:nvSpPr>
            <p:cNvPr id="7" name="TextBox 7"/>
            <p:cNvSpPr txBox="1"/>
            <p:nvPr/>
          </p:nvSpPr>
          <p:spPr>
            <a:xfrm>
              <a:off x="438150" y="2225992"/>
              <a:ext cx="2440800" cy="1133475"/>
            </a:xfrm>
            <a:prstGeom prst="rect">
              <a:avLst/>
            </a:prstGeom>
            <a:noFill/>
            <a:ln>
              <a:noFill/>
            </a:ln>
          </p:spPr>
          <p:txBody>
            <a:bodyPr wrap="none" lIns="0" tIns="0" rIns="0" bIns="0" anchor="t" anchorCtr="0">
              <a:spAutoFit/>
            </a:bodyPr>
            <a:lstStyle/>
            <a:p>
              <a:pPr algn="l"/>
              <a:r>
                <a:rPr lang="en-US" sz="5850" b="1" dirty="0">
                  <a:solidFill>
                    <a:schemeClr val="accent1"/>
                  </a:solidFill>
                  <a:latin typeface="+mj-lt"/>
                  <a:ea typeface="+mj-ea"/>
                  <a:cs typeface="+mj-cs"/>
                </a:rPr>
                <a:t>0.793</a:t>
              </a:r>
            </a:p>
          </p:txBody>
        </p:sp>
        <p:sp>
          <p:nvSpPr>
            <p:cNvPr id="8" name="TextBox 8"/>
            <p:cNvSpPr txBox="1"/>
            <p:nvPr/>
          </p:nvSpPr>
          <p:spPr>
            <a:xfrm>
              <a:off x="448056" y="3044190"/>
              <a:ext cx="229875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交叉验证 Spearman</a:t>
              </a:r>
            </a:p>
          </p:txBody>
        </p:sp>
        <p:sp>
          <p:nvSpPr>
            <p:cNvPr id="9" name="Line 9"/>
            <p:cNvSpPr/>
            <p:nvPr/>
          </p:nvSpPr>
          <p:spPr>
            <a:xfrm>
              <a:off x="457200" y="3448050"/>
              <a:ext cx="4686300" cy="9525"/>
            </a:xfrm>
            <a:custGeom>
              <a:avLst/>
              <a:gdLst/>
              <a:ahLst/>
              <a:cxnLst/>
              <a:rect l="l" t="t" r="r" b="b"/>
              <a:pathLst>
                <a:path w="4686300" h="9525">
                  <a:moveTo>
                    <a:pt x="0" y="0"/>
                  </a:moveTo>
                  <a:lnTo>
                    <a:pt x="4686300" y="0"/>
                  </a:lnTo>
                </a:path>
              </a:pathLst>
            </a:custGeom>
            <a:noFill/>
            <a:ln w="28575">
              <a:solidFill>
                <a:schemeClr val="accent1"/>
              </a:solidFill>
            </a:ln>
          </p:spPr>
        </p:sp>
        <p:sp>
          <p:nvSpPr>
            <p:cNvPr id="10" name="TextBox 10"/>
            <p:cNvSpPr txBox="1"/>
            <p:nvPr/>
          </p:nvSpPr>
          <p:spPr>
            <a:xfrm>
              <a:off x="450342" y="3645218"/>
              <a:ext cx="35956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ExtraTrees：A2 + NaNa + SoftBV / Zeo++</a:t>
              </a:r>
            </a:p>
          </p:txBody>
        </p:sp>
        <p:sp>
          <p:nvSpPr>
            <p:cNvPr id="11" name="TextBox 11"/>
            <p:cNvSpPr txBox="1"/>
            <p:nvPr/>
          </p:nvSpPr>
          <p:spPr>
            <a:xfrm>
              <a:off x="450342" y="3969068"/>
              <a:ext cx="260686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仅 A2 + NaNa 网络模型：0.755</a:t>
              </a:r>
            </a:p>
          </p:txBody>
        </p:sp>
        <p:sp>
          <p:nvSpPr>
            <p:cNvPr id="12" name="TextBox 12"/>
            <p:cNvSpPr txBox="1"/>
            <p:nvPr/>
          </p:nvSpPr>
          <p:spPr>
            <a:xfrm>
              <a:off x="450342" y="4369118"/>
              <a:ext cx="355533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不是“A2×NaNa单一组合描述符”的相关性</a:t>
              </a:r>
            </a:p>
          </p:txBody>
        </p:sp>
      </p:grpSp>
      <p:grpSp>
        <p:nvGrpSpPr>
          <p:cNvPr id="22" name="Group 22"/>
          <p:cNvGrpSpPr/>
          <p:nvPr/>
        </p:nvGrpSpPr>
        <p:grpSpPr>
          <a:xfrm>
            <a:off x="6667500" y="1816418"/>
            <a:ext cx="5067300" cy="3026283"/>
            <a:chOff x="6667500" y="1816418"/>
            <a:chExt cx="5067300" cy="3026283"/>
          </a:xfrm>
        </p:grpSpPr>
        <p:sp>
          <p:nvSpPr>
            <p:cNvPr id="14" name="TextBox 14"/>
            <p:cNvSpPr txBox="1"/>
            <p:nvPr/>
          </p:nvSpPr>
          <p:spPr>
            <a:xfrm>
              <a:off x="6679692" y="18164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代码入口状态</a:t>
              </a:r>
            </a:p>
          </p:txBody>
        </p:sp>
        <p:sp>
          <p:nvSpPr>
            <p:cNvPr id="15" name="TextBox 15"/>
            <p:cNvSpPr txBox="1"/>
            <p:nvPr/>
          </p:nvSpPr>
          <p:spPr>
            <a:xfrm>
              <a:off x="6667500" y="2225992"/>
              <a:ext cx="2965026" cy="1133475"/>
            </a:xfrm>
            <a:prstGeom prst="rect">
              <a:avLst/>
            </a:prstGeom>
            <a:noFill/>
            <a:ln>
              <a:noFill/>
            </a:ln>
          </p:spPr>
          <p:txBody>
            <a:bodyPr wrap="none" lIns="0" tIns="0" rIns="0" bIns="0" anchor="t" anchorCtr="0">
              <a:spAutoFit/>
            </a:bodyPr>
            <a:lstStyle/>
            <a:p>
              <a:pPr algn="l"/>
              <a:r>
                <a:rPr lang="en-US" sz="5850" b="1" dirty="0">
                  <a:solidFill>
                    <a:schemeClr val="accent3"/>
                  </a:solidFill>
                  <a:latin typeface="+mj-lt"/>
                  <a:ea typeface="+mj-ea"/>
                  <a:cs typeface="+mj-cs"/>
                </a:rPr>
                <a:t>41 → 38</a:t>
              </a:r>
            </a:p>
          </p:txBody>
        </p:sp>
        <p:sp>
          <p:nvSpPr>
            <p:cNvPr id="16" name="TextBox 16"/>
            <p:cNvSpPr txBox="1"/>
            <p:nvPr/>
          </p:nvSpPr>
          <p:spPr>
            <a:xfrm>
              <a:off x="6677406" y="3044190"/>
              <a:ext cx="260077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注册入口 → 可搜索入口</a:t>
              </a:r>
            </a:p>
          </p:txBody>
        </p:sp>
        <p:sp>
          <p:nvSpPr>
            <p:cNvPr id="17" name="Line 17"/>
            <p:cNvSpPr/>
            <p:nvPr/>
          </p:nvSpPr>
          <p:spPr>
            <a:xfrm>
              <a:off x="6686550" y="3448050"/>
              <a:ext cx="5048250" cy="9525"/>
            </a:xfrm>
            <a:custGeom>
              <a:avLst/>
              <a:gdLst/>
              <a:ahLst/>
              <a:cxnLst/>
              <a:rect l="l" t="t" r="r" b="b"/>
              <a:pathLst>
                <a:path w="5048250" h="9525">
                  <a:moveTo>
                    <a:pt x="0" y="0"/>
                  </a:moveTo>
                  <a:lnTo>
                    <a:pt x="5048250" y="0"/>
                  </a:lnTo>
                </a:path>
              </a:pathLst>
            </a:custGeom>
            <a:noFill/>
            <a:ln w="28575">
              <a:solidFill>
                <a:schemeClr val="accent3"/>
              </a:solidFill>
            </a:ln>
          </p:spPr>
        </p:sp>
        <p:sp>
          <p:nvSpPr>
            <p:cNvPr id="18" name="TextBox 18"/>
            <p:cNvSpPr txBox="1"/>
            <p:nvPr/>
          </p:nvSpPr>
          <p:spPr>
            <a:xfrm>
              <a:off x="6679692" y="3645218"/>
              <a:ext cx="256712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max_bond_length：兼容别名</a:t>
              </a:r>
            </a:p>
          </p:txBody>
        </p:sp>
        <p:sp>
          <p:nvSpPr>
            <p:cNvPr id="19" name="TextBox 19"/>
            <p:cNvSpPr txBox="1"/>
            <p:nvPr/>
          </p:nvSpPr>
          <p:spPr>
            <a:xfrm>
              <a:off x="6679692" y="3950018"/>
              <a:ext cx="32668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bottleneck_anisotropy：永久不可用</a:t>
              </a:r>
            </a:p>
          </p:txBody>
        </p:sp>
        <p:sp>
          <p:nvSpPr>
            <p:cNvPr id="20" name="TextBox 20"/>
            <p:cNvSpPr txBox="1"/>
            <p:nvPr/>
          </p:nvSpPr>
          <p:spPr>
            <a:xfrm>
              <a:off x="6679692" y="4254818"/>
              <a:ext cx="293968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bvse_barrier_estimate：缺后端</a:t>
              </a:r>
            </a:p>
          </p:txBody>
        </p:sp>
        <p:sp>
          <p:nvSpPr>
            <p:cNvPr id="21" name="TextBox 21"/>
            <p:cNvSpPr txBox="1"/>
            <p:nvPr/>
          </p:nvSpPr>
          <p:spPr>
            <a:xfrm>
              <a:off x="6679692" y="4578668"/>
              <a:ext cx="3066898"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真实进入排序还会因覆盖率继续减少</a:t>
              </a:r>
            </a:p>
          </p:txBody>
        </p:sp>
      </p:grpSp>
      <p:grpSp>
        <p:nvGrpSpPr>
          <p:cNvPr id="24" name="Group 24"/>
          <p:cNvGrpSpPr/>
          <p:nvPr/>
        </p:nvGrpSpPr>
        <p:grpSpPr>
          <a:xfrm>
            <a:off x="6096000" y="1809750"/>
            <a:ext cx="9525" cy="2914650"/>
            <a:chOff x="6096000" y="1809750"/>
            <a:chExt cx="9525" cy="2914650"/>
          </a:xfrm>
        </p:grpSpPr>
        <p:sp>
          <p:nvSpPr>
            <p:cNvPr id="23" name="Line 23"/>
            <p:cNvSpPr/>
            <p:nvPr/>
          </p:nvSpPr>
          <p:spPr>
            <a:xfrm>
              <a:off x="6096000" y="1809750"/>
              <a:ext cx="9525" cy="2914650"/>
            </a:xfrm>
            <a:custGeom>
              <a:avLst/>
              <a:gdLst/>
              <a:ahLst/>
              <a:cxnLst/>
              <a:rect l="l" t="t" r="r" b="b"/>
              <a:pathLst>
                <a:path w="9525" h="2914650">
                  <a:moveTo>
                    <a:pt x="0" y="0"/>
                  </a:moveTo>
                  <a:lnTo>
                    <a:pt x="0" y="2914650"/>
                  </a:lnTo>
                </a:path>
              </a:pathLst>
            </a:custGeom>
            <a:noFill/>
            <a:ln w="19050">
              <a:solidFill>
                <a:schemeClr val="accent5"/>
              </a:solidFill>
            </a:ln>
          </p:spPr>
        </p:sp>
      </p:grpSp>
      <p:grpSp>
        <p:nvGrpSpPr>
          <p:cNvPr id="28" name="Group 28"/>
          <p:cNvGrpSpPr/>
          <p:nvPr/>
        </p:nvGrpSpPr>
        <p:grpSpPr>
          <a:xfrm>
            <a:off x="2419350" y="5181600"/>
            <a:ext cx="7353300" cy="767334"/>
            <a:chOff x="2419350" y="5181600"/>
            <a:chExt cx="7353300" cy="767334"/>
          </a:xfrm>
        </p:grpSpPr>
        <p:sp>
          <p:nvSpPr>
            <p:cNvPr id="25" name="Rectangle 25"/>
            <p:cNvSpPr/>
            <p:nvPr/>
          </p:nvSpPr>
          <p:spPr>
            <a:xfrm>
              <a:off x="2419350" y="5181600"/>
              <a:ext cx="7353300" cy="742950"/>
            </a:xfrm>
            <a:prstGeom prst="rect">
              <a:avLst/>
            </a:prstGeom>
            <a:solidFill>
              <a:schemeClr val="accent2"/>
            </a:solidFill>
            <a:ln>
              <a:noFill/>
            </a:ln>
          </p:spPr>
        </p:sp>
        <p:sp>
          <p:nvSpPr>
            <p:cNvPr id="26" name="TextBox 26"/>
            <p:cNvSpPr txBox="1"/>
            <p:nvPr/>
          </p:nvSpPr>
          <p:spPr>
            <a:xfrm>
              <a:off x="3980993" y="5340668"/>
              <a:ext cx="4230014" cy="264033"/>
            </a:xfrm>
            <a:prstGeom prst="rect">
              <a:avLst/>
            </a:prstGeom>
            <a:noFill/>
            <a:ln>
              <a:noFill/>
            </a:ln>
          </p:spPr>
          <p:txBody>
            <a:bodyPr wrap="none" lIns="0" tIns="0" rIns="0" bIns="0" anchor="t" anchorCtr="0">
              <a:spAutoFit/>
            </a:bodyPr>
            <a:lstStyle/>
            <a:p>
              <a:pPr algn="ctr"/>
              <a:r>
                <a:rPr lang="zh-CN" sz="1350" dirty="0">
                  <a:solidFill>
                    <a:srgbClr val="FBE5DF"/>
                  </a:solidFill>
                  <a:latin typeface="+mn-lt"/>
                  <a:ea typeface="+mn-ea"/>
                  <a:cs typeface="+mn-cs"/>
                </a:rPr>
                <a:t>两个数字分别回答“历史模型怎样”和“代码入口多少”</a:t>
              </a:r>
            </a:p>
          </p:txBody>
        </p:sp>
        <p:sp>
          <p:nvSpPr>
            <p:cNvPr id="27" name="TextBox 27"/>
            <p:cNvSpPr txBox="1"/>
            <p:nvPr/>
          </p:nvSpPr>
          <p:spPr>
            <a:xfrm>
              <a:off x="4165896" y="5596890"/>
              <a:ext cx="3860208"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都不回答“第二代已经发现了什么”</a:t>
              </a:r>
            </a:p>
          </p:txBody>
        </p:sp>
      </p:grpSp>
      <p:grpSp>
        <p:nvGrpSpPr>
          <p:cNvPr id="31" name="Group 31"/>
          <p:cNvGrpSpPr/>
          <p:nvPr/>
        </p:nvGrpSpPr>
        <p:grpSpPr>
          <a:xfrm>
            <a:off x="451104" y="6356985"/>
            <a:ext cx="11289030" cy="234696"/>
            <a:chOff x="451104" y="6356985"/>
            <a:chExt cx="11289030" cy="234696"/>
          </a:xfrm>
        </p:grpSpPr>
        <p:sp>
          <p:nvSpPr>
            <p:cNvPr id="29" name="TextBox 29"/>
            <p:cNvSpPr txBox="1"/>
            <p:nvPr/>
          </p:nvSpPr>
          <p:spPr>
            <a:xfrm>
              <a:off x="451104" y="6356985"/>
              <a:ext cx="3229661"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Q&amp;A附录｜数字、对象和阶段必须一起陈述</a:t>
              </a:r>
            </a:p>
          </p:txBody>
        </p:sp>
        <p:sp>
          <p:nvSpPr>
            <p:cNvPr id="30" name="TextBox 30"/>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15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28395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Q4｜执行范围</a:t>
              </a:r>
            </a:p>
          </p:txBody>
        </p:sp>
        <p:sp>
          <p:nvSpPr>
            <p:cNvPr id="3" name="TextBox 3"/>
            <p:cNvSpPr txBox="1"/>
            <p:nvPr/>
          </p:nvSpPr>
          <p:spPr>
            <a:xfrm>
              <a:off x="441198" y="650558"/>
              <a:ext cx="66184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主程序真正自动执行到哪一步？</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8" name="Group 8"/>
          <p:cNvGrpSpPr/>
          <p:nvPr/>
        </p:nvGrpSpPr>
        <p:grpSpPr>
          <a:xfrm>
            <a:off x="450342" y="1530668"/>
            <a:ext cx="11290554" cy="264033"/>
            <a:chOff x="450342" y="1530668"/>
            <a:chExt cx="11290554" cy="264033"/>
          </a:xfrm>
        </p:grpSpPr>
        <p:sp>
          <p:nvSpPr>
            <p:cNvPr id="6" name="TextBox 6"/>
            <p:cNvSpPr txBox="1"/>
            <p:nvPr/>
          </p:nvSpPr>
          <p:spPr>
            <a:xfrm>
              <a:off x="450342" y="1530668"/>
              <a:ext cx="3937906"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run_pipeline.py｜当前一键执行的 Stage 0–4</a:t>
              </a:r>
            </a:p>
          </p:txBody>
        </p:sp>
        <p:sp>
          <p:nvSpPr>
            <p:cNvPr id="7" name="TextBox 7"/>
            <p:cNvSpPr txBox="1"/>
            <p:nvPr/>
          </p:nvSpPr>
          <p:spPr>
            <a:xfrm>
              <a:off x="9305544" y="1546860"/>
              <a:ext cx="2435352"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每一步的输出，成为下一步的输入</a:t>
              </a:r>
            </a:p>
          </p:txBody>
        </p:sp>
      </p:grpSp>
      <p:grpSp>
        <p:nvGrpSpPr>
          <p:cNvPr id="17" name="Group 17"/>
          <p:cNvGrpSpPr/>
          <p:nvPr/>
        </p:nvGrpSpPr>
        <p:grpSpPr>
          <a:xfrm>
            <a:off x="457200" y="1885950"/>
            <a:ext cx="2133600" cy="2362200"/>
            <a:chOff x="457200" y="1885950"/>
            <a:chExt cx="2133600" cy="2362200"/>
          </a:xfrm>
        </p:grpSpPr>
        <p:sp>
          <p:nvSpPr>
            <p:cNvPr id="9" name="Rectangle 9"/>
            <p:cNvSpPr/>
            <p:nvPr/>
          </p:nvSpPr>
          <p:spPr>
            <a:xfrm>
              <a:off x="457200" y="1885950"/>
              <a:ext cx="2133600" cy="2362200"/>
            </a:xfrm>
            <a:prstGeom prst="rect">
              <a:avLst/>
            </a:prstGeom>
            <a:solidFill>
              <a:schemeClr val="lt2"/>
            </a:solidFill>
            <a:ln w="9525">
              <a:solidFill>
                <a:schemeClr val="accent5"/>
              </a:solidFill>
            </a:ln>
          </p:spPr>
        </p:sp>
        <p:sp>
          <p:nvSpPr>
            <p:cNvPr id="10" name="Rectangle 10"/>
            <p:cNvSpPr/>
            <p:nvPr/>
          </p:nvSpPr>
          <p:spPr>
            <a:xfrm>
              <a:off x="457200" y="1885950"/>
              <a:ext cx="2133600" cy="514350"/>
            </a:xfrm>
            <a:prstGeom prst="rect">
              <a:avLst/>
            </a:prstGeom>
            <a:solidFill>
              <a:schemeClr val="accent1"/>
            </a:solidFill>
            <a:ln>
              <a:noFill/>
            </a:ln>
          </p:spPr>
        </p:sp>
        <p:sp>
          <p:nvSpPr>
            <p:cNvPr id="11" name="TextBox 11"/>
            <p:cNvSpPr txBox="1"/>
            <p:nvPr/>
          </p:nvSpPr>
          <p:spPr>
            <a:xfrm>
              <a:off x="638556" y="2015490"/>
              <a:ext cx="102756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Stage 0</a:t>
              </a:r>
            </a:p>
          </p:txBody>
        </p:sp>
        <p:sp>
          <p:nvSpPr>
            <p:cNvPr id="12" name="TextBox 12"/>
            <p:cNvSpPr txBox="1"/>
            <p:nvPr/>
          </p:nvSpPr>
          <p:spPr>
            <a:xfrm>
              <a:off x="638556" y="25488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先把结构算成表</a:t>
              </a:r>
            </a:p>
          </p:txBody>
        </p:sp>
        <p:sp>
          <p:nvSpPr>
            <p:cNvPr id="13" name="TextBox 13"/>
            <p:cNvSpPr txBox="1"/>
            <p:nvPr/>
          </p:nvSpPr>
          <p:spPr>
            <a:xfrm>
              <a:off x="640842" y="29594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逐个计算描述符</a:t>
              </a:r>
            </a:p>
          </p:txBody>
        </p:sp>
        <p:sp>
          <p:nvSpPr>
            <p:cNvPr id="14" name="TextBox 14"/>
            <p:cNvSpPr txBox="1"/>
            <p:nvPr/>
          </p:nvSpPr>
          <p:spPr>
            <a:xfrm>
              <a:off x="640842" y="32451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统计每列覆盖率</a:t>
              </a:r>
            </a:p>
          </p:txBody>
        </p:sp>
        <p:sp>
          <p:nvSpPr>
            <p:cNvPr id="15" name="Line 15"/>
            <p:cNvSpPr/>
            <p:nvPr/>
          </p:nvSpPr>
          <p:spPr>
            <a:xfrm>
              <a:off x="647700" y="3638550"/>
              <a:ext cx="1752600" cy="9525"/>
            </a:xfrm>
            <a:custGeom>
              <a:avLst/>
              <a:gdLst/>
              <a:ahLst/>
              <a:cxnLst/>
              <a:rect l="l" t="t" r="r" b="b"/>
              <a:pathLst>
                <a:path w="1752600" h="9525">
                  <a:moveTo>
                    <a:pt x="0" y="0"/>
                  </a:moveTo>
                  <a:lnTo>
                    <a:pt x="1752600" y="0"/>
                  </a:lnTo>
                </a:path>
              </a:pathLst>
            </a:custGeom>
            <a:noFill/>
            <a:ln w="9525">
              <a:solidFill>
                <a:schemeClr val="accent5"/>
              </a:solidFill>
            </a:ln>
          </p:spPr>
        </p:sp>
        <p:sp>
          <p:nvSpPr>
            <p:cNvPr id="16" name="TextBox 16"/>
            <p:cNvSpPr txBox="1"/>
            <p:nvPr/>
          </p:nvSpPr>
          <p:spPr>
            <a:xfrm>
              <a:off x="641604" y="3813810"/>
              <a:ext cx="1369162"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输出｜可分析矩阵</a:t>
              </a:r>
            </a:p>
          </p:txBody>
        </p:sp>
      </p:grpSp>
      <p:grpSp>
        <p:nvGrpSpPr>
          <p:cNvPr id="26" name="Group 26"/>
          <p:cNvGrpSpPr/>
          <p:nvPr/>
        </p:nvGrpSpPr>
        <p:grpSpPr>
          <a:xfrm>
            <a:off x="2743200" y="1885950"/>
            <a:ext cx="2133600" cy="2362200"/>
            <a:chOff x="2743200" y="1885950"/>
            <a:chExt cx="2133600" cy="2362200"/>
          </a:xfrm>
        </p:grpSpPr>
        <p:sp>
          <p:nvSpPr>
            <p:cNvPr id="18" name="Rectangle 18"/>
            <p:cNvSpPr/>
            <p:nvPr/>
          </p:nvSpPr>
          <p:spPr>
            <a:xfrm>
              <a:off x="2743200" y="1885950"/>
              <a:ext cx="2133600" cy="2362200"/>
            </a:xfrm>
            <a:prstGeom prst="rect">
              <a:avLst/>
            </a:prstGeom>
            <a:solidFill>
              <a:schemeClr val="lt1"/>
            </a:solidFill>
            <a:ln w="9525">
              <a:solidFill>
                <a:schemeClr val="accent5"/>
              </a:solidFill>
            </a:ln>
          </p:spPr>
        </p:sp>
        <p:sp>
          <p:nvSpPr>
            <p:cNvPr id="19" name="Rectangle 19"/>
            <p:cNvSpPr/>
            <p:nvPr/>
          </p:nvSpPr>
          <p:spPr>
            <a:xfrm>
              <a:off x="2743200" y="1885950"/>
              <a:ext cx="2133600" cy="514350"/>
            </a:xfrm>
            <a:prstGeom prst="rect">
              <a:avLst/>
            </a:prstGeom>
            <a:solidFill>
              <a:schemeClr val="accent3"/>
            </a:solidFill>
            <a:ln>
              <a:noFill/>
            </a:ln>
          </p:spPr>
        </p:sp>
        <p:sp>
          <p:nvSpPr>
            <p:cNvPr id="20" name="TextBox 20"/>
            <p:cNvSpPr txBox="1"/>
            <p:nvPr/>
          </p:nvSpPr>
          <p:spPr>
            <a:xfrm>
              <a:off x="2924556" y="2015490"/>
              <a:ext cx="102756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Stage 1</a:t>
              </a:r>
            </a:p>
          </p:txBody>
        </p:sp>
        <p:sp>
          <p:nvSpPr>
            <p:cNvPr id="21" name="TextBox 21"/>
            <p:cNvSpPr txBox="1"/>
            <p:nvPr/>
          </p:nvSpPr>
          <p:spPr>
            <a:xfrm>
              <a:off x="2924556" y="2548890"/>
              <a:ext cx="157032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先排“值得看”</a:t>
              </a:r>
            </a:p>
          </p:txBody>
        </p:sp>
        <p:sp>
          <p:nvSpPr>
            <p:cNvPr id="22" name="TextBox 22"/>
            <p:cNvSpPr txBox="1"/>
            <p:nvPr/>
          </p:nvSpPr>
          <p:spPr>
            <a:xfrm>
              <a:off x="2926842" y="29594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原始排序相关</a:t>
              </a:r>
            </a:p>
          </p:txBody>
        </p:sp>
        <p:sp>
          <p:nvSpPr>
            <p:cNvPr id="23" name="TextBox 23"/>
            <p:cNvSpPr txBox="1"/>
            <p:nvPr/>
          </p:nvSpPr>
          <p:spPr>
            <a:xfrm>
              <a:off x="2926842" y="32451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扣除体系起点后再排</a:t>
              </a:r>
            </a:p>
          </p:txBody>
        </p:sp>
        <p:sp>
          <p:nvSpPr>
            <p:cNvPr id="24" name="Line 24"/>
            <p:cNvSpPr/>
            <p:nvPr/>
          </p:nvSpPr>
          <p:spPr>
            <a:xfrm>
              <a:off x="2933700" y="3638550"/>
              <a:ext cx="1752600" cy="9525"/>
            </a:xfrm>
            <a:custGeom>
              <a:avLst/>
              <a:gdLst/>
              <a:ahLst/>
              <a:cxnLst/>
              <a:rect l="l" t="t" r="r" b="b"/>
              <a:pathLst>
                <a:path w="1752600" h="9525">
                  <a:moveTo>
                    <a:pt x="0" y="0"/>
                  </a:moveTo>
                  <a:lnTo>
                    <a:pt x="1752600" y="0"/>
                  </a:lnTo>
                </a:path>
              </a:pathLst>
            </a:custGeom>
            <a:noFill/>
            <a:ln w="9525">
              <a:solidFill>
                <a:schemeClr val="accent5"/>
              </a:solidFill>
            </a:ln>
          </p:spPr>
        </p:sp>
        <p:sp>
          <p:nvSpPr>
            <p:cNvPr id="25" name="TextBox 25"/>
            <p:cNvSpPr txBox="1"/>
            <p:nvPr/>
          </p:nvSpPr>
          <p:spPr>
            <a:xfrm>
              <a:off x="2927604" y="3813810"/>
              <a:ext cx="1369162"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输出｜候选描述符</a:t>
              </a:r>
            </a:p>
          </p:txBody>
        </p:sp>
      </p:grpSp>
      <p:grpSp>
        <p:nvGrpSpPr>
          <p:cNvPr id="35" name="Group 35"/>
          <p:cNvGrpSpPr/>
          <p:nvPr/>
        </p:nvGrpSpPr>
        <p:grpSpPr>
          <a:xfrm>
            <a:off x="5029200" y="1885950"/>
            <a:ext cx="2133600" cy="2362200"/>
            <a:chOff x="5029200" y="1885950"/>
            <a:chExt cx="2133600" cy="2362200"/>
          </a:xfrm>
        </p:grpSpPr>
        <p:sp>
          <p:nvSpPr>
            <p:cNvPr id="27" name="Rectangle 27"/>
            <p:cNvSpPr/>
            <p:nvPr/>
          </p:nvSpPr>
          <p:spPr>
            <a:xfrm>
              <a:off x="5029200" y="1885950"/>
              <a:ext cx="2133600" cy="2362200"/>
            </a:xfrm>
            <a:prstGeom prst="rect">
              <a:avLst/>
            </a:prstGeom>
            <a:solidFill>
              <a:schemeClr val="lt2"/>
            </a:solidFill>
            <a:ln w="9525">
              <a:solidFill>
                <a:schemeClr val="accent5"/>
              </a:solidFill>
            </a:ln>
          </p:spPr>
        </p:sp>
        <p:sp>
          <p:nvSpPr>
            <p:cNvPr id="28" name="Rectangle 28"/>
            <p:cNvSpPr/>
            <p:nvPr/>
          </p:nvSpPr>
          <p:spPr>
            <a:xfrm>
              <a:off x="5029200" y="1885950"/>
              <a:ext cx="2133600" cy="514350"/>
            </a:xfrm>
            <a:prstGeom prst="rect">
              <a:avLst/>
            </a:prstGeom>
            <a:solidFill>
              <a:schemeClr val="accent1"/>
            </a:solidFill>
            <a:ln>
              <a:noFill/>
            </a:ln>
          </p:spPr>
        </p:sp>
        <p:sp>
          <p:nvSpPr>
            <p:cNvPr id="29" name="TextBox 29"/>
            <p:cNvSpPr txBox="1"/>
            <p:nvPr/>
          </p:nvSpPr>
          <p:spPr>
            <a:xfrm>
              <a:off x="5210556" y="2015490"/>
              <a:ext cx="102756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Stage 2</a:t>
              </a:r>
            </a:p>
          </p:txBody>
        </p:sp>
        <p:sp>
          <p:nvSpPr>
            <p:cNvPr id="30" name="TextBox 30"/>
            <p:cNvSpPr txBox="1"/>
            <p:nvPr/>
          </p:nvSpPr>
          <p:spPr>
            <a:xfrm>
              <a:off x="5211318" y="2565082"/>
              <a:ext cx="1905920"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再看“站不站得住”</a:t>
              </a:r>
            </a:p>
          </p:txBody>
        </p:sp>
        <p:sp>
          <p:nvSpPr>
            <p:cNvPr id="31" name="TextBox 31"/>
            <p:cNvSpPr txBox="1"/>
            <p:nvPr/>
          </p:nvSpPr>
          <p:spPr>
            <a:xfrm>
              <a:off x="5212842" y="29594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反复抽取一半样本</a:t>
              </a:r>
            </a:p>
          </p:txBody>
        </p:sp>
        <p:sp>
          <p:nvSpPr>
            <p:cNvPr id="32" name="TextBox 32"/>
            <p:cNvSpPr txBox="1"/>
            <p:nvPr/>
          </p:nvSpPr>
          <p:spPr>
            <a:xfrm>
              <a:off x="5212842" y="32451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每类只留代表变量</a:t>
              </a:r>
            </a:p>
          </p:txBody>
        </p:sp>
        <p:sp>
          <p:nvSpPr>
            <p:cNvPr id="33" name="Line 33"/>
            <p:cNvSpPr/>
            <p:nvPr/>
          </p:nvSpPr>
          <p:spPr>
            <a:xfrm>
              <a:off x="5219700" y="3638550"/>
              <a:ext cx="1752600" cy="9525"/>
            </a:xfrm>
            <a:custGeom>
              <a:avLst/>
              <a:gdLst/>
              <a:ahLst/>
              <a:cxnLst/>
              <a:rect l="l" t="t" r="r" b="b"/>
              <a:pathLst>
                <a:path w="1752600" h="9525">
                  <a:moveTo>
                    <a:pt x="0" y="0"/>
                  </a:moveTo>
                  <a:lnTo>
                    <a:pt x="1752600" y="0"/>
                  </a:lnTo>
                </a:path>
              </a:pathLst>
            </a:custGeom>
            <a:noFill/>
            <a:ln w="9525">
              <a:solidFill>
                <a:schemeClr val="accent5"/>
              </a:solidFill>
            </a:ln>
          </p:spPr>
        </p:sp>
        <p:sp>
          <p:nvSpPr>
            <p:cNvPr id="34" name="TextBox 34"/>
            <p:cNvSpPr txBox="1"/>
            <p:nvPr/>
          </p:nvSpPr>
          <p:spPr>
            <a:xfrm>
              <a:off x="5213604" y="3813810"/>
              <a:ext cx="1199540"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输出｜稳定代表</a:t>
              </a:r>
            </a:p>
          </p:txBody>
        </p:sp>
      </p:grpSp>
      <p:grpSp>
        <p:nvGrpSpPr>
          <p:cNvPr id="44" name="Group 44"/>
          <p:cNvGrpSpPr/>
          <p:nvPr/>
        </p:nvGrpSpPr>
        <p:grpSpPr>
          <a:xfrm>
            <a:off x="7315200" y="1885950"/>
            <a:ext cx="2133600" cy="2362200"/>
            <a:chOff x="7315200" y="1885950"/>
            <a:chExt cx="2133600" cy="2362200"/>
          </a:xfrm>
        </p:grpSpPr>
        <p:sp>
          <p:nvSpPr>
            <p:cNvPr id="36" name="Rectangle 36"/>
            <p:cNvSpPr/>
            <p:nvPr/>
          </p:nvSpPr>
          <p:spPr>
            <a:xfrm>
              <a:off x="7315200" y="1885950"/>
              <a:ext cx="2133600" cy="2362200"/>
            </a:xfrm>
            <a:prstGeom prst="rect">
              <a:avLst/>
            </a:prstGeom>
            <a:solidFill>
              <a:schemeClr val="lt1"/>
            </a:solidFill>
            <a:ln w="9525">
              <a:solidFill>
                <a:schemeClr val="accent5"/>
              </a:solidFill>
            </a:ln>
          </p:spPr>
        </p:sp>
        <p:sp>
          <p:nvSpPr>
            <p:cNvPr id="37" name="Rectangle 37"/>
            <p:cNvSpPr/>
            <p:nvPr/>
          </p:nvSpPr>
          <p:spPr>
            <a:xfrm>
              <a:off x="7315200" y="1885950"/>
              <a:ext cx="2133600" cy="514350"/>
            </a:xfrm>
            <a:prstGeom prst="rect">
              <a:avLst/>
            </a:prstGeom>
            <a:solidFill>
              <a:schemeClr val="accent3"/>
            </a:solidFill>
            <a:ln>
              <a:noFill/>
            </a:ln>
          </p:spPr>
        </p:sp>
        <p:sp>
          <p:nvSpPr>
            <p:cNvPr id="38" name="TextBox 38"/>
            <p:cNvSpPr txBox="1"/>
            <p:nvPr/>
          </p:nvSpPr>
          <p:spPr>
            <a:xfrm>
              <a:off x="7496556" y="2015490"/>
              <a:ext cx="102756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Stage 3</a:t>
              </a:r>
            </a:p>
          </p:txBody>
        </p:sp>
        <p:sp>
          <p:nvSpPr>
            <p:cNvPr id="39" name="TextBox 39"/>
            <p:cNvSpPr txBox="1"/>
            <p:nvPr/>
          </p:nvSpPr>
          <p:spPr>
            <a:xfrm>
              <a:off x="7496556" y="2548890"/>
              <a:ext cx="1824754"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只拼“小而互补”</a:t>
              </a:r>
            </a:p>
          </p:txBody>
        </p:sp>
        <p:sp>
          <p:nvSpPr>
            <p:cNvPr id="40" name="TextBox 40"/>
            <p:cNvSpPr txBox="1"/>
            <p:nvPr/>
          </p:nvSpPr>
          <p:spPr>
            <a:xfrm>
              <a:off x="7498842" y="29594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限制为二或三项</a:t>
              </a:r>
            </a:p>
          </p:txBody>
        </p:sp>
        <p:sp>
          <p:nvSpPr>
            <p:cNvPr id="41" name="TextBox 41"/>
            <p:cNvSpPr txBox="1"/>
            <p:nvPr/>
          </p:nvSpPr>
          <p:spPr>
            <a:xfrm>
              <a:off x="7498842" y="32451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排除重复与禁配</a:t>
              </a:r>
            </a:p>
          </p:txBody>
        </p:sp>
        <p:sp>
          <p:nvSpPr>
            <p:cNvPr id="42" name="Line 42"/>
            <p:cNvSpPr/>
            <p:nvPr/>
          </p:nvSpPr>
          <p:spPr>
            <a:xfrm>
              <a:off x="7505700" y="3638550"/>
              <a:ext cx="1752600" cy="9525"/>
            </a:xfrm>
            <a:custGeom>
              <a:avLst/>
              <a:gdLst/>
              <a:ahLst/>
              <a:cxnLst/>
              <a:rect l="l" t="t" r="r" b="b"/>
              <a:pathLst>
                <a:path w="1752600" h="9525">
                  <a:moveTo>
                    <a:pt x="0" y="0"/>
                  </a:moveTo>
                  <a:lnTo>
                    <a:pt x="1752600" y="0"/>
                  </a:lnTo>
                </a:path>
              </a:pathLst>
            </a:custGeom>
            <a:noFill/>
            <a:ln w="9525">
              <a:solidFill>
                <a:schemeClr val="accent5"/>
              </a:solidFill>
            </a:ln>
          </p:spPr>
        </p:sp>
        <p:sp>
          <p:nvSpPr>
            <p:cNvPr id="43" name="TextBox 43"/>
            <p:cNvSpPr txBox="1"/>
            <p:nvPr/>
          </p:nvSpPr>
          <p:spPr>
            <a:xfrm>
              <a:off x="7499604" y="3813810"/>
              <a:ext cx="1369162"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输出｜短组合清单</a:t>
              </a:r>
            </a:p>
          </p:txBody>
        </p:sp>
      </p:grpSp>
      <p:grpSp>
        <p:nvGrpSpPr>
          <p:cNvPr id="53" name="Group 53"/>
          <p:cNvGrpSpPr/>
          <p:nvPr/>
        </p:nvGrpSpPr>
        <p:grpSpPr>
          <a:xfrm>
            <a:off x="9601200" y="1885950"/>
            <a:ext cx="2133600" cy="2362200"/>
            <a:chOff x="9601200" y="1885950"/>
            <a:chExt cx="2133600" cy="2362200"/>
          </a:xfrm>
        </p:grpSpPr>
        <p:sp>
          <p:nvSpPr>
            <p:cNvPr id="45" name="Rectangle 45"/>
            <p:cNvSpPr/>
            <p:nvPr/>
          </p:nvSpPr>
          <p:spPr>
            <a:xfrm>
              <a:off x="9601200" y="1885950"/>
              <a:ext cx="2133600" cy="2362200"/>
            </a:xfrm>
            <a:prstGeom prst="rect">
              <a:avLst/>
            </a:prstGeom>
            <a:solidFill>
              <a:schemeClr val="lt2"/>
            </a:solidFill>
            <a:ln w="9525">
              <a:solidFill>
                <a:schemeClr val="accent5"/>
              </a:solidFill>
            </a:ln>
          </p:spPr>
        </p:sp>
        <p:sp>
          <p:nvSpPr>
            <p:cNvPr id="46" name="Rectangle 46"/>
            <p:cNvSpPr/>
            <p:nvPr/>
          </p:nvSpPr>
          <p:spPr>
            <a:xfrm>
              <a:off x="9601200" y="1885950"/>
              <a:ext cx="2133600" cy="514350"/>
            </a:xfrm>
            <a:prstGeom prst="rect">
              <a:avLst/>
            </a:prstGeom>
            <a:solidFill>
              <a:schemeClr val="accent2"/>
            </a:solidFill>
            <a:ln>
              <a:noFill/>
            </a:ln>
          </p:spPr>
        </p:sp>
        <p:sp>
          <p:nvSpPr>
            <p:cNvPr id="47" name="TextBox 47"/>
            <p:cNvSpPr txBox="1"/>
            <p:nvPr/>
          </p:nvSpPr>
          <p:spPr>
            <a:xfrm>
              <a:off x="9782556" y="2015490"/>
              <a:ext cx="102756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Stage 4</a:t>
              </a:r>
            </a:p>
          </p:txBody>
        </p:sp>
        <p:sp>
          <p:nvSpPr>
            <p:cNvPr id="48" name="TextBox 48"/>
            <p:cNvSpPr txBox="1"/>
            <p:nvPr/>
          </p:nvSpPr>
          <p:spPr>
            <a:xfrm>
              <a:off x="9782556" y="25488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给优胜者做复查</a:t>
              </a:r>
            </a:p>
          </p:txBody>
        </p:sp>
        <p:sp>
          <p:nvSpPr>
            <p:cNvPr id="49" name="TextBox 49"/>
            <p:cNvSpPr txBox="1"/>
            <p:nvPr/>
          </p:nvSpPr>
          <p:spPr>
            <a:xfrm>
              <a:off x="9784842" y="295941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仅检查排名靠前组合</a:t>
              </a:r>
            </a:p>
          </p:txBody>
        </p:sp>
        <p:sp>
          <p:nvSpPr>
            <p:cNvPr id="50" name="TextBox 50"/>
            <p:cNvSpPr txBox="1"/>
            <p:nvPr/>
          </p:nvSpPr>
          <p:spPr>
            <a:xfrm>
              <a:off x="9784842" y="3245168"/>
              <a:ext cx="155950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V1–V4 探索性验证</a:t>
              </a:r>
            </a:p>
          </p:txBody>
        </p:sp>
        <p:sp>
          <p:nvSpPr>
            <p:cNvPr id="51" name="Line 51"/>
            <p:cNvSpPr/>
            <p:nvPr/>
          </p:nvSpPr>
          <p:spPr>
            <a:xfrm>
              <a:off x="9791700" y="3638550"/>
              <a:ext cx="1752600" cy="9525"/>
            </a:xfrm>
            <a:custGeom>
              <a:avLst/>
              <a:gdLst/>
              <a:ahLst/>
              <a:cxnLst/>
              <a:rect l="l" t="t" r="r" b="b"/>
              <a:pathLst>
                <a:path w="1752600" h="9525">
                  <a:moveTo>
                    <a:pt x="0" y="0"/>
                  </a:moveTo>
                  <a:lnTo>
                    <a:pt x="1752600" y="0"/>
                  </a:lnTo>
                </a:path>
              </a:pathLst>
            </a:custGeom>
            <a:noFill/>
            <a:ln w="9525">
              <a:solidFill>
                <a:schemeClr val="accent5"/>
              </a:solidFill>
            </a:ln>
          </p:spPr>
        </p:sp>
        <p:sp>
          <p:nvSpPr>
            <p:cNvPr id="52" name="TextBox 52"/>
            <p:cNvSpPr txBox="1"/>
            <p:nvPr/>
          </p:nvSpPr>
          <p:spPr>
            <a:xfrm>
              <a:off x="9785604" y="3813810"/>
              <a:ext cx="1369162"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输出｜待验证证据</a:t>
              </a:r>
            </a:p>
          </p:txBody>
        </p:sp>
      </p:grpSp>
      <p:grpSp>
        <p:nvGrpSpPr>
          <p:cNvPr id="58" name="Group 58"/>
          <p:cNvGrpSpPr/>
          <p:nvPr/>
        </p:nvGrpSpPr>
        <p:grpSpPr>
          <a:xfrm>
            <a:off x="2590800" y="3048000"/>
            <a:ext cx="7010400" cy="9525"/>
            <a:chOff x="2590800" y="3048000"/>
            <a:chExt cx="7010400" cy="9525"/>
          </a:xfrm>
        </p:grpSpPr>
        <p:sp>
          <p:nvSpPr>
            <p:cNvPr id="54" name="Line 54"/>
            <p:cNvSpPr/>
            <p:nvPr/>
          </p:nvSpPr>
          <p:spPr>
            <a:xfrm>
              <a:off x="2590800" y="3048000"/>
              <a:ext cx="152400" cy="9525"/>
            </a:xfrm>
            <a:custGeom>
              <a:avLst/>
              <a:gdLst/>
              <a:ahLst/>
              <a:cxnLst/>
              <a:rect l="l" t="t" r="r" b="b"/>
              <a:pathLst>
                <a:path w="152400" h="9525">
                  <a:moveTo>
                    <a:pt x="0" y="0"/>
                  </a:moveTo>
                  <a:lnTo>
                    <a:pt x="152400" y="0"/>
                  </a:lnTo>
                </a:path>
              </a:pathLst>
            </a:custGeom>
            <a:noFill/>
            <a:ln w="28575">
              <a:solidFill>
                <a:schemeClr val="accent3"/>
              </a:solidFill>
            </a:ln>
          </p:spPr>
        </p:sp>
        <p:sp>
          <p:nvSpPr>
            <p:cNvPr id="55" name="Line 55"/>
            <p:cNvSpPr/>
            <p:nvPr/>
          </p:nvSpPr>
          <p:spPr>
            <a:xfrm>
              <a:off x="4876800" y="3048000"/>
              <a:ext cx="152400" cy="9525"/>
            </a:xfrm>
            <a:custGeom>
              <a:avLst/>
              <a:gdLst/>
              <a:ahLst/>
              <a:cxnLst/>
              <a:rect l="l" t="t" r="r" b="b"/>
              <a:pathLst>
                <a:path w="152400" h="9525">
                  <a:moveTo>
                    <a:pt x="0" y="0"/>
                  </a:moveTo>
                  <a:lnTo>
                    <a:pt x="152400" y="0"/>
                  </a:lnTo>
                </a:path>
              </a:pathLst>
            </a:custGeom>
            <a:noFill/>
            <a:ln w="28575">
              <a:solidFill>
                <a:schemeClr val="accent3"/>
              </a:solidFill>
            </a:ln>
          </p:spPr>
        </p:sp>
        <p:sp>
          <p:nvSpPr>
            <p:cNvPr id="56" name="Line 56"/>
            <p:cNvSpPr/>
            <p:nvPr/>
          </p:nvSpPr>
          <p:spPr>
            <a:xfrm>
              <a:off x="7162800" y="3048000"/>
              <a:ext cx="152400" cy="9525"/>
            </a:xfrm>
            <a:custGeom>
              <a:avLst/>
              <a:gdLst/>
              <a:ahLst/>
              <a:cxnLst/>
              <a:rect l="l" t="t" r="r" b="b"/>
              <a:pathLst>
                <a:path w="152400" h="9525">
                  <a:moveTo>
                    <a:pt x="0" y="0"/>
                  </a:moveTo>
                  <a:lnTo>
                    <a:pt x="152400" y="0"/>
                  </a:lnTo>
                </a:path>
              </a:pathLst>
            </a:custGeom>
            <a:noFill/>
            <a:ln w="28575">
              <a:solidFill>
                <a:schemeClr val="accent3"/>
              </a:solidFill>
            </a:ln>
          </p:spPr>
        </p:sp>
        <p:sp>
          <p:nvSpPr>
            <p:cNvPr id="57" name="Line 57"/>
            <p:cNvSpPr/>
            <p:nvPr/>
          </p:nvSpPr>
          <p:spPr>
            <a:xfrm>
              <a:off x="9448800" y="3048000"/>
              <a:ext cx="152400" cy="9525"/>
            </a:xfrm>
            <a:custGeom>
              <a:avLst/>
              <a:gdLst/>
              <a:ahLst/>
              <a:cxnLst/>
              <a:rect l="l" t="t" r="r" b="b"/>
              <a:pathLst>
                <a:path w="152400" h="9525">
                  <a:moveTo>
                    <a:pt x="0" y="0"/>
                  </a:moveTo>
                  <a:lnTo>
                    <a:pt x="152400" y="0"/>
                  </a:lnTo>
                </a:path>
              </a:pathLst>
            </a:custGeom>
            <a:noFill/>
            <a:ln w="28575">
              <a:solidFill>
                <a:schemeClr val="accent2"/>
              </a:solidFill>
            </a:ln>
          </p:spPr>
        </p:sp>
      </p:grpSp>
      <p:grpSp>
        <p:nvGrpSpPr>
          <p:cNvPr id="73" name="Group 73"/>
          <p:cNvGrpSpPr/>
          <p:nvPr/>
        </p:nvGrpSpPr>
        <p:grpSpPr>
          <a:xfrm>
            <a:off x="457200" y="4591050"/>
            <a:ext cx="11277600" cy="1295400"/>
            <a:chOff x="457200" y="4591050"/>
            <a:chExt cx="11277600" cy="1295400"/>
          </a:xfrm>
        </p:grpSpPr>
        <p:sp>
          <p:nvSpPr>
            <p:cNvPr id="59" name="Rectangle 59"/>
            <p:cNvSpPr/>
            <p:nvPr/>
          </p:nvSpPr>
          <p:spPr>
            <a:xfrm>
              <a:off x="457200" y="4591050"/>
              <a:ext cx="11277600" cy="1295400"/>
            </a:xfrm>
            <a:prstGeom prst="rect">
              <a:avLst/>
            </a:prstGeom>
            <a:solidFill>
              <a:schemeClr val="lt1"/>
            </a:solidFill>
            <a:ln w="19050">
              <a:solidFill>
                <a:schemeClr val="accent2"/>
              </a:solidFill>
            </a:ln>
          </p:spPr>
        </p:sp>
        <p:sp>
          <p:nvSpPr>
            <p:cNvPr id="60" name="Rectangle 60"/>
            <p:cNvSpPr/>
            <p:nvPr/>
          </p:nvSpPr>
          <p:spPr>
            <a:xfrm>
              <a:off x="457200" y="4591050"/>
              <a:ext cx="1866900" cy="1295400"/>
            </a:xfrm>
            <a:prstGeom prst="rect">
              <a:avLst/>
            </a:prstGeom>
            <a:solidFill>
              <a:srgbClr val="FBE5DF"/>
            </a:solidFill>
            <a:ln>
              <a:noFill/>
            </a:ln>
          </p:spPr>
        </p:sp>
        <p:sp>
          <p:nvSpPr>
            <p:cNvPr id="61" name="TextBox 61"/>
            <p:cNvSpPr txBox="1"/>
            <p:nvPr/>
          </p:nvSpPr>
          <p:spPr>
            <a:xfrm>
              <a:off x="678942" y="4807268"/>
              <a:ext cx="115865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独立审计工具</a:t>
              </a:r>
            </a:p>
          </p:txBody>
        </p:sp>
        <p:sp>
          <p:nvSpPr>
            <p:cNvPr id="62" name="TextBox 62"/>
            <p:cNvSpPr txBox="1"/>
            <p:nvPr/>
          </p:nvSpPr>
          <p:spPr>
            <a:xfrm>
              <a:off x="678942" y="51120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需要单独运行</a:t>
              </a:r>
            </a:p>
          </p:txBody>
        </p:sp>
        <p:sp>
          <p:nvSpPr>
            <p:cNvPr id="63" name="TextBox 63"/>
            <p:cNvSpPr txBox="1"/>
            <p:nvPr/>
          </p:nvSpPr>
          <p:spPr>
            <a:xfrm>
              <a:off x="679704" y="5433060"/>
              <a:ext cx="153878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主程序不会自动调用</a:t>
              </a:r>
            </a:p>
          </p:txBody>
        </p:sp>
        <p:sp>
          <p:nvSpPr>
            <p:cNvPr id="64" name="TextBox 64"/>
            <p:cNvSpPr txBox="1"/>
            <p:nvPr/>
          </p:nvSpPr>
          <p:spPr>
            <a:xfrm>
              <a:off x="2602992" y="4807268"/>
              <a:ext cx="11586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数据能否入场</a:t>
              </a:r>
            </a:p>
          </p:txBody>
        </p:sp>
        <p:sp>
          <p:nvSpPr>
            <p:cNvPr id="65" name="TextBox 65"/>
            <p:cNvSpPr txBox="1"/>
            <p:nvPr/>
          </p:nvSpPr>
          <p:spPr>
            <a:xfrm>
              <a:off x="2603754" y="5128260"/>
              <a:ext cx="1296467"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validate_raw.py</a:t>
              </a:r>
            </a:p>
          </p:txBody>
        </p:sp>
        <p:sp>
          <p:nvSpPr>
            <p:cNvPr id="66" name="TextBox 66"/>
            <p:cNvSpPr txBox="1"/>
            <p:nvPr/>
          </p:nvSpPr>
          <p:spPr>
            <a:xfrm>
              <a:off x="2603754" y="5394960"/>
              <a:ext cx="1853794"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registry integrity gate</a:t>
              </a:r>
            </a:p>
          </p:txBody>
        </p:sp>
        <p:sp>
          <p:nvSpPr>
            <p:cNvPr id="67" name="TextBox 67"/>
            <p:cNvSpPr txBox="1"/>
            <p:nvPr/>
          </p:nvSpPr>
          <p:spPr>
            <a:xfrm>
              <a:off x="5003292" y="4807268"/>
              <a:ext cx="11586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室温值如何选</a:t>
              </a:r>
            </a:p>
          </p:txBody>
        </p:sp>
        <p:sp>
          <p:nvSpPr>
            <p:cNvPr id="68" name="TextBox 68"/>
            <p:cNvSpPr txBox="1"/>
            <p:nvPr/>
          </p:nvSpPr>
          <p:spPr>
            <a:xfrm>
              <a:off x="5004054" y="5128260"/>
              <a:ext cx="1037996"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select_rt.py</a:t>
              </a:r>
            </a:p>
          </p:txBody>
        </p:sp>
        <p:sp>
          <p:nvSpPr>
            <p:cNvPr id="69" name="TextBox 69"/>
            <p:cNvSpPr txBox="1"/>
            <p:nvPr/>
          </p:nvSpPr>
          <p:spPr>
            <a:xfrm>
              <a:off x="7194042" y="4807268"/>
              <a:ext cx="192195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写法变化会不会改结果</a:t>
              </a:r>
            </a:p>
          </p:txBody>
        </p:sp>
        <p:sp>
          <p:nvSpPr>
            <p:cNvPr id="70" name="TextBox 70"/>
            <p:cNvSpPr txBox="1"/>
            <p:nvPr/>
          </p:nvSpPr>
          <p:spPr>
            <a:xfrm>
              <a:off x="7194804" y="5128260"/>
              <a:ext cx="2556510"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descriptor_invariance_probe.py</a:t>
              </a:r>
            </a:p>
          </p:txBody>
        </p:sp>
        <p:sp>
          <p:nvSpPr>
            <p:cNvPr id="71" name="TextBox 71"/>
            <p:cNvSpPr txBox="1"/>
            <p:nvPr/>
          </p:nvSpPr>
          <p:spPr>
            <a:xfrm>
              <a:off x="9556242" y="4807268"/>
              <a:ext cx="154030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数值版本能否追溯</a:t>
              </a:r>
            </a:p>
          </p:txBody>
        </p:sp>
        <p:sp>
          <p:nvSpPr>
            <p:cNvPr id="72" name="TextBox 72"/>
            <p:cNvSpPr txBox="1"/>
            <p:nvPr/>
          </p:nvSpPr>
          <p:spPr>
            <a:xfrm>
              <a:off x="9557004" y="5128260"/>
              <a:ext cx="2112264"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descriptor_fingerprint.py</a:t>
              </a:r>
            </a:p>
          </p:txBody>
        </p:sp>
      </p:grpSp>
      <p:grpSp>
        <p:nvGrpSpPr>
          <p:cNvPr id="76" name="Group 76"/>
          <p:cNvGrpSpPr/>
          <p:nvPr/>
        </p:nvGrpSpPr>
        <p:grpSpPr>
          <a:xfrm>
            <a:off x="451104" y="6356985"/>
            <a:ext cx="11289030" cy="234696"/>
            <a:chOff x="451104" y="6356985"/>
            <a:chExt cx="11289030" cy="234696"/>
          </a:xfrm>
        </p:grpSpPr>
        <p:sp>
          <p:nvSpPr>
            <p:cNvPr id="74" name="TextBox 74"/>
            <p:cNvSpPr txBox="1"/>
            <p:nvPr/>
          </p:nvSpPr>
          <p:spPr>
            <a:xfrm>
              <a:off x="451104" y="6356985"/>
              <a:ext cx="4595165"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Q&amp;A附录｜流程已自动化，但审计工具仍需显式纳入正式运行</a:t>
              </a:r>
            </a:p>
          </p:txBody>
        </p:sp>
        <p:sp>
          <p:nvSpPr>
            <p:cNvPr id="75" name="TextBox 75"/>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16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28395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Q5｜证据边界</a:t>
              </a:r>
            </a:p>
          </p:txBody>
        </p:sp>
        <p:sp>
          <p:nvSpPr>
            <p:cNvPr id="3" name="TextBox 3"/>
            <p:cNvSpPr txBox="1"/>
            <p:nvPr/>
          </p:nvSpPr>
          <p:spPr>
            <a:xfrm>
              <a:off x="441198" y="650558"/>
              <a:ext cx="802980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当前统计证据为什么仍然是探索性的？</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8" name="Group 8"/>
          <p:cNvGrpSpPr/>
          <p:nvPr/>
        </p:nvGrpSpPr>
        <p:grpSpPr>
          <a:xfrm>
            <a:off x="450342" y="1606868"/>
            <a:ext cx="5150358" cy="264033"/>
            <a:chOff x="450342" y="1606868"/>
            <a:chExt cx="5150358" cy="264033"/>
          </a:xfrm>
        </p:grpSpPr>
        <p:sp>
          <p:nvSpPr>
            <p:cNvPr id="6" name="TextBox 6"/>
            <p:cNvSpPr txBox="1"/>
            <p:nvPr/>
          </p:nvSpPr>
          <p:spPr>
            <a:xfrm>
              <a:off x="450342" y="1606868"/>
              <a:ext cx="3849275"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越向上，越接近“可以外推到未见体系”的结论</a:t>
              </a:r>
            </a:p>
          </p:txBody>
        </p:sp>
        <p:sp>
          <p:nvSpPr>
            <p:cNvPr id="7" name="Line 7"/>
            <p:cNvSpPr/>
            <p:nvPr/>
          </p:nvSpPr>
          <p:spPr>
            <a:xfrm>
              <a:off x="5334000" y="1752600"/>
              <a:ext cx="266700" cy="9525"/>
            </a:xfrm>
            <a:custGeom>
              <a:avLst/>
              <a:gdLst/>
              <a:ahLst/>
              <a:cxnLst/>
              <a:rect l="l" t="t" r="r" b="b"/>
              <a:pathLst>
                <a:path w="266700" h="9525">
                  <a:moveTo>
                    <a:pt x="0" y="0"/>
                  </a:moveTo>
                  <a:lnTo>
                    <a:pt x="266700" y="0"/>
                  </a:lnTo>
                </a:path>
              </a:pathLst>
            </a:custGeom>
            <a:noFill/>
            <a:ln w="28575">
              <a:solidFill>
                <a:schemeClr val="accent2"/>
              </a:solidFill>
            </a:ln>
          </p:spPr>
        </p:sp>
      </p:grpSp>
      <p:grpSp>
        <p:nvGrpSpPr>
          <p:cNvPr id="18" name="Group 18"/>
          <p:cNvGrpSpPr/>
          <p:nvPr/>
        </p:nvGrpSpPr>
        <p:grpSpPr>
          <a:xfrm>
            <a:off x="457200" y="2038350"/>
            <a:ext cx="5391150" cy="3752850"/>
            <a:chOff x="457200" y="2038350"/>
            <a:chExt cx="5391150" cy="3752850"/>
          </a:xfrm>
        </p:grpSpPr>
        <p:sp>
          <p:nvSpPr>
            <p:cNvPr id="9" name="Freeform 9"/>
            <p:cNvSpPr/>
            <p:nvPr/>
          </p:nvSpPr>
          <p:spPr>
            <a:xfrm>
              <a:off x="457200" y="4933950"/>
              <a:ext cx="5391150" cy="857250"/>
            </a:xfrm>
            <a:custGeom>
              <a:avLst/>
              <a:gdLst/>
              <a:ahLst/>
              <a:cxnLst/>
              <a:rect l="l" t="t" r="r" b="b"/>
              <a:pathLst>
                <a:path w="5391150" h="857250">
                  <a:moveTo>
                    <a:pt x="0" y="857250"/>
                  </a:moveTo>
                  <a:lnTo>
                    <a:pt x="762000" y="0"/>
                  </a:lnTo>
                  <a:lnTo>
                    <a:pt x="4629150" y="0"/>
                  </a:lnTo>
                  <a:lnTo>
                    <a:pt x="5391150" y="857250"/>
                  </a:lnTo>
                  <a:close/>
                </a:path>
              </a:pathLst>
            </a:custGeom>
            <a:solidFill>
              <a:schemeClr val="accent1"/>
            </a:solidFill>
            <a:ln>
              <a:noFill/>
            </a:ln>
          </p:spPr>
        </p:sp>
        <p:sp>
          <p:nvSpPr>
            <p:cNvPr id="10" name="Freeform 10"/>
            <p:cNvSpPr/>
            <p:nvPr/>
          </p:nvSpPr>
          <p:spPr>
            <a:xfrm>
              <a:off x="1295400" y="3905250"/>
              <a:ext cx="3714750" cy="857250"/>
            </a:xfrm>
            <a:custGeom>
              <a:avLst/>
              <a:gdLst/>
              <a:ahLst/>
              <a:cxnLst/>
              <a:rect l="l" t="t" r="r" b="b"/>
              <a:pathLst>
                <a:path w="3714750" h="857250">
                  <a:moveTo>
                    <a:pt x="0" y="857250"/>
                  </a:moveTo>
                  <a:lnTo>
                    <a:pt x="647700" y="0"/>
                  </a:lnTo>
                  <a:lnTo>
                    <a:pt x="3067050" y="0"/>
                  </a:lnTo>
                  <a:lnTo>
                    <a:pt x="3714750" y="857250"/>
                  </a:lnTo>
                  <a:close/>
                </a:path>
              </a:pathLst>
            </a:custGeom>
            <a:solidFill>
              <a:schemeClr val="accent3"/>
            </a:solidFill>
            <a:ln>
              <a:noFill/>
            </a:ln>
          </p:spPr>
        </p:sp>
        <p:sp>
          <p:nvSpPr>
            <p:cNvPr id="11" name="Freeform 11"/>
            <p:cNvSpPr/>
            <p:nvPr/>
          </p:nvSpPr>
          <p:spPr>
            <a:xfrm>
              <a:off x="2019300" y="2876550"/>
              <a:ext cx="2266950" cy="857250"/>
            </a:xfrm>
            <a:custGeom>
              <a:avLst/>
              <a:gdLst/>
              <a:ahLst/>
              <a:cxnLst/>
              <a:rect l="l" t="t" r="r" b="b"/>
              <a:pathLst>
                <a:path w="2266950" h="857250">
                  <a:moveTo>
                    <a:pt x="0" y="857250"/>
                  </a:moveTo>
                  <a:lnTo>
                    <a:pt x="552450" y="0"/>
                  </a:lnTo>
                  <a:lnTo>
                    <a:pt x="1714500" y="0"/>
                  </a:lnTo>
                  <a:lnTo>
                    <a:pt x="2266950" y="857250"/>
                  </a:lnTo>
                  <a:close/>
                </a:path>
              </a:pathLst>
            </a:custGeom>
            <a:solidFill>
              <a:schemeClr val="lt1"/>
            </a:solidFill>
            <a:ln w="28575">
              <a:solidFill>
                <a:schemeClr val="accent2"/>
              </a:solidFill>
            </a:ln>
          </p:spPr>
        </p:sp>
        <p:sp>
          <p:nvSpPr>
            <p:cNvPr id="12" name="Freeform 12"/>
            <p:cNvSpPr/>
            <p:nvPr/>
          </p:nvSpPr>
          <p:spPr>
            <a:xfrm>
              <a:off x="2647950" y="2038350"/>
              <a:ext cx="1009650" cy="666750"/>
            </a:xfrm>
            <a:custGeom>
              <a:avLst/>
              <a:gdLst/>
              <a:ahLst/>
              <a:cxnLst/>
              <a:rect l="l" t="t" r="r" b="b"/>
              <a:pathLst>
                <a:path w="1009650" h="666750">
                  <a:moveTo>
                    <a:pt x="0" y="666750"/>
                  </a:moveTo>
                  <a:lnTo>
                    <a:pt x="504825" y="0"/>
                  </a:lnTo>
                  <a:lnTo>
                    <a:pt x="1009650" y="666750"/>
                  </a:lnTo>
                  <a:close/>
                </a:path>
              </a:pathLst>
            </a:custGeom>
            <a:solidFill>
              <a:schemeClr val="lt1"/>
            </a:solidFill>
            <a:ln w="28575">
              <a:solidFill>
                <a:schemeClr val="accent2"/>
              </a:solidFill>
            </a:ln>
          </p:spPr>
        </p:sp>
        <p:sp>
          <p:nvSpPr>
            <p:cNvPr id="13" name="TextBox 13"/>
            <p:cNvSpPr txBox="1"/>
            <p:nvPr/>
          </p:nvSpPr>
          <p:spPr>
            <a:xfrm>
              <a:off x="2573445" y="2330768"/>
              <a:ext cx="1158659" cy="264033"/>
            </a:xfrm>
            <a:prstGeom prst="rect">
              <a:avLst/>
            </a:prstGeom>
            <a:noFill/>
            <a:ln>
              <a:noFill/>
            </a:ln>
          </p:spPr>
          <p:txBody>
            <a:bodyPr wrap="none" lIns="0" tIns="0" rIns="0" bIns="0" anchor="t" anchorCtr="0">
              <a:spAutoFit/>
            </a:bodyPr>
            <a:lstStyle/>
            <a:p>
              <a:pPr algn="ctr"/>
              <a:r>
                <a:rPr lang="zh-CN" sz="1350" b="1" dirty="0">
                  <a:solidFill>
                    <a:schemeClr val="accent2"/>
                  </a:solidFill>
                  <a:latin typeface="+mn-lt"/>
                  <a:ea typeface="+mn-ea"/>
                  <a:cs typeface="+mn-cs"/>
                </a:rPr>
                <a:t>未见体系外推</a:t>
              </a:r>
            </a:p>
          </p:txBody>
        </p:sp>
        <p:sp>
          <p:nvSpPr>
            <p:cNvPr id="14" name="TextBox 14"/>
            <p:cNvSpPr txBox="1"/>
            <p:nvPr/>
          </p:nvSpPr>
          <p:spPr>
            <a:xfrm>
              <a:off x="2382622" y="3092768"/>
              <a:ext cx="1540307" cy="264033"/>
            </a:xfrm>
            <a:prstGeom prst="rect">
              <a:avLst/>
            </a:prstGeom>
            <a:noFill/>
            <a:ln>
              <a:noFill/>
            </a:ln>
          </p:spPr>
          <p:txBody>
            <a:bodyPr wrap="none" lIns="0" tIns="0" rIns="0" bIns="0" anchor="t" anchorCtr="0">
              <a:spAutoFit/>
            </a:bodyPr>
            <a:lstStyle/>
            <a:p>
              <a:pPr algn="ctr"/>
              <a:r>
                <a:rPr lang="zh-CN" sz="1350" b="1" dirty="0">
                  <a:solidFill>
                    <a:schemeClr val="accent2"/>
                  </a:solidFill>
                  <a:latin typeface="+mn-lt"/>
                  <a:ea typeface="+mn-ea"/>
                  <a:cs typeface="+mn-cs"/>
                </a:rPr>
                <a:t>选择过程不确定性</a:t>
              </a:r>
            </a:p>
          </p:txBody>
        </p:sp>
        <p:sp>
          <p:nvSpPr>
            <p:cNvPr id="15" name="TextBox 15"/>
            <p:cNvSpPr txBox="1"/>
            <p:nvPr/>
          </p:nvSpPr>
          <p:spPr>
            <a:xfrm>
              <a:off x="2297049" y="4124325"/>
              <a:ext cx="1711452"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优胜组合置换复查</a:t>
              </a:r>
            </a:p>
          </p:txBody>
        </p:sp>
        <p:sp>
          <p:nvSpPr>
            <p:cNvPr id="16" name="TextBox 16"/>
            <p:cNvSpPr txBox="1"/>
            <p:nvPr/>
          </p:nvSpPr>
          <p:spPr>
            <a:xfrm>
              <a:off x="1872996" y="5153025"/>
              <a:ext cx="2559558"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线性扣除体系起点后再排序</a:t>
              </a:r>
            </a:p>
          </p:txBody>
        </p:sp>
        <p:sp>
          <p:nvSpPr>
            <p:cNvPr id="17" name="TextBox 17"/>
            <p:cNvSpPr txBox="1"/>
            <p:nvPr/>
          </p:nvSpPr>
          <p:spPr>
            <a:xfrm>
              <a:off x="1535278" y="5452110"/>
              <a:ext cx="3234995" cy="234696"/>
            </a:xfrm>
            <a:prstGeom prst="rect">
              <a:avLst/>
            </a:prstGeom>
            <a:noFill/>
            <a:ln>
              <a:noFill/>
            </a:ln>
          </p:spPr>
          <p:txBody>
            <a:bodyPr wrap="none" lIns="0" tIns="0" rIns="0" bIns="0" anchor="t" anchorCtr="0">
              <a:spAutoFit/>
            </a:bodyPr>
            <a:lstStyle/>
            <a:p>
              <a:pPr algn="ctr"/>
              <a:r>
                <a:rPr lang="zh-CN" sz="1200" dirty="0">
                  <a:solidFill>
                    <a:srgbClr val="D9E4E1"/>
                  </a:solidFill>
                  <a:latin typeface="+mn-lt"/>
                  <a:ea typeface="+mn-ea"/>
                  <a:cs typeface="+mn-cs"/>
                </a:rPr>
                <a:t>当前主量｜rank_corr_of_linear_residuals</a:t>
              </a:r>
            </a:p>
          </p:txBody>
        </p:sp>
      </p:grpSp>
      <p:grpSp>
        <p:nvGrpSpPr>
          <p:cNvPr id="22" name="Group 22"/>
          <p:cNvGrpSpPr/>
          <p:nvPr/>
        </p:nvGrpSpPr>
        <p:grpSpPr>
          <a:xfrm>
            <a:off x="6534150" y="1962150"/>
            <a:ext cx="5200650" cy="819150"/>
            <a:chOff x="6534150" y="1962150"/>
            <a:chExt cx="5200650" cy="819150"/>
          </a:xfrm>
        </p:grpSpPr>
        <p:sp>
          <p:nvSpPr>
            <p:cNvPr id="19" name="Rectangle 19"/>
            <p:cNvSpPr/>
            <p:nvPr/>
          </p:nvSpPr>
          <p:spPr>
            <a:xfrm>
              <a:off x="6534150" y="1962150"/>
              <a:ext cx="5200650" cy="819150"/>
            </a:xfrm>
            <a:prstGeom prst="rect">
              <a:avLst/>
            </a:prstGeom>
            <a:solidFill>
              <a:srgbClr val="FBE5DF"/>
            </a:solidFill>
            <a:ln w="9525">
              <a:solidFill>
                <a:schemeClr val="accent2"/>
              </a:solidFill>
            </a:ln>
          </p:spPr>
        </p:sp>
        <p:sp>
          <p:nvSpPr>
            <p:cNvPr id="20" name="TextBox 20"/>
            <p:cNvSpPr txBox="1"/>
            <p:nvPr/>
          </p:nvSpPr>
          <p:spPr>
            <a:xfrm>
              <a:off x="6755892" y="2121218"/>
              <a:ext cx="264492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缺口 2｜真正 LOSO 尚未实现</a:t>
              </a:r>
            </a:p>
          </p:txBody>
        </p:sp>
        <p:sp>
          <p:nvSpPr>
            <p:cNvPr id="21" name="TextBox 21"/>
            <p:cNvSpPr txBox="1"/>
            <p:nvPr/>
          </p:nvSpPr>
          <p:spPr>
            <a:xfrm>
              <a:off x="6755892" y="2426018"/>
              <a:ext cx="364845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目前不能宣称可预测一个完全未见的材料体系</a:t>
              </a:r>
            </a:p>
          </p:txBody>
        </p:sp>
      </p:grpSp>
      <p:grpSp>
        <p:nvGrpSpPr>
          <p:cNvPr id="26" name="Group 26"/>
          <p:cNvGrpSpPr/>
          <p:nvPr/>
        </p:nvGrpSpPr>
        <p:grpSpPr>
          <a:xfrm>
            <a:off x="6534150" y="2952750"/>
            <a:ext cx="5200650" cy="933450"/>
            <a:chOff x="6534150" y="2952750"/>
            <a:chExt cx="5200650" cy="933450"/>
          </a:xfrm>
        </p:grpSpPr>
        <p:sp>
          <p:nvSpPr>
            <p:cNvPr id="23" name="Rectangle 23"/>
            <p:cNvSpPr/>
            <p:nvPr/>
          </p:nvSpPr>
          <p:spPr>
            <a:xfrm>
              <a:off x="6534150" y="2952750"/>
              <a:ext cx="5200650" cy="933450"/>
            </a:xfrm>
            <a:prstGeom prst="rect">
              <a:avLst/>
            </a:prstGeom>
            <a:solidFill>
              <a:schemeClr val="lt1"/>
            </a:solidFill>
            <a:ln w="19050">
              <a:solidFill>
                <a:schemeClr val="accent2"/>
              </a:solidFill>
            </a:ln>
          </p:spPr>
        </p:sp>
        <p:sp>
          <p:nvSpPr>
            <p:cNvPr id="24" name="TextBox 24"/>
            <p:cNvSpPr txBox="1"/>
            <p:nvPr/>
          </p:nvSpPr>
          <p:spPr>
            <a:xfrm>
              <a:off x="6755892" y="3111818"/>
              <a:ext cx="380156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缺口 1｜筛选过再检验，乐观程度未完整计入</a:t>
              </a:r>
            </a:p>
          </p:txBody>
        </p:sp>
        <p:sp>
          <p:nvSpPr>
            <p:cNvPr id="25" name="TextBox 25"/>
            <p:cNvSpPr txBox="1"/>
            <p:nvPr/>
          </p:nvSpPr>
          <p:spPr>
            <a:xfrm>
              <a:off x="6755892" y="3416618"/>
              <a:ext cx="403919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主检验 p 值偏小；多重比较与选择不确定性未闭环</a:t>
              </a:r>
            </a:p>
          </p:txBody>
        </p:sp>
      </p:grpSp>
      <p:grpSp>
        <p:nvGrpSpPr>
          <p:cNvPr id="30" name="Group 30"/>
          <p:cNvGrpSpPr/>
          <p:nvPr/>
        </p:nvGrpSpPr>
        <p:grpSpPr>
          <a:xfrm>
            <a:off x="6534150" y="4057650"/>
            <a:ext cx="5200650" cy="781050"/>
            <a:chOff x="6534150" y="4057650"/>
            <a:chExt cx="5200650" cy="781050"/>
          </a:xfrm>
        </p:grpSpPr>
        <p:sp>
          <p:nvSpPr>
            <p:cNvPr id="27" name="Rectangle 27"/>
            <p:cNvSpPr/>
            <p:nvPr/>
          </p:nvSpPr>
          <p:spPr>
            <a:xfrm>
              <a:off x="6534150" y="4057650"/>
              <a:ext cx="5200650" cy="781050"/>
            </a:xfrm>
            <a:prstGeom prst="rect">
              <a:avLst/>
            </a:prstGeom>
            <a:solidFill>
              <a:schemeClr val="lt2"/>
            </a:solidFill>
            <a:ln w="9525">
              <a:solidFill>
                <a:schemeClr val="accent3"/>
              </a:solidFill>
            </a:ln>
          </p:spPr>
        </p:sp>
        <p:sp>
          <p:nvSpPr>
            <p:cNvPr id="28" name="TextBox 28"/>
            <p:cNvSpPr txBox="1"/>
            <p:nvPr/>
          </p:nvSpPr>
          <p:spPr>
            <a:xfrm>
              <a:off x="6755892" y="4216718"/>
              <a:ext cx="327514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已有｜Stage 4 只复查排名靠前的组合</a:t>
              </a:r>
            </a:p>
          </p:txBody>
        </p:sp>
        <p:sp>
          <p:nvSpPr>
            <p:cNvPr id="29" name="TextBox 29"/>
            <p:cNvSpPr txBox="1"/>
            <p:nvPr/>
          </p:nvSpPr>
          <p:spPr>
            <a:xfrm>
              <a:off x="6755892" y="4521518"/>
              <a:ext cx="367571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按体系置换；单个体系少于 5 个样本时不报告</a:t>
              </a:r>
            </a:p>
          </p:txBody>
        </p:sp>
      </p:grpSp>
      <p:grpSp>
        <p:nvGrpSpPr>
          <p:cNvPr id="34" name="Group 34"/>
          <p:cNvGrpSpPr/>
          <p:nvPr/>
        </p:nvGrpSpPr>
        <p:grpSpPr>
          <a:xfrm>
            <a:off x="6534150" y="5010150"/>
            <a:ext cx="5200650" cy="781050"/>
            <a:chOff x="6534150" y="5010150"/>
            <a:chExt cx="5200650" cy="781050"/>
          </a:xfrm>
        </p:grpSpPr>
        <p:sp>
          <p:nvSpPr>
            <p:cNvPr id="31" name="Rectangle 31"/>
            <p:cNvSpPr/>
            <p:nvPr/>
          </p:nvSpPr>
          <p:spPr>
            <a:xfrm>
              <a:off x="6534150" y="5010150"/>
              <a:ext cx="5200650" cy="781050"/>
            </a:xfrm>
            <a:prstGeom prst="rect">
              <a:avLst/>
            </a:prstGeom>
            <a:solidFill>
              <a:schemeClr val="accent1"/>
            </a:solidFill>
            <a:ln>
              <a:noFill/>
            </a:ln>
          </p:spPr>
        </p:sp>
        <p:sp>
          <p:nvSpPr>
            <p:cNvPr id="32" name="TextBox 32"/>
            <p:cNvSpPr txBox="1"/>
            <p:nvPr/>
          </p:nvSpPr>
          <p:spPr>
            <a:xfrm>
              <a:off x="6755892" y="5169218"/>
              <a:ext cx="401147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已有｜先扣除 system 与独立 anion_type 信息</a:t>
              </a:r>
            </a:p>
          </p:txBody>
        </p:sp>
        <p:sp>
          <p:nvSpPr>
            <p:cNvPr id="33" name="TextBox 33"/>
            <p:cNvSpPr txBox="1"/>
            <p:nvPr/>
          </p:nvSpPr>
          <p:spPr>
            <a:xfrm>
              <a:off x="6755892" y="5474018"/>
              <a:ext cx="4061342" cy="264033"/>
            </a:xfrm>
            <a:prstGeom prst="rect">
              <a:avLst/>
            </a:prstGeom>
            <a:noFill/>
            <a:ln>
              <a:noFill/>
            </a:ln>
          </p:spPr>
          <p:txBody>
            <a:bodyPr wrap="none" lIns="0" tIns="0" rIns="0" bIns="0" anchor="t" anchorCtr="0">
              <a:spAutoFit/>
            </a:bodyPr>
            <a:lstStyle/>
            <a:p>
              <a:pPr algn="l"/>
              <a:r>
                <a:rPr lang="zh-CN" sz="1350" dirty="0">
                  <a:solidFill>
                    <a:srgbClr val="D9E4E1"/>
                  </a:solidFill>
                  <a:latin typeface="+mn-lt"/>
                  <a:ea typeface="+mn-ea"/>
                  <a:cs typeface="+mn-cs"/>
                </a:rPr>
                <a:t>再对 X、Y 的两组线性残差做 Spearman 排序相关</a:t>
              </a:r>
            </a:p>
          </p:txBody>
        </p:sp>
      </p:grpSp>
      <p:grpSp>
        <p:nvGrpSpPr>
          <p:cNvPr id="36" name="Group 36"/>
          <p:cNvGrpSpPr/>
          <p:nvPr/>
        </p:nvGrpSpPr>
        <p:grpSpPr>
          <a:xfrm>
            <a:off x="6528054" y="5966460"/>
            <a:ext cx="4702890" cy="234696"/>
            <a:chOff x="6528054" y="5966460"/>
            <a:chExt cx="4702890" cy="234696"/>
          </a:xfrm>
        </p:grpSpPr>
        <p:sp>
          <p:nvSpPr>
            <p:cNvPr id="35" name="TextBox 35"/>
            <p:cNvSpPr txBox="1"/>
            <p:nvPr/>
          </p:nvSpPr>
          <p:spPr>
            <a:xfrm>
              <a:off x="6528054" y="5966460"/>
              <a:ext cx="4702890"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准确叫法：线性残差的排序相关，不是标准 partial Spearman</a:t>
              </a:r>
            </a:p>
          </p:txBody>
        </p:sp>
      </p:grpSp>
      <p:grpSp>
        <p:nvGrpSpPr>
          <p:cNvPr id="39" name="Group 39"/>
          <p:cNvGrpSpPr/>
          <p:nvPr/>
        </p:nvGrpSpPr>
        <p:grpSpPr>
          <a:xfrm>
            <a:off x="451104" y="6356985"/>
            <a:ext cx="11289030" cy="234696"/>
            <a:chOff x="451104" y="6356985"/>
            <a:chExt cx="11289030" cy="234696"/>
          </a:xfrm>
        </p:grpSpPr>
        <p:sp>
          <p:nvSpPr>
            <p:cNvPr id="37" name="TextBox 37"/>
            <p:cNvSpPr txBox="1"/>
            <p:nvPr/>
          </p:nvSpPr>
          <p:spPr>
            <a:xfrm>
              <a:off x="451104" y="6356985"/>
              <a:ext cx="4595165"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Q&amp;A附录｜已有检查能减少误判，但还不足以支撑跨体系外推</a:t>
              </a:r>
            </a:p>
          </p:txBody>
        </p:sp>
        <p:sp>
          <p:nvSpPr>
            <p:cNvPr id="38" name="TextBox 38"/>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17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330518"/>
            <a:ext cx="11293602" cy="936117"/>
            <a:chOff x="441198" y="330518"/>
            <a:chExt cx="11293602" cy="936117"/>
          </a:xfrm>
        </p:grpSpPr>
        <p:sp>
          <p:nvSpPr>
            <p:cNvPr id="2" name="TextBox 2"/>
            <p:cNvSpPr txBox="1"/>
            <p:nvPr/>
          </p:nvSpPr>
          <p:spPr>
            <a:xfrm>
              <a:off x="450342" y="330518"/>
              <a:ext cx="128395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Q6｜行动收束</a:t>
              </a:r>
            </a:p>
          </p:txBody>
        </p:sp>
        <p:sp>
          <p:nvSpPr>
            <p:cNvPr id="3" name="TextBox 3"/>
            <p:cNvSpPr txBox="1"/>
            <p:nvPr/>
          </p:nvSpPr>
          <p:spPr>
            <a:xfrm>
              <a:off x="441198" y="650558"/>
              <a:ext cx="755934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冗余与空位，下一步怎样验证才够？</a:t>
              </a:r>
            </a:p>
          </p:txBody>
        </p:sp>
        <p:sp>
          <p:nvSpPr>
            <p:cNvPr id="4" name="Line 4"/>
            <p:cNvSpPr/>
            <p:nvPr/>
          </p:nvSpPr>
          <p:spPr>
            <a:xfrm>
              <a:off x="457200" y="1200150"/>
              <a:ext cx="11277600" cy="9525"/>
            </a:xfrm>
            <a:custGeom>
              <a:avLst/>
              <a:gdLst/>
              <a:ahLst/>
              <a:cxnLst/>
              <a:rect l="l" t="t" r="r" b="b"/>
              <a:pathLst>
                <a:path w="11277600" h="9525">
                  <a:moveTo>
                    <a:pt x="0" y="0"/>
                  </a:moveTo>
                  <a:lnTo>
                    <a:pt x="11277600" y="0"/>
                  </a:lnTo>
                </a:path>
              </a:pathLst>
            </a:custGeom>
            <a:noFill/>
            <a:ln w="9525">
              <a:solidFill>
                <a:schemeClr val="accent5"/>
              </a:solidFill>
            </a:ln>
          </p:spPr>
        </p:sp>
      </p:grpSp>
      <p:grpSp>
        <p:nvGrpSpPr>
          <p:cNvPr id="8" name="Group 8"/>
          <p:cNvGrpSpPr/>
          <p:nvPr/>
        </p:nvGrpSpPr>
        <p:grpSpPr>
          <a:xfrm>
            <a:off x="450342" y="1568768"/>
            <a:ext cx="7423404" cy="264033"/>
            <a:chOff x="450342" y="1568768"/>
            <a:chExt cx="7423404" cy="264033"/>
          </a:xfrm>
        </p:grpSpPr>
        <p:sp>
          <p:nvSpPr>
            <p:cNvPr id="6" name="TextBox 6"/>
            <p:cNvSpPr txBox="1"/>
            <p:nvPr/>
          </p:nvSpPr>
          <p:spPr>
            <a:xfrm>
              <a:off x="450342" y="1568768"/>
              <a:ext cx="3830193"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先用低成本线索缩小范围，再向上补更强证据</a:t>
              </a:r>
            </a:p>
          </p:txBody>
        </p:sp>
        <p:sp>
          <p:nvSpPr>
            <p:cNvPr id="7" name="TextBox 7"/>
            <p:cNvSpPr txBox="1"/>
            <p:nvPr/>
          </p:nvSpPr>
          <p:spPr>
            <a:xfrm>
              <a:off x="7078066" y="1584960"/>
              <a:ext cx="795680" cy="234696"/>
            </a:xfrm>
            <a:prstGeom prst="rect">
              <a:avLst/>
            </a:prstGeom>
            <a:noFill/>
            <a:ln>
              <a:noFill/>
            </a:ln>
          </p:spPr>
          <p:txBody>
            <a:bodyPr wrap="none" lIns="0" tIns="0" rIns="0" bIns="0" anchor="t" anchorCtr="0">
              <a:spAutoFit/>
            </a:bodyPr>
            <a:lstStyle/>
            <a:p>
              <a:pPr algn="r"/>
              <a:r>
                <a:rPr lang="zh-CN" sz="1200" dirty="0">
                  <a:solidFill>
                    <a:schemeClr val="accent2"/>
                  </a:solidFill>
                  <a:latin typeface="+mn-lt"/>
                  <a:ea typeface="+mn-ea"/>
                  <a:cs typeface="+mn-cs"/>
                </a:rPr>
                <a:t>证据强度 ↑</a:t>
              </a:r>
            </a:p>
          </p:txBody>
        </p:sp>
      </p:grpSp>
      <p:grpSp>
        <p:nvGrpSpPr>
          <p:cNvPr id="18" name="Group 18"/>
          <p:cNvGrpSpPr/>
          <p:nvPr/>
        </p:nvGrpSpPr>
        <p:grpSpPr>
          <a:xfrm>
            <a:off x="438683" y="1920240"/>
            <a:ext cx="3580333" cy="2975610"/>
            <a:chOff x="438683" y="1920240"/>
            <a:chExt cx="3580333" cy="2975610"/>
          </a:xfrm>
        </p:grpSpPr>
        <p:sp>
          <p:nvSpPr>
            <p:cNvPr id="9" name="TextBox 9"/>
            <p:cNvSpPr txBox="1"/>
            <p:nvPr/>
          </p:nvSpPr>
          <p:spPr>
            <a:xfrm>
              <a:off x="438683" y="1920240"/>
              <a:ext cx="358033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冗余：两个变量是不是一回事？</a:t>
              </a:r>
            </a:p>
          </p:txBody>
        </p:sp>
        <p:sp>
          <p:nvSpPr>
            <p:cNvPr id="10" name="Freeform 10"/>
            <p:cNvSpPr/>
            <p:nvPr/>
          </p:nvSpPr>
          <p:spPr>
            <a:xfrm>
              <a:off x="457200" y="4286250"/>
              <a:ext cx="3543300" cy="609600"/>
            </a:xfrm>
            <a:custGeom>
              <a:avLst/>
              <a:gdLst/>
              <a:ahLst/>
              <a:cxnLst/>
              <a:rect l="l" t="t" r="r" b="b"/>
              <a:pathLst>
                <a:path w="3543300" h="609600">
                  <a:moveTo>
                    <a:pt x="0" y="609600"/>
                  </a:moveTo>
                  <a:lnTo>
                    <a:pt x="285750" y="0"/>
                  </a:lnTo>
                  <a:lnTo>
                    <a:pt x="3257550" y="0"/>
                  </a:lnTo>
                  <a:lnTo>
                    <a:pt x="3543300" y="609600"/>
                  </a:lnTo>
                  <a:close/>
                </a:path>
              </a:pathLst>
            </a:custGeom>
            <a:solidFill>
              <a:schemeClr val="accent1"/>
            </a:solidFill>
            <a:ln>
              <a:noFill/>
            </a:ln>
          </p:spPr>
        </p:sp>
        <p:sp>
          <p:nvSpPr>
            <p:cNvPr id="11" name="Freeform 11"/>
            <p:cNvSpPr/>
            <p:nvPr/>
          </p:nvSpPr>
          <p:spPr>
            <a:xfrm>
              <a:off x="762000" y="3581400"/>
              <a:ext cx="2933700" cy="609600"/>
            </a:xfrm>
            <a:custGeom>
              <a:avLst/>
              <a:gdLst/>
              <a:ahLst/>
              <a:cxnLst/>
              <a:rect l="l" t="t" r="r" b="b"/>
              <a:pathLst>
                <a:path w="2933700" h="609600">
                  <a:moveTo>
                    <a:pt x="0" y="609600"/>
                  </a:moveTo>
                  <a:lnTo>
                    <a:pt x="285750" y="0"/>
                  </a:lnTo>
                  <a:lnTo>
                    <a:pt x="2647950" y="0"/>
                  </a:lnTo>
                  <a:lnTo>
                    <a:pt x="2933700" y="609600"/>
                  </a:lnTo>
                  <a:close/>
                </a:path>
              </a:pathLst>
            </a:custGeom>
            <a:solidFill>
              <a:schemeClr val="accent3"/>
            </a:solidFill>
            <a:ln>
              <a:noFill/>
            </a:ln>
          </p:spPr>
        </p:sp>
        <p:sp>
          <p:nvSpPr>
            <p:cNvPr id="12" name="Freeform 12"/>
            <p:cNvSpPr/>
            <p:nvPr/>
          </p:nvSpPr>
          <p:spPr>
            <a:xfrm>
              <a:off x="1066800" y="2876550"/>
              <a:ext cx="2324100" cy="609600"/>
            </a:xfrm>
            <a:custGeom>
              <a:avLst/>
              <a:gdLst/>
              <a:ahLst/>
              <a:cxnLst/>
              <a:rect l="l" t="t" r="r" b="b"/>
              <a:pathLst>
                <a:path w="2324100" h="609600">
                  <a:moveTo>
                    <a:pt x="0" y="609600"/>
                  </a:moveTo>
                  <a:lnTo>
                    <a:pt x="285750" y="0"/>
                  </a:lnTo>
                  <a:lnTo>
                    <a:pt x="2038350" y="0"/>
                  </a:lnTo>
                  <a:lnTo>
                    <a:pt x="2324100" y="609600"/>
                  </a:lnTo>
                  <a:close/>
                </a:path>
              </a:pathLst>
            </a:custGeom>
            <a:solidFill>
              <a:schemeClr val="lt2"/>
            </a:solidFill>
            <a:ln w="19050">
              <a:solidFill>
                <a:schemeClr val="accent3"/>
              </a:solidFill>
            </a:ln>
          </p:spPr>
        </p:sp>
        <p:sp>
          <p:nvSpPr>
            <p:cNvPr id="13" name="Freeform 13"/>
            <p:cNvSpPr/>
            <p:nvPr/>
          </p:nvSpPr>
          <p:spPr>
            <a:xfrm>
              <a:off x="1371600" y="2266950"/>
              <a:ext cx="1714500" cy="514350"/>
            </a:xfrm>
            <a:custGeom>
              <a:avLst/>
              <a:gdLst/>
              <a:ahLst/>
              <a:cxnLst/>
              <a:rect l="l" t="t" r="r" b="b"/>
              <a:pathLst>
                <a:path w="1714500" h="514350">
                  <a:moveTo>
                    <a:pt x="0" y="514350"/>
                  </a:moveTo>
                  <a:lnTo>
                    <a:pt x="857250" y="0"/>
                  </a:lnTo>
                  <a:lnTo>
                    <a:pt x="1714500" y="514350"/>
                  </a:lnTo>
                  <a:close/>
                </a:path>
              </a:pathLst>
            </a:custGeom>
            <a:solidFill>
              <a:schemeClr val="lt1"/>
            </a:solidFill>
            <a:ln w="28575">
              <a:solidFill>
                <a:schemeClr val="accent2"/>
              </a:solidFill>
            </a:ln>
          </p:spPr>
        </p:sp>
        <p:sp>
          <p:nvSpPr>
            <p:cNvPr id="14" name="TextBox 14"/>
            <p:cNvSpPr txBox="1"/>
            <p:nvPr/>
          </p:nvSpPr>
          <p:spPr>
            <a:xfrm>
              <a:off x="1713890" y="2480310"/>
              <a:ext cx="1029919" cy="234696"/>
            </a:xfrm>
            <a:prstGeom prst="rect">
              <a:avLst/>
            </a:prstGeom>
            <a:noFill/>
            <a:ln>
              <a:noFill/>
            </a:ln>
          </p:spPr>
          <p:txBody>
            <a:bodyPr wrap="none" lIns="0" tIns="0" rIns="0" bIns="0" anchor="t" anchorCtr="0">
              <a:spAutoFit/>
            </a:bodyPr>
            <a:lstStyle/>
            <a:p>
              <a:pPr algn="ctr"/>
              <a:r>
                <a:rPr lang="zh-CN" sz="1200" b="1" dirty="0">
                  <a:solidFill>
                    <a:schemeClr val="accent2"/>
                  </a:solidFill>
                  <a:latin typeface="+mn-lt"/>
                  <a:ea typeface="+mn-ea"/>
                  <a:cs typeface="+mn-cs"/>
                </a:rPr>
                <a:t>新数据相关簇</a:t>
              </a:r>
            </a:p>
          </p:txBody>
        </p:sp>
        <p:sp>
          <p:nvSpPr>
            <p:cNvPr id="15" name="TextBox 15"/>
            <p:cNvSpPr txBox="1"/>
            <p:nvPr/>
          </p:nvSpPr>
          <p:spPr>
            <a:xfrm>
              <a:off x="1332243" y="3108960"/>
              <a:ext cx="1793215" cy="234696"/>
            </a:xfrm>
            <a:prstGeom prst="rect">
              <a:avLst/>
            </a:prstGeom>
            <a:noFill/>
            <a:ln>
              <a:noFill/>
            </a:ln>
          </p:spPr>
          <p:txBody>
            <a:bodyPr wrap="none" lIns="0" tIns="0" rIns="0" bIns="0" anchor="t" anchorCtr="0">
              <a:spAutoFit/>
            </a:bodyPr>
            <a:lstStyle/>
            <a:p>
              <a:pPr algn="ctr"/>
              <a:r>
                <a:rPr lang="zh-CN" sz="1200" b="1" dirty="0">
                  <a:solidFill>
                    <a:schemeClr val="dk1"/>
                  </a:solidFill>
                  <a:latin typeface="+mn-lt"/>
                  <a:ea typeface="+mn-ea"/>
                  <a:cs typeface="+mn-cs"/>
                </a:rPr>
                <a:t>共同 helper + 物理类别</a:t>
              </a:r>
            </a:p>
          </p:txBody>
        </p:sp>
        <p:sp>
          <p:nvSpPr>
            <p:cNvPr id="16" name="TextBox 16"/>
            <p:cNvSpPr txBox="1"/>
            <p:nvPr/>
          </p:nvSpPr>
          <p:spPr>
            <a:xfrm>
              <a:off x="1531548" y="3813810"/>
              <a:ext cx="1394605"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公式 / 确定性变换</a:t>
              </a:r>
            </a:p>
          </p:txBody>
        </p:sp>
        <p:sp>
          <p:nvSpPr>
            <p:cNvPr id="17" name="TextBox 17"/>
            <p:cNvSpPr txBox="1"/>
            <p:nvPr/>
          </p:nvSpPr>
          <p:spPr>
            <a:xfrm>
              <a:off x="1840344" y="4502468"/>
              <a:ext cx="77701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精确别名</a:t>
              </a:r>
            </a:p>
          </p:txBody>
        </p:sp>
      </p:grpSp>
      <p:grpSp>
        <p:nvGrpSpPr>
          <p:cNvPr id="28" name="Group 28"/>
          <p:cNvGrpSpPr/>
          <p:nvPr/>
        </p:nvGrpSpPr>
        <p:grpSpPr>
          <a:xfrm>
            <a:off x="4324350" y="1920240"/>
            <a:ext cx="3543300" cy="2975610"/>
            <a:chOff x="4324350" y="1920240"/>
            <a:chExt cx="3543300" cy="2975610"/>
          </a:xfrm>
        </p:grpSpPr>
        <p:sp>
          <p:nvSpPr>
            <p:cNvPr id="19" name="TextBox 19"/>
            <p:cNvSpPr txBox="1"/>
            <p:nvPr/>
          </p:nvSpPr>
          <p:spPr>
            <a:xfrm>
              <a:off x="4560265" y="1920240"/>
              <a:ext cx="3071470"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空位：通道真的可通行吗？</a:t>
              </a:r>
            </a:p>
          </p:txBody>
        </p:sp>
        <p:sp>
          <p:nvSpPr>
            <p:cNvPr id="20" name="Freeform 20"/>
            <p:cNvSpPr/>
            <p:nvPr/>
          </p:nvSpPr>
          <p:spPr>
            <a:xfrm>
              <a:off x="4324350" y="4286250"/>
              <a:ext cx="3543300" cy="609600"/>
            </a:xfrm>
            <a:custGeom>
              <a:avLst/>
              <a:gdLst/>
              <a:ahLst/>
              <a:cxnLst/>
              <a:rect l="l" t="t" r="r" b="b"/>
              <a:pathLst>
                <a:path w="3543300" h="609600">
                  <a:moveTo>
                    <a:pt x="0" y="609600"/>
                  </a:moveTo>
                  <a:lnTo>
                    <a:pt x="285750" y="0"/>
                  </a:lnTo>
                  <a:lnTo>
                    <a:pt x="3257550" y="0"/>
                  </a:lnTo>
                  <a:lnTo>
                    <a:pt x="3543300" y="609600"/>
                  </a:lnTo>
                  <a:close/>
                </a:path>
              </a:pathLst>
            </a:custGeom>
            <a:solidFill>
              <a:schemeClr val="accent1"/>
            </a:solidFill>
            <a:ln>
              <a:noFill/>
            </a:ln>
          </p:spPr>
        </p:sp>
        <p:sp>
          <p:nvSpPr>
            <p:cNvPr id="21" name="Freeform 21"/>
            <p:cNvSpPr/>
            <p:nvPr/>
          </p:nvSpPr>
          <p:spPr>
            <a:xfrm>
              <a:off x="4629150" y="3581400"/>
              <a:ext cx="2933700" cy="609600"/>
            </a:xfrm>
            <a:custGeom>
              <a:avLst/>
              <a:gdLst/>
              <a:ahLst/>
              <a:cxnLst/>
              <a:rect l="l" t="t" r="r" b="b"/>
              <a:pathLst>
                <a:path w="2933700" h="609600">
                  <a:moveTo>
                    <a:pt x="0" y="609600"/>
                  </a:moveTo>
                  <a:lnTo>
                    <a:pt x="285750" y="0"/>
                  </a:lnTo>
                  <a:lnTo>
                    <a:pt x="2647950" y="0"/>
                  </a:lnTo>
                  <a:lnTo>
                    <a:pt x="2933700" y="609600"/>
                  </a:lnTo>
                  <a:close/>
                </a:path>
              </a:pathLst>
            </a:custGeom>
            <a:solidFill>
              <a:schemeClr val="lt2"/>
            </a:solidFill>
            <a:ln w="19050">
              <a:solidFill>
                <a:schemeClr val="accent3"/>
              </a:solidFill>
            </a:ln>
          </p:spPr>
        </p:sp>
        <p:sp>
          <p:nvSpPr>
            <p:cNvPr id="22" name="Freeform 22"/>
            <p:cNvSpPr/>
            <p:nvPr/>
          </p:nvSpPr>
          <p:spPr>
            <a:xfrm>
              <a:off x="4933950" y="2876550"/>
              <a:ext cx="2324100" cy="609600"/>
            </a:xfrm>
            <a:custGeom>
              <a:avLst/>
              <a:gdLst/>
              <a:ahLst/>
              <a:cxnLst/>
              <a:rect l="l" t="t" r="r" b="b"/>
              <a:pathLst>
                <a:path w="2324100" h="609600">
                  <a:moveTo>
                    <a:pt x="0" y="609600"/>
                  </a:moveTo>
                  <a:lnTo>
                    <a:pt x="285750" y="0"/>
                  </a:lnTo>
                  <a:lnTo>
                    <a:pt x="2038350" y="0"/>
                  </a:lnTo>
                  <a:lnTo>
                    <a:pt x="2324100" y="609600"/>
                  </a:lnTo>
                  <a:close/>
                </a:path>
              </a:pathLst>
            </a:custGeom>
            <a:solidFill>
              <a:schemeClr val="lt1"/>
            </a:solidFill>
            <a:ln w="28575">
              <a:solidFill>
                <a:schemeClr val="accent2"/>
              </a:solidFill>
            </a:ln>
          </p:spPr>
        </p:sp>
        <p:sp>
          <p:nvSpPr>
            <p:cNvPr id="23" name="Freeform 23"/>
            <p:cNvSpPr/>
            <p:nvPr/>
          </p:nvSpPr>
          <p:spPr>
            <a:xfrm>
              <a:off x="5238750" y="2266950"/>
              <a:ext cx="1714500" cy="514350"/>
            </a:xfrm>
            <a:custGeom>
              <a:avLst/>
              <a:gdLst/>
              <a:ahLst/>
              <a:cxnLst/>
              <a:rect l="l" t="t" r="r" b="b"/>
              <a:pathLst>
                <a:path w="1714500" h="514350">
                  <a:moveTo>
                    <a:pt x="0" y="514350"/>
                  </a:moveTo>
                  <a:lnTo>
                    <a:pt x="857250" y="0"/>
                  </a:lnTo>
                  <a:lnTo>
                    <a:pt x="1714500" y="514350"/>
                  </a:lnTo>
                  <a:close/>
                </a:path>
              </a:pathLst>
            </a:custGeom>
            <a:solidFill>
              <a:schemeClr val="lt1"/>
            </a:solidFill>
            <a:ln w="28575">
              <a:solidFill>
                <a:schemeClr val="accent2"/>
              </a:solidFill>
            </a:ln>
          </p:spPr>
        </p:sp>
        <p:sp>
          <p:nvSpPr>
            <p:cNvPr id="24" name="TextBox 24"/>
            <p:cNvSpPr txBox="1"/>
            <p:nvPr/>
          </p:nvSpPr>
          <p:spPr>
            <a:xfrm>
              <a:off x="5440223" y="2480310"/>
              <a:ext cx="1311554" cy="234696"/>
            </a:xfrm>
            <a:prstGeom prst="rect">
              <a:avLst/>
            </a:prstGeom>
            <a:noFill/>
            <a:ln>
              <a:noFill/>
            </a:ln>
          </p:spPr>
          <p:txBody>
            <a:bodyPr wrap="none" lIns="0" tIns="0" rIns="0" bIns="0" anchor="t" anchorCtr="0">
              <a:spAutoFit/>
            </a:bodyPr>
            <a:lstStyle/>
            <a:p>
              <a:pPr algn="ctr"/>
              <a:r>
                <a:rPr lang="zh-CN" sz="1200" b="1" dirty="0">
                  <a:solidFill>
                    <a:schemeClr val="accent2"/>
                  </a:solidFill>
                  <a:latin typeface="+mn-lt"/>
                  <a:ea typeface="+mn-ea"/>
                  <a:cs typeface="+mn-cs"/>
                </a:rPr>
                <a:t>少量 DFT / AIMD</a:t>
              </a:r>
            </a:p>
          </p:txBody>
        </p:sp>
        <p:sp>
          <p:nvSpPr>
            <p:cNvPr id="25" name="TextBox 25"/>
            <p:cNvSpPr txBox="1"/>
            <p:nvPr/>
          </p:nvSpPr>
          <p:spPr>
            <a:xfrm>
              <a:off x="5049989" y="3108960"/>
              <a:ext cx="2092021" cy="234696"/>
            </a:xfrm>
            <a:prstGeom prst="rect">
              <a:avLst/>
            </a:prstGeom>
            <a:noFill/>
            <a:ln>
              <a:noFill/>
            </a:ln>
          </p:spPr>
          <p:txBody>
            <a:bodyPr wrap="none" lIns="0" tIns="0" rIns="0" bIns="0" anchor="t" anchorCtr="0">
              <a:spAutoFit/>
            </a:bodyPr>
            <a:lstStyle/>
            <a:p>
              <a:pPr algn="ctr"/>
              <a:r>
                <a:rPr lang="zh-CN" sz="1200" b="1" dirty="0">
                  <a:solidFill>
                    <a:schemeClr val="accent2"/>
                  </a:solidFill>
                  <a:latin typeface="+mn-lt"/>
                  <a:ea typeface="+mn-ea"/>
                  <a:cs typeface="+mn-cs"/>
                </a:rPr>
                <a:t>BVS / BVSE / SoftBV 能量</a:t>
              </a:r>
            </a:p>
          </p:txBody>
        </p:sp>
        <p:sp>
          <p:nvSpPr>
            <p:cNvPr id="26" name="TextBox 26"/>
            <p:cNvSpPr txBox="1"/>
            <p:nvPr/>
          </p:nvSpPr>
          <p:spPr>
            <a:xfrm>
              <a:off x="5077810" y="3813810"/>
              <a:ext cx="2036381" cy="234696"/>
            </a:xfrm>
            <a:prstGeom prst="rect">
              <a:avLst/>
            </a:prstGeom>
            <a:noFill/>
            <a:ln>
              <a:noFill/>
            </a:ln>
          </p:spPr>
          <p:txBody>
            <a:bodyPr wrap="none" lIns="0" tIns="0" rIns="0" bIns="0" anchor="t" anchorCtr="0">
              <a:spAutoFit/>
            </a:bodyPr>
            <a:lstStyle/>
            <a:p>
              <a:pPr algn="ctr"/>
              <a:r>
                <a:rPr lang="zh-CN" sz="1200" b="1" dirty="0">
                  <a:solidFill>
                    <a:schemeClr val="dk1"/>
                  </a:solidFill>
                  <a:latin typeface="+mn-lt"/>
                  <a:ea typeface="+mn-ea"/>
                  <a:cs typeface="+mn-cs"/>
                </a:rPr>
                <a:t>Voronoi / Zeo++ 几何空腔</a:t>
              </a:r>
            </a:p>
          </p:txBody>
        </p:sp>
        <p:sp>
          <p:nvSpPr>
            <p:cNvPr id="27" name="TextBox 27"/>
            <p:cNvSpPr txBox="1"/>
            <p:nvPr/>
          </p:nvSpPr>
          <p:spPr>
            <a:xfrm>
              <a:off x="5514510" y="4502468"/>
              <a:ext cx="116298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CIF 占位信息</a:t>
              </a:r>
            </a:p>
          </p:txBody>
        </p:sp>
      </p:grpSp>
      <p:grpSp>
        <p:nvGrpSpPr>
          <p:cNvPr id="42" name="Group 42"/>
          <p:cNvGrpSpPr/>
          <p:nvPr/>
        </p:nvGrpSpPr>
        <p:grpSpPr>
          <a:xfrm>
            <a:off x="8324850" y="1447800"/>
            <a:ext cx="3409950" cy="3515106"/>
            <a:chOff x="8324850" y="1447800"/>
            <a:chExt cx="3409950" cy="3515106"/>
          </a:xfrm>
        </p:grpSpPr>
        <p:sp>
          <p:nvSpPr>
            <p:cNvPr id="29" name="Rectangle 29"/>
            <p:cNvSpPr/>
            <p:nvPr/>
          </p:nvSpPr>
          <p:spPr>
            <a:xfrm>
              <a:off x="8324850" y="1447800"/>
              <a:ext cx="3409950" cy="3448050"/>
            </a:xfrm>
            <a:prstGeom prst="rect">
              <a:avLst/>
            </a:prstGeom>
            <a:solidFill>
              <a:schemeClr val="lt2"/>
            </a:solidFill>
            <a:ln>
              <a:noFill/>
            </a:ln>
          </p:spPr>
        </p:sp>
        <p:sp>
          <p:nvSpPr>
            <p:cNvPr id="30" name="TextBox 30"/>
            <p:cNvSpPr txBox="1"/>
            <p:nvPr/>
          </p:nvSpPr>
          <p:spPr>
            <a:xfrm>
              <a:off x="8584692" y="1644968"/>
              <a:ext cx="1540307"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正式运行前三道门</a:t>
              </a:r>
            </a:p>
          </p:txBody>
        </p:sp>
        <p:sp>
          <p:nvSpPr>
            <p:cNvPr id="31" name="TextBox 31"/>
            <p:cNvSpPr txBox="1"/>
            <p:nvPr/>
          </p:nvSpPr>
          <p:spPr>
            <a:xfrm>
              <a:off x="8579358" y="2084070"/>
              <a:ext cx="418673"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j-lt"/>
                  <a:ea typeface="+mj-ea"/>
                  <a:cs typeface="+mj-cs"/>
                </a:rPr>
                <a:t>01</a:t>
              </a:r>
            </a:p>
          </p:txBody>
        </p:sp>
        <p:sp>
          <p:nvSpPr>
            <p:cNvPr id="32" name="TextBox 32"/>
            <p:cNvSpPr txBox="1"/>
            <p:nvPr/>
          </p:nvSpPr>
          <p:spPr>
            <a:xfrm>
              <a:off x="9211056" y="2129790"/>
              <a:ext cx="1837475"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修正主检验 p 值</a:t>
              </a:r>
            </a:p>
          </p:txBody>
        </p:sp>
        <p:sp>
          <p:nvSpPr>
            <p:cNvPr id="33" name="Line 33"/>
            <p:cNvSpPr/>
            <p:nvPr/>
          </p:nvSpPr>
          <p:spPr>
            <a:xfrm>
              <a:off x="8591550" y="2571750"/>
              <a:ext cx="2876550" cy="9525"/>
            </a:xfrm>
            <a:custGeom>
              <a:avLst/>
              <a:gdLst/>
              <a:ahLst/>
              <a:cxnLst/>
              <a:rect l="l" t="t" r="r" b="b"/>
              <a:pathLst>
                <a:path w="2876550" h="9525">
                  <a:moveTo>
                    <a:pt x="0" y="0"/>
                  </a:moveTo>
                  <a:lnTo>
                    <a:pt x="2876550" y="0"/>
                  </a:lnTo>
                </a:path>
              </a:pathLst>
            </a:custGeom>
            <a:noFill/>
            <a:ln w="9525">
              <a:solidFill>
                <a:schemeClr val="accent5"/>
              </a:solidFill>
            </a:ln>
          </p:spPr>
        </p:sp>
        <p:sp>
          <p:nvSpPr>
            <p:cNvPr id="34" name="TextBox 34"/>
            <p:cNvSpPr txBox="1"/>
            <p:nvPr/>
          </p:nvSpPr>
          <p:spPr>
            <a:xfrm>
              <a:off x="8579358" y="2846070"/>
              <a:ext cx="418673"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j-lt"/>
                  <a:ea typeface="+mj-ea"/>
                  <a:cs typeface="+mj-cs"/>
                </a:rPr>
                <a:t>02</a:t>
              </a:r>
            </a:p>
          </p:txBody>
        </p:sp>
        <p:sp>
          <p:nvSpPr>
            <p:cNvPr id="35" name="TextBox 35"/>
            <p:cNvSpPr txBox="1"/>
            <p:nvPr/>
          </p:nvSpPr>
          <p:spPr>
            <a:xfrm>
              <a:off x="9211056" y="28917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实现相关簇选择</a:t>
              </a:r>
            </a:p>
          </p:txBody>
        </p:sp>
        <p:sp>
          <p:nvSpPr>
            <p:cNvPr id="36" name="Line 36"/>
            <p:cNvSpPr/>
            <p:nvPr/>
          </p:nvSpPr>
          <p:spPr>
            <a:xfrm>
              <a:off x="8591550" y="3333750"/>
              <a:ext cx="2876550" cy="9525"/>
            </a:xfrm>
            <a:custGeom>
              <a:avLst/>
              <a:gdLst/>
              <a:ahLst/>
              <a:cxnLst/>
              <a:rect l="l" t="t" r="r" b="b"/>
              <a:pathLst>
                <a:path w="2876550" h="9525">
                  <a:moveTo>
                    <a:pt x="0" y="0"/>
                  </a:moveTo>
                  <a:lnTo>
                    <a:pt x="2876550" y="0"/>
                  </a:lnTo>
                </a:path>
              </a:pathLst>
            </a:custGeom>
            <a:noFill/>
            <a:ln w="9525">
              <a:solidFill>
                <a:schemeClr val="accent5"/>
              </a:solidFill>
            </a:ln>
          </p:spPr>
        </p:sp>
        <p:sp>
          <p:nvSpPr>
            <p:cNvPr id="37" name="TextBox 37"/>
            <p:cNvSpPr txBox="1"/>
            <p:nvPr/>
          </p:nvSpPr>
          <p:spPr>
            <a:xfrm>
              <a:off x="8579358" y="3608070"/>
              <a:ext cx="418673"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j-lt"/>
                  <a:ea typeface="+mj-ea"/>
                  <a:cs typeface="+mj-cs"/>
                </a:rPr>
                <a:t>03</a:t>
              </a:r>
            </a:p>
          </p:txBody>
        </p:sp>
        <p:sp>
          <p:nvSpPr>
            <p:cNvPr id="38" name="TextBox 38"/>
            <p:cNvSpPr txBox="1"/>
            <p:nvPr/>
          </p:nvSpPr>
          <p:spPr>
            <a:xfrm>
              <a:off x="9211056" y="3653790"/>
              <a:ext cx="187324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补回真正 LOSO</a:t>
              </a:r>
            </a:p>
          </p:txBody>
        </p:sp>
        <p:sp>
          <p:nvSpPr>
            <p:cNvPr id="39" name="Line 39"/>
            <p:cNvSpPr/>
            <p:nvPr/>
          </p:nvSpPr>
          <p:spPr>
            <a:xfrm>
              <a:off x="8591550" y="4095750"/>
              <a:ext cx="2876550" cy="9525"/>
            </a:xfrm>
            <a:custGeom>
              <a:avLst/>
              <a:gdLst/>
              <a:ahLst/>
              <a:cxnLst/>
              <a:rect l="l" t="t" r="r" b="b"/>
              <a:pathLst>
                <a:path w="2876550" h="9525">
                  <a:moveTo>
                    <a:pt x="0" y="0"/>
                  </a:moveTo>
                  <a:lnTo>
                    <a:pt x="2876550" y="0"/>
                  </a:lnTo>
                </a:path>
              </a:pathLst>
            </a:custGeom>
            <a:noFill/>
            <a:ln w="9525">
              <a:solidFill>
                <a:schemeClr val="accent5"/>
              </a:solidFill>
            </a:ln>
          </p:spPr>
        </p:sp>
        <p:sp>
          <p:nvSpPr>
            <p:cNvPr id="40" name="TextBox 40"/>
            <p:cNvSpPr txBox="1"/>
            <p:nvPr/>
          </p:nvSpPr>
          <p:spPr>
            <a:xfrm>
              <a:off x="8585454" y="4290060"/>
              <a:ext cx="1029919"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当前实现缺口</a:t>
              </a:r>
            </a:p>
          </p:txBody>
        </p:sp>
        <p:sp>
          <p:nvSpPr>
            <p:cNvPr id="41" name="TextBox 41"/>
            <p:cNvSpPr txBox="1"/>
            <p:nvPr/>
          </p:nvSpPr>
          <p:spPr>
            <a:xfrm>
              <a:off x="8585454" y="4499610"/>
              <a:ext cx="2420112" cy="463296"/>
            </a:xfrm>
            <a:prstGeom prst="rect">
              <a:avLst/>
            </a:prstGeom>
            <a:noFill/>
            <a:ln>
              <a:noFill/>
            </a:ln>
          </p:spPr>
          <p:txBody>
            <a:bodyPr wrap="square" lIns="0" tIns="0" rIns="0" bIns="0" anchor="t" anchorCtr="0"/>
            <a:lstStyle/>
            <a:p>
              <a:pPr algn="l">
                <a:lnSpc>
                  <a:spcPts val="1800"/>
                </a:lnSpc>
              </a:pPr>
              <a:r>
                <a:rPr lang="zh-CN" sz="1200" dirty="0">
                  <a:solidFill>
                    <a:schemeClr val="accent6"/>
                  </a:solidFill>
                  <a:latin typeface="+mn-lt"/>
                  <a:ea typeface="+mn-ea"/>
                  <a:cs typeface="+mn-cs"/>
                </a:rPr>
                <a:t>无 Zeo++ 自动后端｜BVSE 返回 NaN</a:t>
              </a:r>
              <a:r>
                <a:rPr lang="en-US" sz="1200" dirty="0">
                  <a:solidFill>
                    <a:schemeClr val="accent6"/>
                  </a:solidFill>
                  <a:latin typeface="+mn-lt"/>
                  <a:ea typeface="+mn-ea"/>
                  <a:cs typeface="+mn-cs"/>
                </a:rPr>
                <a:t> </a:t>
              </a:r>
              <a:r>
                <a:rPr lang="zh-CN" sz="1200" dirty="0">
                  <a:solidFill>
                    <a:schemeClr val="accent6"/>
                  </a:solidFill>
                  <a:latin typeface="+mn-lt"/>
                  <a:ea typeface="+mn-ea"/>
                  <a:cs typeface="+mn-cs"/>
                </a:rPr>
                <a:t>SoftBV 仍需外部程序</a:t>
              </a:r>
            </a:p>
          </p:txBody>
        </p:sp>
      </p:grpSp>
      <p:grpSp>
        <p:nvGrpSpPr>
          <p:cNvPr id="46" name="Group 46"/>
          <p:cNvGrpSpPr/>
          <p:nvPr/>
        </p:nvGrpSpPr>
        <p:grpSpPr>
          <a:xfrm>
            <a:off x="457200" y="5219700"/>
            <a:ext cx="11277600" cy="786384"/>
            <a:chOff x="457200" y="5219700"/>
            <a:chExt cx="11277600" cy="786384"/>
          </a:xfrm>
        </p:grpSpPr>
        <p:sp>
          <p:nvSpPr>
            <p:cNvPr id="43" name="Rectangle 43"/>
            <p:cNvSpPr/>
            <p:nvPr/>
          </p:nvSpPr>
          <p:spPr>
            <a:xfrm>
              <a:off x="457200" y="5219700"/>
              <a:ext cx="11277600" cy="781050"/>
            </a:xfrm>
            <a:prstGeom prst="rect">
              <a:avLst/>
            </a:prstGeom>
            <a:solidFill>
              <a:schemeClr val="accent1"/>
            </a:solidFill>
            <a:ln>
              <a:noFill/>
            </a:ln>
          </p:spPr>
        </p:sp>
        <p:sp>
          <p:nvSpPr>
            <p:cNvPr id="44" name="TextBox 44"/>
            <p:cNvSpPr txBox="1"/>
            <p:nvPr/>
          </p:nvSpPr>
          <p:spPr>
            <a:xfrm>
              <a:off x="3544824" y="5397818"/>
              <a:ext cx="5102352" cy="264033"/>
            </a:xfrm>
            <a:prstGeom prst="rect">
              <a:avLst/>
            </a:prstGeom>
            <a:noFill/>
            <a:ln>
              <a:noFill/>
            </a:ln>
          </p:spPr>
          <p:txBody>
            <a:bodyPr wrap="none" lIns="0" tIns="0" rIns="0" bIns="0" anchor="t" anchorCtr="0">
              <a:spAutoFit/>
            </a:bodyPr>
            <a:lstStyle/>
            <a:p>
              <a:pPr algn="ctr"/>
              <a:r>
                <a:rPr lang="zh-CN" sz="1350" dirty="0">
                  <a:solidFill>
                    <a:srgbClr val="D9E4E1"/>
                  </a:solidFill>
                  <a:latin typeface="+mn-lt"/>
                  <a:ea typeface="+mn-ea"/>
                  <a:cs typeface="+mn-cs"/>
                </a:rPr>
                <a:t>低成本线索不是结论；跨层验证之后，候选才进入材料机制解释</a:t>
              </a:r>
            </a:p>
          </p:txBody>
        </p:sp>
        <p:sp>
          <p:nvSpPr>
            <p:cNvPr id="45" name="TextBox 45"/>
            <p:cNvSpPr txBox="1"/>
            <p:nvPr/>
          </p:nvSpPr>
          <p:spPr>
            <a:xfrm>
              <a:off x="2639305" y="5654040"/>
              <a:ext cx="6913390"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第二代让每个“强相关”都说清：证据来自哪一层，还缺哪一层</a:t>
              </a:r>
            </a:p>
          </p:txBody>
        </p:sp>
      </p:grpSp>
      <p:grpSp>
        <p:nvGrpSpPr>
          <p:cNvPr id="49" name="Group 49"/>
          <p:cNvGrpSpPr/>
          <p:nvPr/>
        </p:nvGrpSpPr>
        <p:grpSpPr>
          <a:xfrm>
            <a:off x="451104" y="6356985"/>
            <a:ext cx="11289030" cy="234696"/>
            <a:chOff x="451104" y="6356985"/>
            <a:chExt cx="11289030" cy="234696"/>
          </a:xfrm>
        </p:grpSpPr>
        <p:sp>
          <p:nvSpPr>
            <p:cNvPr id="47" name="TextBox 47"/>
            <p:cNvSpPr txBox="1"/>
            <p:nvPr/>
          </p:nvSpPr>
          <p:spPr>
            <a:xfrm>
              <a:off x="451104" y="6356985"/>
              <a:ext cx="4253789"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Q&amp;A附录｜下一步优先补证据链，而不是继续堆更多候选</a:t>
              </a:r>
            </a:p>
          </p:txBody>
        </p:sp>
        <p:sp>
          <p:nvSpPr>
            <p:cNvPr id="48" name="TextBox 48"/>
            <p:cNvSpPr txBox="1"/>
            <p:nvPr/>
          </p:nvSpPr>
          <p:spPr>
            <a:xfrm>
              <a:off x="11255940" y="6373178"/>
              <a:ext cx="484194"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18 / 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两代描述符筛选阶段性汇报">
  <a:themeElements>
    <a:clrScheme name="两代描述符筛选阶段性汇报">
      <a:dk1>
        <a:srgbClr val="182229"/>
      </a:dk1>
      <a:lt1>
        <a:srgbClr val="FFFFFF"/>
      </a:lt1>
      <a:dk2>
        <a:srgbClr val="1F497D"/>
      </a:dk2>
      <a:lt2>
        <a:srgbClr val="EFF3F1"/>
      </a:lt2>
      <a:accent1>
        <a:srgbClr val="113B4A"/>
      </a:accent1>
      <a:accent2>
        <a:srgbClr val="C75B39"/>
      </a:accent2>
      <a:accent3>
        <a:srgbClr val="2E7D6E"/>
      </a:accent3>
      <a:accent4>
        <a:srgbClr val="113B4A"/>
      </a:accent4>
      <a:accent5>
        <a:srgbClr val="CFDAD7"/>
      </a:accent5>
      <a:accent6>
        <a:srgbClr val="647176"/>
      </a:accent6>
      <a:hlink>
        <a:srgbClr val="C75B39"/>
      </a:hlink>
      <a:folHlink>
        <a:srgbClr val="2E7D6E"/>
      </a:folHlink>
    </a:clrScheme>
    <a:fontScheme name="两代描述符筛选阶段性汇报">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两代描述符筛选阶段性汇报">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两代描述符筛选阶段性汇报">
  <a:themeElements>
    <a:clrScheme name="两代描述符筛选阶段性汇报">
      <a:dk1>
        <a:srgbClr val="182229"/>
      </a:dk1>
      <a:lt1>
        <a:srgbClr val="FFFFFF"/>
      </a:lt1>
      <a:dk2>
        <a:srgbClr val="1F497D"/>
      </a:dk2>
      <a:lt2>
        <a:srgbClr val="EFF3F1"/>
      </a:lt2>
      <a:accent1>
        <a:srgbClr val="113B4A"/>
      </a:accent1>
      <a:accent2>
        <a:srgbClr val="C75B39"/>
      </a:accent2>
      <a:accent3>
        <a:srgbClr val="2E7D6E"/>
      </a:accent3>
      <a:accent4>
        <a:srgbClr val="113B4A"/>
      </a:accent4>
      <a:accent5>
        <a:srgbClr val="CFDAD7"/>
      </a:accent5>
      <a:accent6>
        <a:srgbClr val="647176"/>
      </a:accent6>
      <a:hlink>
        <a:srgbClr val="C75B39"/>
      </a:hlink>
      <a:folHlink>
        <a:srgbClr val="2E7D6E"/>
      </a:folHlink>
    </a:clrScheme>
    <a:fontScheme name="两代描述符筛选阶段性汇报">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两代描述符筛选阶段性汇报">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TotalTime>
  <Words>5257</Words>
  <Application>Microsoft Office PowerPoint</Application>
  <PresentationFormat>宽屏</PresentationFormat>
  <Paragraphs>464</Paragraphs>
  <Slides>18</Slides>
  <Notes>18</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18</vt:i4>
      </vt:variant>
    </vt:vector>
  </HeadingPairs>
  <TitlesOfParts>
    <vt:vector size="20" baseType="lpstr">
      <vt:lpstr>Arial</vt:lpstr>
      <vt:lpstr>两代描述符筛选阶段性汇报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Wang Zhangyin(21C LAB)</cp:lastModifiedBy>
  <cp:revision>1</cp:revision>
  <dcterms:created xsi:type="dcterms:W3CDTF">2026-08-15T15:57:32Z</dcterms:created>
  <dcterms:modified xsi:type="dcterms:W3CDTF">2026-08-17T12:59:36Z</dcterms:modified>
  <cp:category/>
  <cp:contentStatus/>
  <dc:language/>
</cp:coreProperties>
</file>