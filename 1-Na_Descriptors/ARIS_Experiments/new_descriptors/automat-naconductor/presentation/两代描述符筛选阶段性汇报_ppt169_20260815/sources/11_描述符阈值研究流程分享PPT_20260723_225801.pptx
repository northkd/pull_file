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  <Relationship Id="rId18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我先把这项工作的流程串一下。我们从一百零三个已知材料和五十七个初始字段出发，构造了八个结构描述符，其中四个用于第一轮筛选；在开源结构中筛到八百三十七个结果后，又选了十个材料准备做 DFT。今天主要想说明两个问题：这四个描述符具体表示什么，以及阈值是怎样从已知材料中定出来的。机器学习模型和数据集搭建只做必要介绍。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先看数据集。一百零三个材料里有四十六个快导体、五十七个慢导体，回归目标仍然是电导率的对数，快慢标签主要用来做分类检查和确定筛选阈值。初始的五十七个字段包括 SoftBV、Zeo++、局域配位、占位以及成分和半径信息。右下角的相关系数现在统一使用这一百零三个纯钠材料主表，其中 SoftBV 因缺失值有效样本为九十一个，另外三项为一百零三个。这里需要注意，材料体系本身和快慢标签有关，所以全样本上的相关性不能直接当成跨体系规律。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原来的工作已经有能量、几何和局域配位信息，但还缺两类内容。第一，最长的钠阴离子键相对正常配位键长到底偏长多少；第二，相邻钠位点能不能连成连续网络。这次增加局域宽松因子和钠位点连通因子，再和原有的多面体畸变组合起来。研究目的也相应从单纯比较预测结果，转为检查这些结构量能不能跨体系使用，并给出可复算的筛选条件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这张图先看全样本相关，再看 LOFO 和 LOAO。局域宽松在全样本中的相关性最高，但留出材料体系或阴离子以后下降比较明显；多面体畸变的全样本相关稍低，不过跨体系结果更稳定。组合描述符加入模型以后有一定增量，但不同化学体系中的表现并不完全一致，氯化物就是一个明显提醒。偏相关和 DML 只能说明控制已知变量后仍有关联，不能证明迁移机制。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四个初筛描述符主要来自两类信息。局域宽松因子用最长钠阴离子键除以参考键长，表示这根键相对正常配位是否偏长；多面体畸变用键长的相对离散程度表示钠配位是否均匀。两个乘积描述符只是把畸变和键长信息同时保留下来，并不是另外两个独立机制。阈值的求法是遍历候选值，比较快慢分类结果，然后取平衡准确率最高的位置，所以这些数值只适用于当前数据集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把四个阈值同时用于开源结构后，NASICON 保留六百九十七个、硫化物四十一个、卤化物九十九个，一共八百三十七个。这里的四条线是四个同时满足的条件，不是四个逐级统计的漏斗阶段。之后再看带隙、可能的钠或空位路径、文献中有没有明确电导率报道，以及计算量是否可承受，最后留下十个材料做第一轮 DFT。八百三十七只是筛选结果，不能理解为已经发现了八百三十七个快离子导体。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这十个材料不是简单按描述符从高到低排出来的。三个 NASICON 用来比较同一类刚性骨架中的局域信号和迁移路径，三个硫化物用来检查软晶格是否有利于钠迁移，同时排除电子态风险；三个氟化物还要分别检查钠缺陷和氟缺陷，确认主要迁移离子。混合阴离子材料重点看碳酸根运动会不会影响钠迁移。计算上先做弛豫、稳定性和缺陷检查，再做路径搜索和 CI-NEB，势垒足够低时再考虑 AIMD。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是一页备查表，列出了八个描述符的计算方式、结构含义和使用范围。局域宽松和畸变描述局域配位，钠位点连通因子描述网络，几个乘积项保留两类信息同时出现的情况。畸变密度对钠浓度比较敏感，硫化物键长归一化也只建议在硫化物内部比较。表中的六位小数都是当前数据集得到的阈值，换数据以后需要重新计算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阈值扫描以后，四个描述符的灵敏度都比较高，说明它们不容易漏掉已知快导体，但会保留一些慢导体。以局域宽松为例，一百零二个有效样本中只漏掉一个快导体，同时有二十五个慢导体也通过了阈值，所以后面必须继续用 DFT 复筛。两个乘积描述符在脚本常量和 CSV 复算结果之间相差大约二乘十的负六次方，这是保存小数位数造成的。阈值来自平衡准确率扫描，LOFO、LOAO 等方法只负责检查结果是否稳定。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这张表主要用来区分几种验证方法。交叉验证看模型在不同数据划分下是否稳定，Bootstrap 看描述符排名是否受少数样本影响，LOFO 和 LOAO 分别检查跨材料体系和跨阴离子的外推。偏相关和 DML 是在控制已知混杂后再看统计关联，仍然不能证明因果。这些方法都不负责给出四个阈值，真正的迁移路径和势垒还要由 DFT 来判断。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把十个材料放在一张表里，方便对应局域宽松、畸变和第一项需要做的计算。不同材料的问题不一样，有的先看路径，有的先看电子结构，氟化物还要先判断主要迁移离子。表中的问题只决定计算顺序，并不表示相应机制已经成立。第一轮 DFT 完成以后，再根据稳定性、缺陷形成能和迁移势垒决定哪些材料值得继续做 AIMD。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11_描述符阈值研究流程分享PP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11_描述符阈值研究流程分享PP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3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2ba45f59a209534.png"/>
  <Relationship Id="rId3" Type="http://schemas.openxmlformats.org/officeDocument/2006/relationships/image" Target="../media/image_a69314a8a041cbaa.png"/>
  <Relationship Id="rId4" Type="http://schemas.openxmlformats.org/officeDocument/2006/relationships/image" Target="../media/image_6a3c71f70effb705.png"/>
  <Relationship Id="rId5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9f3e6761a690fe7.jpg"/>
  <Relationship Id="rId3" Type="http://schemas.openxmlformats.org/officeDocument/2006/relationships/image" Target="../media/image_2c4dbca19c0e3bf1.jpg"/>
  <Relationship Id="rId4" Type="http://schemas.openxmlformats.org/officeDocument/2006/relationships/image" Target="../media/image_612b1615e56c8357.jpg"/>
  <Relationship Id="rId5" Type="http://schemas.openxmlformats.org/officeDocument/2006/relationships/image" Target="../media/image_35be9841a60de940.jpg"/>
  <Relationship Id="rId6" Type="http://schemas.openxmlformats.org/officeDocument/2006/relationships/image" Target="../media/image_55406d6930a47097.jpg"/>
  <Relationship Id="rId7" Type="http://schemas.openxmlformats.org/officeDocument/2006/relationships/image" Target="../media/image_e775750580b59e96.jpg"/>
  <Relationship Id="rId8" Type="http://schemas.openxmlformats.org/officeDocument/2006/relationships/image" Target="../media/image_d6029923a2702968.jpg"/>
  <Relationship Id="rId9" Type="http://schemas.openxmlformats.org/officeDocument/2006/relationships/image" Target="../media/image_9927170747a1d21d.jpg"/>
  <Relationship Id="rId10" Type="http://schemas.openxmlformats.org/officeDocument/2006/relationships/image" Target="../media/image_d928610c1589f6a1.jpg"/>
  <Relationship Id="rId11" Type="http://schemas.openxmlformats.org/officeDocument/2006/relationships/image" Target="../media/image_fb6b94c1b1e59760.jpg"/>
  <Relationship Id="rId1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77418" y="650558"/>
            <a:ext cx="1416139" cy="322707"/>
            <a:chOff x="677418" y="650558"/>
            <a:chExt cx="1416139" cy="322707"/>
          </a:xfrm>
        </p:grpSpPr>
        <p:sp>
          <p:nvSpPr>
            <p:cNvPr id="2" name="TextBox 2"/>
            <p:cNvSpPr txBox="1"/>
            <p:nvPr/>
          </p:nvSpPr>
          <p:spPr>
            <a:xfrm>
              <a:off x="677418" y="650558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研究流程分享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6750" y="1378268"/>
            <a:ext cx="5838825" cy="2679191"/>
            <a:chOff x="666750" y="1378268"/>
            <a:chExt cx="5838825" cy="2679191"/>
          </a:xfrm>
        </p:grpSpPr>
        <p:sp>
          <p:nvSpPr>
            <p:cNvPr id="4" name="TextBox 4"/>
            <p:cNvSpPr txBox="1"/>
            <p:nvPr/>
          </p:nvSpPr>
          <p:spPr>
            <a:xfrm>
              <a:off x="666750" y="1378268"/>
              <a:ext cx="5838825" cy="16097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6000"/>
                </a:lnSpc>
              </a:pPr>
              <a:r>
                <a:rPr lang="zh-CN" sz="4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Na 快离子导体的结构描述符与筛选流程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88848" y="2927032"/>
              <a:ext cx="5752719" cy="113042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050"/>
                </a:lnSpc>
              </a:pPr>
              <a:r>
                <a:rPr lang="zh-CN" sz="31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数据集 → 描述符构建 → 阈值筛选→ DFT 材料选择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228070" y="1314450"/>
            <a:ext cx="6374130" cy="1702117"/>
            <a:chOff x="11228070" y="1314450"/>
            <a:chExt cx="6374130" cy="1702117"/>
          </a:xfrm>
        </p:grpSpPr>
        <p:sp>
          <p:nvSpPr>
            <p:cNvPr id="7" name="Line 7"/>
            <p:cNvSpPr/>
            <p:nvPr/>
          </p:nvSpPr>
          <p:spPr>
            <a:xfrm>
              <a:off x="11239500" y="1314450"/>
              <a:ext cx="6362700" cy="9525"/>
            </a:xfrm>
            <a:custGeom>
              <a:avLst/>
              <a:gdLst/>
              <a:ahLst/>
              <a:cxnLst/>
              <a:rect l="l" t="t" r="r" b="b"/>
              <a:pathLst>
                <a:path w="6362700" h="9525">
                  <a:moveTo>
                    <a:pt x="0" y="0"/>
                  </a:moveTo>
                  <a:lnTo>
                    <a:pt x="63627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228070" y="1643062"/>
              <a:ext cx="193109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本次主要说明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228070" y="2157412"/>
              <a:ext cx="5237798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四个筛选描述符表示什么，以及阈值如何从 103 个已知材料中确定。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47700" y="3438525"/>
            <a:ext cx="16830675" cy="5120259"/>
            <a:chOff x="647700" y="3438525"/>
            <a:chExt cx="16830675" cy="5120259"/>
          </a:xfrm>
        </p:grpSpPr>
        <p:sp>
          <p:nvSpPr>
            <p:cNvPr id="11" name="Freeform 11"/>
            <p:cNvSpPr/>
            <p:nvPr/>
          </p:nvSpPr>
          <p:spPr>
            <a:xfrm>
              <a:off x="1200150" y="4305300"/>
              <a:ext cx="15411450" cy="3352800"/>
            </a:xfrm>
            <a:custGeom>
              <a:avLst/>
              <a:gdLst/>
              <a:ahLst/>
              <a:cxnLst/>
              <a:rect l="l" t="t" r="r" b="b"/>
              <a:pathLst>
                <a:path w="15411450" h="3352800">
                  <a:moveTo>
                    <a:pt x="0" y="3352800"/>
                  </a:moveTo>
                  <a:lnTo>
                    <a:pt x="2800350" y="2781300"/>
                  </a:lnTo>
                  <a:lnTo>
                    <a:pt x="5486400" y="2019300"/>
                  </a:lnTo>
                  <a:lnTo>
                    <a:pt x="8058150" y="1447800"/>
                  </a:lnTo>
                  <a:lnTo>
                    <a:pt x="11601450" y="571500"/>
                  </a:lnTo>
                  <a:lnTo>
                    <a:pt x="15411450" y="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  <a:round/>
            </a:ln>
          </p:spPr>
        </p:sp>
        <p:sp>
          <p:nvSpPr>
            <p:cNvPr id="12" name="Freeform 12"/>
            <p:cNvSpPr/>
            <p:nvPr/>
          </p:nvSpPr>
          <p:spPr>
            <a:xfrm>
              <a:off x="9258300" y="4305300"/>
              <a:ext cx="7353300" cy="1447800"/>
            </a:xfrm>
            <a:custGeom>
              <a:avLst/>
              <a:gdLst/>
              <a:ahLst/>
              <a:cxnLst/>
              <a:rect l="l" t="t" r="r" b="b"/>
              <a:pathLst>
                <a:path w="7353300" h="1447800">
                  <a:moveTo>
                    <a:pt x="0" y="1447800"/>
                  </a:moveTo>
                  <a:lnTo>
                    <a:pt x="3543300" y="571500"/>
                  </a:lnTo>
                  <a:lnTo>
                    <a:pt x="7353300" y="0"/>
                  </a:lnTo>
                </a:path>
              </a:pathLst>
            </a:custGeom>
            <a:noFill/>
            <a:ln w="76200" cap="rnd">
              <a:solidFill>
                <a:schemeClr val="accent3"/>
              </a:solidFill>
              <a:round/>
            </a:ln>
          </p:spPr>
        </p:sp>
        <p:sp>
          <p:nvSpPr>
            <p:cNvPr id="13" name="Ellipse 13"/>
            <p:cNvSpPr/>
            <p:nvPr/>
          </p:nvSpPr>
          <p:spPr>
            <a:xfrm>
              <a:off x="647700" y="710565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16812" y="7451408"/>
              <a:ext cx="7666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6374" y="82067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已知材料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3495675" y="6581775"/>
              <a:ext cx="1009650" cy="1009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739607" y="68799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57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06724" y="75780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初始字段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238875" y="5876925"/>
              <a:ext cx="895350" cy="895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48103" y="6127432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8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50458" y="66636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新结构描述符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8848725" y="5343525"/>
              <a:ext cx="819150" cy="819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19853" y="5555932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43366" y="612076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初筛描述符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12153900" y="4229100"/>
              <a:ext cx="1295400" cy="1295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418262" y="4679632"/>
              <a:ext cx="7666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837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307824" y="547306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候选结构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15868650" y="3562350"/>
              <a:ext cx="1485900" cy="1485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5744825" y="3438525"/>
              <a:ext cx="1733550" cy="173355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6289352" y="4055745"/>
              <a:ext cx="64449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9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071510" y="5111115"/>
              <a:ext cx="10801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DFT 候选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74370" y="9010650"/>
            <a:ext cx="16934688" cy="682943"/>
            <a:chOff x="674370" y="9010650"/>
            <a:chExt cx="16934688" cy="682943"/>
          </a:xfrm>
        </p:grpSpPr>
        <p:sp>
          <p:nvSpPr>
            <p:cNvPr id="33" name="Line 33"/>
            <p:cNvSpPr/>
            <p:nvPr/>
          </p:nvSpPr>
          <p:spPr>
            <a:xfrm>
              <a:off x="685800" y="9010650"/>
              <a:ext cx="16916400" cy="9525"/>
            </a:xfrm>
            <a:custGeom>
              <a:avLst/>
              <a:gdLst/>
              <a:ahLst/>
              <a:cxnLst/>
              <a:rect l="l" t="t" r="r" b="b"/>
              <a:pathLst>
                <a:path w="16916400" h="9525">
                  <a:moveTo>
                    <a:pt x="0" y="0"/>
                  </a:moveTo>
                  <a:lnTo>
                    <a:pt x="169164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4370" y="9253538"/>
              <a:ext cx="88068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这次主要回答两个问题：描述符表示什么？阈值是怎样选出来的？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986523" y="935069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01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521018"/>
            <a:ext cx="16935450" cy="1374457"/>
            <a:chOff x="666750" y="521018"/>
            <a:chExt cx="16935450" cy="137445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21018"/>
              <a:ext cx="21604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01 · 数据集与初始描述符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6750" y="835342"/>
              <a:ext cx="12999240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数据集包含 103 个已知材料和 57 个初始字段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885950"/>
              <a:ext cx="16916400" cy="9525"/>
            </a:xfrm>
            <a:custGeom>
              <a:avLst/>
              <a:gdLst/>
              <a:ahLst/>
              <a:cxnLst/>
              <a:rect l="l" t="t" r="r" b="b"/>
              <a:pathLst>
                <a:path w="16916400" h="9525">
                  <a:moveTo>
                    <a:pt x="0" y="0"/>
                  </a:moveTo>
                  <a:lnTo>
                    <a:pt x="169164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685800" y="1866900"/>
            <a:ext cx="6477000" cy="6438900"/>
            <a:chOff x="685800" y="1866900"/>
            <a:chExt cx="6477000" cy="6438900"/>
          </a:xfrm>
        </p:grpSpPr>
        <p:sp>
          <p:nvSpPr>
            <p:cNvPr id="6" name="Rectangle 6"/>
            <p:cNvSpPr/>
            <p:nvPr/>
          </p:nvSpPr>
          <p:spPr>
            <a:xfrm>
              <a:off x="685800" y="1866900"/>
              <a:ext cx="6477000" cy="64389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79170" y="2081212"/>
              <a:ext cx="22491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标签与体系构成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2218" y="2526982"/>
              <a:ext cx="57190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目标：log₁₀(σ / mS·cm⁻¹)　快导体：σ ≥ 0.1 mS·cm⁻¹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982218" y="3000375"/>
              <a:ext cx="5935370" cy="4562475"/>
              <a:chOff x="982218" y="3000375"/>
              <a:chExt cx="5935370" cy="456247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3333750" y="3000375"/>
                <a:ext cx="1793624" cy="2154079"/>
              </a:xfrm>
              <a:custGeom>
                <a:avLst/>
                <a:gdLst/>
                <a:ahLst/>
                <a:cxnLst/>
                <a:rect l="l" t="t" r="r" b="b"/>
                <a:pathLst>
                  <a:path w="1793624" h="2154079">
                    <a:moveTo>
                      <a:pt x="0" y="0"/>
                    </a:moveTo>
                    <a:cubicBezTo>
                      <a:pt x="532257" y="10"/>
                      <a:pt x="1034324" y="247218"/>
                      <a:pt x="1358869" y="669081"/>
                    </a:cubicBezTo>
                    <a:cubicBezTo>
                      <a:pt x="1683414" y="1090944"/>
                      <a:pt x="1793624" y="1639613"/>
                      <a:pt x="1657160" y="2154079"/>
                    </a:cubicBezTo>
                    <a:lnTo>
                      <a:pt x="994315" y="1978247"/>
                    </a:lnTo>
                    <a:cubicBezTo>
                      <a:pt x="1076195" y="1669564"/>
                      <a:pt x="1010066" y="1340360"/>
                      <a:pt x="815335" y="1087241"/>
                    </a:cubicBezTo>
                    <a:cubicBezTo>
                      <a:pt x="620604" y="834122"/>
                      <a:pt x="319358" y="685800"/>
                      <a:pt x="0" y="6858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742313" y="4978622"/>
                <a:ext cx="3248597" cy="1492650"/>
              </a:xfrm>
              <a:custGeom>
                <a:avLst/>
                <a:gdLst/>
                <a:ahLst/>
                <a:cxnLst/>
                <a:rect l="l" t="t" r="r" b="b"/>
                <a:pathLst>
                  <a:path w="3248597" h="1492650">
                    <a:moveTo>
                      <a:pt x="3248597" y="175831"/>
                    </a:moveTo>
                    <a:cubicBezTo>
                      <a:pt x="3059165" y="890052"/>
                      <a:pt x="2433453" y="1402560"/>
                      <a:pt x="1695912" y="1447605"/>
                    </a:cubicBezTo>
                    <a:cubicBezTo>
                      <a:pt x="958372" y="1492650"/>
                      <a:pt x="274941" y="1060096"/>
                      <a:pt x="0" y="374237"/>
                    </a:cubicBezTo>
                    <a:lnTo>
                      <a:pt x="636556" y="119062"/>
                    </a:lnTo>
                    <a:cubicBezTo>
                      <a:pt x="801507" y="530608"/>
                      <a:pt x="1211585" y="790164"/>
                      <a:pt x="1654132" y="763132"/>
                    </a:cubicBezTo>
                    <a:cubicBezTo>
                      <a:pt x="2096679" y="736100"/>
                      <a:pt x="2472116" y="428562"/>
                      <a:pt x="258575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571423" y="4028694"/>
                <a:ext cx="819638" cy="1324166"/>
              </a:xfrm>
              <a:custGeom>
                <a:avLst/>
                <a:gdLst/>
                <a:ahLst/>
                <a:cxnLst/>
                <a:rect l="l" t="t" r="r" b="b"/>
                <a:pathLst>
                  <a:path w="819638" h="1324166">
                    <a:moveTo>
                      <a:pt x="170890" y="1324166"/>
                    </a:moveTo>
                    <a:cubicBezTo>
                      <a:pt x="0" y="897887"/>
                      <a:pt x="7274" y="420869"/>
                      <a:pt x="191083" y="0"/>
                    </a:cubicBezTo>
                    <a:lnTo>
                      <a:pt x="819638" y="274510"/>
                    </a:lnTo>
                    <a:cubicBezTo>
                      <a:pt x="709333" y="527016"/>
                      <a:pt x="704941" y="813219"/>
                      <a:pt x="807446" y="106899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762506" y="3079528"/>
                <a:ext cx="1262348" cy="1223677"/>
              </a:xfrm>
              <a:custGeom>
                <a:avLst/>
                <a:gdLst/>
                <a:ahLst/>
                <a:cxnLst/>
                <a:rect l="l" t="t" r="r" b="b"/>
                <a:pathLst>
                  <a:path w="1262348" h="1223677">
                    <a:moveTo>
                      <a:pt x="0" y="949166"/>
                    </a:moveTo>
                    <a:cubicBezTo>
                      <a:pt x="198386" y="494949"/>
                      <a:pt x="583634" y="148813"/>
                      <a:pt x="1056418" y="0"/>
                    </a:cubicBezTo>
                    <a:lnTo>
                      <a:pt x="1262348" y="654082"/>
                    </a:lnTo>
                    <a:cubicBezTo>
                      <a:pt x="978681" y="743405"/>
                      <a:pt x="747552" y="951123"/>
                      <a:pt x="628555" y="1223677"/>
                    </a:cubicBezTo>
                    <a:close/>
                  </a:path>
                </a:pathLst>
              </a:custGeom>
              <a:solidFill>
                <a:srgbClr val="5E6670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2818924" y="3000375"/>
                <a:ext cx="514826" cy="733235"/>
              </a:xfrm>
              <a:custGeom>
                <a:avLst/>
                <a:gdLst/>
                <a:ahLst/>
                <a:cxnLst/>
                <a:rect l="l" t="t" r="r" b="b"/>
                <a:pathLst>
                  <a:path w="514826" h="733235">
                    <a:moveTo>
                      <a:pt x="0" y="79153"/>
                    </a:moveTo>
                    <a:cubicBezTo>
                      <a:pt x="166576" y="26702"/>
                      <a:pt x="340188" y="10"/>
                      <a:pt x="514826" y="0"/>
                    </a:cubicBezTo>
                    <a:lnTo>
                      <a:pt x="514826" y="685800"/>
                    </a:lnTo>
                    <a:cubicBezTo>
                      <a:pt x="410046" y="685788"/>
                      <a:pt x="305879" y="701784"/>
                      <a:pt x="205931" y="73323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2305050" y="3686175"/>
                <a:ext cx="2057400" cy="2057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2859903" y="4246245"/>
                <a:ext cx="947694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9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103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881122" y="4879658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已知材料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5219700" y="3238500"/>
                <a:ext cx="171450" cy="1714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516118" y="3222308"/>
                <a:ext cx="140147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NASICON　30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5219700" y="3667125"/>
                <a:ext cx="171450" cy="17145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5516118" y="3650932"/>
                <a:ext cx="114959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硫化物　41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5219700" y="4095750"/>
                <a:ext cx="171450" cy="1714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5516118" y="4079558"/>
                <a:ext cx="114959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卤化物　13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5219700" y="4524375"/>
                <a:ext cx="171450" cy="171450"/>
              </a:xfrm>
              <a:prstGeom prst="rect">
                <a:avLst/>
              </a:prstGeom>
              <a:solidFill>
                <a:srgbClr val="5E6670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516118" y="4508182"/>
                <a:ext cx="137171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氢化物类　14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5219700" y="4953000"/>
                <a:ext cx="171450" cy="17145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516118" y="4936808"/>
                <a:ext cx="805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其他　5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82218" y="66798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快慢标签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990600" y="7067550"/>
                <a:ext cx="4914900" cy="495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990600" y="7067550"/>
                <a:ext cx="2195036" cy="4953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3185636" y="7067550"/>
                <a:ext cx="2719864" cy="49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771513" y="7206615"/>
                <a:ext cx="62892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快 46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228963" y="7206615"/>
                <a:ext cx="62892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慢 57</a:t>
                </a:r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982218" y="7794308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样本量不大，后续还需要结合跨体系验证来判断。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494270" y="2024062"/>
            <a:ext cx="10107930" cy="2300288"/>
            <a:chOff x="7494270" y="2024062"/>
            <a:chExt cx="10107930" cy="2300288"/>
          </a:xfrm>
        </p:grpSpPr>
        <p:sp>
          <p:nvSpPr>
            <p:cNvPr id="36" name="TextBox 36"/>
            <p:cNvSpPr txBox="1"/>
            <p:nvPr/>
          </p:nvSpPr>
          <p:spPr>
            <a:xfrm>
              <a:off x="7494270" y="2024062"/>
              <a:ext cx="38393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初始字段主要包括五类信息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7505700" y="249555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505700" y="2762250"/>
              <a:ext cx="1952625" cy="1562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725918" y="30222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25156" y="3444240"/>
              <a:ext cx="8816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SoftBV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25918" y="38033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能量地形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610725" y="2762250"/>
              <a:ext cx="1952625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830943" y="30222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30181" y="3444240"/>
              <a:ext cx="7311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Zeo++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30943" y="38033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宏观瓶颈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1715750" y="2762250"/>
              <a:ext cx="1952625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935968" y="30222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935206" y="3444240"/>
              <a:ext cx="5991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Na–X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935968" y="38033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局域配位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3820775" y="2762250"/>
              <a:ext cx="1724025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4040993" y="30222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4040231" y="34442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空位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4040993" y="38033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占位信息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5697200" y="2762250"/>
              <a:ext cx="19050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5917418" y="30222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5916656" y="34442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化学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5917418" y="38033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半径参照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494270" y="5205412"/>
            <a:ext cx="10116312" cy="3028189"/>
            <a:chOff x="7494270" y="5205412"/>
            <a:chExt cx="10116312" cy="3028189"/>
          </a:xfrm>
        </p:grpSpPr>
        <p:sp>
          <p:nvSpPr>
            <p:cNvPr id="59" name="TextBox 59"/>
            <p:cNvSpPr txBox="1"/>
            <p:nvPr/>
          </p:nvSpPr>
          <p:spPr>
            <a:xfrm>
              <a:off x="7494270" y="5205412"/>
              <a:ext cx="63836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先看单变量相关，作为后续构造描述符的参考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3474829" y="5270182"/>
              <a:ext cx="41357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Spearman ρ｜SoftBV n=91，其余 n=103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7505700" y="57150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12553950" y="5905500"/>
              <a:ext cx="9525" cy="2057400"/>
            </a:xfrm>
            <a:custGeom>
              <a:avLst/>
              <a:gdLst/>
              <a:ahLst/>
              <a:cxnLst/>
              <a:rect l="l" t="t" r="r" b="b"/>
              <a:pathLst>
                <a:path w="9525" h="2057400">
                  <a:moveTo>
                    <a:pt x="0" y="0"/>
                  </a:moveTo>
                  <a:lnTo>
                    <a:pt x="0" y="20574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2497114" y="79695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96556" y="6092190"/>
              <a:ext cx="11940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SoftBV 2D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958388" y="6019800"/>
              <a:ext cx="2595562" cy="361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952456" y="6092190"/>
              <a:ext cx="857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−0.545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496556" y="6644640"/>
              <a:ext cx="10466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Zeo++ Df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12553950" y="6572250"/>
              <a:ext cx="2076450" cy="361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4792706" y="6644640"/>
              <a:ext cx="857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+0.436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496556" y="7197090"/>
              <a:ext cx="14013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Na–X 最长键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2553950" y="7124700"/>
              <a:ext cx="1890712" cy="3619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4611731" y="7197090"/>
              <a:ext cx="857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+0.397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496556" y="7749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畸变均值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2553950" y="7677150"/>
              <a:ext cx="2209800" cy="3619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4926056" y="7749540"/>
              <a:ext cx="857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+0.464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7505700" y="8515350"/>
            <a:ext cx="10096500" cy="781050"/>
            <a:chOff x="7505700" y="8515350"/>
            <a:chExt cx="10096500" cy="781050"/>
          </a:xfrm>
        </p:grpSpPr>
        <p:sp>
          <p:nvSpPr>
            <p:cNvPr id="77" name="Rectangle 77"/>
            <p:cNvSpPr/>
            <p:nvPr/>
          </p:nvSpPr>
          <p:spPr>
            <a:xfrm>
              <a:off x="7505700" y="8515350"/>
              <a:ext cx="10096500" cy="7810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7505700" y="8515350"/>
              <a:ext cx="133350" cy="781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875270" y="8767762"/>
              <a:ext cx="860993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材料体系与快慢标签存在关联，因此不能只看全样本相关性。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78942" y="9731692"/>
            <a:ext cx="16930116" cy="264033"/>
            <a:chOff x="678942" y="9731692"/>
            <a:chExt cx="16930116" cy="264033"/>
          </a:xfrm>
        </p:grpSpPr>
        <p:sp>
          <p:nvSpPr>
            <p:cNvPr id="81" name="TextBox 81"/>
            <p:cNvSpPr txBox="1"/>
            <p:nvPr/>
          </p:nvSpPr>
          <p:spPr>
            <a:xfrm>
              <a:off x="678942" y="9731692"/>
              <a:ext cx="60260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口径：快导体阈值用于二分类审计；连续目标仍为 log₁₀(σ / mS·cm⁻¹)。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6986523" y="973169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02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521018"/>
            <a:ext cx="16935450" cy="1162049"/>
            <a:chOff x="666750" y="521018"/>
            <a:chExt cx="16935450" cy="1162049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210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02 · 研究问题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6750" y="835342"/>
              <a:ext cx="1564669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原有描述符缺少局域宽松程度和 Na 位点连通信息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562100"/>
              <a:ext cx="16916400" cy="9525"/>
            </a:xfrm>
            <a:custGeom>
              <a:avLst/>
              <a:gdLst/>
              <a:ahLst/>
              <a:cxnLst/>
              <a:rect l="l" t="t" r="r" b="b"/>
              <a:pathLst>
                <a:path w="16916400" h="9525">
                  <a:moveTo>
                    <a:pt x="0" y="0"/>
                  </a:moveTo>
                  <a:lnTo>
                    <a:pt x="169164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85800" y="2095500"/>
            <a:ext cx="4979480" cy="5905500"/>
            <a:chOff x="685800" y="2095500"/>
            <a:chExt cx="4979480" cy="5905500"/>
          </a:xfrm>
        </p:grpSpPr>
        <p:sp>
          <p:nvSpPr>
            <p:cNvPr id="6" name="Rectangle 6"/>
            <p:cNvSpPr/>
            <p:nvPr/>
          </p:nvSpPr>
          <p:spPr>
            <a:xfrm>
              <a:off x="685800" y="2095500"/>
              <a:ext cx="4686300" cy="5905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20318" y="2431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原有研究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2698" y="2917508"/>
              <a:ext cx="4652582" cy="113042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050"/>
                </a:lnSpc>
              </a:pPr>
              <a:r>
                <a:rPr lang="zh-CN" sz="31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已有描述符能否跨材料体系预测电导率？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028700" y="40957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7270" y="4519612"/>
              <a:ext cx="110209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SoftBV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9556" y="49491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E7DF"/>
                  </a:solidFill>
                  <a:latin typeface="+mn-lt"/>
                  <a:ea typeface="+mn-ea"/>
                  <a:cs typeface="+mn-cs"/>
                </a:rPr>
                <a:t>能量连通代价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7270" y="5643562"/>
              <a:ext cx="91397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Zeo++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19556" y="60731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E7DF"/>
                  </a:solidFill>
                  <a:latin typeface="+mn-lt"/>
                  <a:ea typeface="+mn-ea"/>
                  <a:cs typeface="+mn-cs"/>
                </a:rPr>
                <a:t>宏观几何瓶颈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17270" y="6767512"/>
              <a:ext cx="161305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多面体畸变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19556" y="7197090"/>
              <a:ext cx="21556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E7DF"/>
                  </a:solidFill>
                  <a:latin typeface="+mn-lt"/>
                  <a:ea typeface="+mn-ea"/>
                  <a:cs typeface="+mn-cs"/>
                </a:rPr>
                <a:t>Na–X 键长离散程度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657850" y="2309812"/>
            <a:ext cx="6305550" cy="5944172"/>
            <a:chOff x="5657850" y="2309812"/>
            <a:chExt cx="6305550" cy="5944172"/>
          </a:xfrm>
        </p:grpSpPr>
        <p:sp>
          <p:nvSpPr>
            <p:cNvPr id="17" name="TextBox 17"/>
            <p:cNvSpPr txBox="1"/>
            <p:nvPr/>
          </p:nvSpPr>
          <p:spPr>
            <a:xfrm>
              <a:off x="7368016" y="2309812"/>
              <a:ext cx="288521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这次补充的结构信息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5657850" y="2876550"/>
              <a:ext cx="6305550" cy="9525"/>
            </a:xfrm>
            <a:custGeom>
              <a:avLst/>
              <a:gdLst/>
              <a:ahLst/>
              <a:cxnLst/>
              <a:rect l="l" t="t" r="r" b="b"/>
              <a:pathLst>
                <a:path w="6305550" h="9525">
                  <a:moveTo>
                    <a:pt x="0" y="0"/>
                  </a:moveTo>
                  <a:lnTo>
                    <a:pt x="63055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5829300" y="363855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6134100" y="3790950"/>
              <a:ext cx="5276850" cy="9525"/>
            </a:xfrm>
            <a:custGeom>
              <a:avLst/>
              <a:gdLst/>
              <a:ahLst/>
              <a:cxnLst/>
              <a:rect l="l" t="t" r="r" b="b"/>
              <a:pathLst>
                <a:path w="5276850" h="9525">
                  <a:moveTo>
                    <a:pt x="0" y="0"/>
                  </a:moveTo>
                  <a:lnTo>
                    <a:pt x="5276850" y="0"/>
                  </a:lnTo>
                </a:path>
              </a:pathLst>
            </a:custGeom>
            <a:noFill/>
            <a:ln w="76200">
              <a:solidFill>
                <a:schemeClr val="accent1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1410950" y="3638550"/>
              <a:ext cx="304800" cy="304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30518" y="3365182"/>
              <a:ext cx="6814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缺口 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27470" y="3929062"/>
              <a:ext cx="193109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相对宽松程度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30518" y="4374832"/>
              <a:ext cx="2489454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最长 Na–X 键相对正常配位键长偏长多少？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829300" y="541020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6134100" y="5562600"/>
              <a:ext cx="5276850" cy="9525"/>
            </a:xfrm>
            <a:custGeom>
              <a:avLst/>
              <a:gdLst/>
              <a:ahLst/>
              <a:cxnLst/>
              <a:rect l="l" t="t" r="r" b="b"/>
              <a:pathLst>
                <a:path w="5276850" h="9525">
                  <a:moveTo>
                    <a:pt x="0" y="0"/>
                  </a:moveTo>
                  <a:lnTo>
                    <a:pt x="5276850" y="0"/>
                  </a:lnTo>
                </a:path>
              </a:pathLst>
            </a:custGeom>
            <a:noFill/>
            <a:ln w="76200">
              <a:solidFill>
                <a:schemeClr val="accent3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1410950" y="5410200"/>
              <a:ext cx="304800" cy="304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30518" y="5136832"/>
              <a:ext cx="6814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缺口 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7470" y="5700712"/>
              <a:ext cx="178888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 位点网络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9756" y="6130290"/>
              <a:ext cx="41794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相邻 Na 位点之间能否形成连续路径？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5829300" y="718185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6134100" y="7334250"/>
              <a:ext cx="5276850" cy="9525"/>
            </a:xfrm>
            <a:custGeom>
              <a:avLst/>
              <a:gdLst/>
              <a:ahLst/>
              <a:cxnLst/>
              <a:rect l="l" t="t" r="r" b="b"/>
              <a:pathLst>
                <a:path w="5276850" h="9525">
                  <a:moveTo>
                    <a:pt x="0" y="0"/>
                  </a:moveTo>
                  <a:lnTo>
                    <a:pt x="5276850" y="0"/>
                  </a:lnTo>
                </a:path>
              </a:pathLst>
            </a:custGeom>
            <a:noFill/>
            <a:ln w="76200">
              <a:solidFill>
                <a:schemeClr val="accent3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1410950" y="7181850"/>
              <a:ext cx="304800" cy="304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30518" y="6908482"/>
              <a:ext cx="6814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缺口 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7470" y="747236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组合信息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29756" y="790194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局域宽松和配位畸变是否同时出现？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249150" y="2095500"/>
            <a:ext cx="5353050" cy="5905500"/>
            <a:chOff x="12249150" y="2095500"/>
            <a:chExt cx="5353050" cy="5905500"/>
          </a:xfrm>
        </p:grpSpPr>
        <p:sp>
          <p:nvSpPr>
            <p:cNvPr id="38" name="Rectangle 38"/>
            <p:cNvSpPr/>
            <p:nvPr/>
          </p:nvSpPr>
          <p:spPr>
            <a:xfrm>
              <a:off x="12249150" y="2095500"/>
              <a:ext cx="5353050" cy="590550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chemeClr val="accent3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2249150" y="2095500"/>
              <a:ext cx="171450" cy="5905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2736068" y="2431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本次研究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2728448" y="2746058"/>
              <a:ext cx="4232529" cy="15685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750"/>
                </a:lnSpc>
              </a:pPr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从 CIF 中构造新的结构描述符，并检查能否跨体系使用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12744450" y="4267200"/>
              <a:ext cx="4514850" cy="9525"/>
            </a:xfrm>
            <a:custGeom>
              <a:avLst/>
              <a:gdLst/>
              <a:ahLst/>
              <a:cxnLst/>
              <a:rect l="l" t="t" r="r" b="b"/>
              <a:pathLst>
                <a:path w="4514850" h="9525">
                  <a:moveTo>
                    <a:pt x="0" y="0"/>
                  </a:moveTo>
                  <a:lnTo>
                    <a:pt x="45148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2735306" y="44919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3247370" y="4443412"/>
              <a:ext cx="162306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 CIF 计算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12839700" y="4933950"/>
              <a:ext cx="9525" cy="1943100"/>
            </a:xfrm>
            <a:custGeom>
              <a:avLst/>
              <a:gdLst/>
              <a:ahLst/>
              <a:cxnLst/>
              <a:rect l="l" t="t" r="r" b="b"/>
              <a:pathLst>
                <a:path w="9525" h="1943100">
                  <a:moveTo>
                    <a:pt x="0" y="0"/>
                  </a:moveTo>
                  <a:lnTo>
                    <a:pt x="0" y="194310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2735306" y="51015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3247370" y="5053012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构造组合描述符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2735306" y="57111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3247370" y="5662612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稳健性检验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2735306" y="63207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3247370" y="6272212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确定筛选阈值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2735306" y="69303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3247370" y="6881812"/>
              <a:ext cx="13502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DFT 验证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85800" y="8401050"/>
            <a:ext cx="16916400" cy="876109"/>
            <a:chOff x="685800" y="8401050"/>
            <a:chExt cx="16916400" cy="876109"/>
          </a:xfrm>
        </p:grpSpPr>
        <p:sp>
          <p:nvSpPr>
            <p:cNvPr id="55" name="Line 55"/>
            <p:cNvSpPr/>
            <p:nvPr/>
          </p:nvSpPr>
          <p:spPr>
            <a:xfrm>
              <a:off x="685800" y="8401050"/>
              <a:ext cx="16916400" cy="9525"/>
            </a:xfrm>
            <a:custGeom>
              <a:avLst/>
              <a:gdLst/>
              <a:ahLst/>
              <a:cxnLst/>
              <a:rect l="l" t="t" r="r" b="b"/>
              <a:pathLst>
                <a:path w="16916400" h="9525">
                  <a:moveTo>
                    <a:pt x="0" y="0"/>
                  </a:moveTo>
                  <a:lnTo>
                    <a:pt x="169164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776804" y="8661082"/>
              <a:ext cx="1273439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这部分工作的重点是补充结构信息，而不是重新比较模型高低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78942" y="9731692"/>
            <a:ext cx="16930116" cy="264033"/>
            <a:chOff x="678942" y="9731692"/>
            <a:chExt cx="16930116" cy="264033"/>
          </a:xfrm>
        </p:grpSpPr>
        <p:sp>
          <p:nvSpPr>
            <p:cNvPr id="58" name="TextBox 58"/>
            <p:cNvSpPr txBox="1"/>
            <p:nvPr/>
          </p:nvSpPr>
          <p:spPr>
            <a:xfrm>
              <a:off x="678942" y="9731692"/>
              <a:ext cx="63115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多面体畸变沿用旧研究结果；局域宽松因子和 Na 位点网络是本次新增内容。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6986523" y="973169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03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521018"/>
            <a:ext cx="16935450" cy="1162049"/>
            <a:chOff x="666750" y="521018"/>
            <a:chExt cx="16935450" cy="1162049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21018"/>
              <a:ext cx="21604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03 · 相关性与跨体系验证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6750" y="835342"/>
              <a:ext cx="14331086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局域宽松因子样本内最强，多面体畸变跨体系更稳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562100"/>
              <a:ext cx="16916400" cy="9525"/>
            </a:xfrm>
            <a:custGeom>
              <a:avLst/>
              <a:gdLst/>
              <a:ahLst/>
              <a:cxnLst/>
              <a:rect l="l" t="t" r="r" b="b"/>
              <a:pathLst>
                <a:path w="16916400" h="9525">
                  <a:moveTo>
                    <a:pt x="0" y="0"/>
                  </a:moveTo>
                  <a:lnTo>
                    <a:pt x="169164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674370" y="2041208"/>
            <a:ext cx="11343398" cy="6192393"/>
            <a:chOff x="674370" y="2041208"/>
            <a:chExt cx="11343398" cy="6192393"/>
          </a:xfrm>
        </p:grpSpPr>
        <p:sp>
          <p:nvSpPr>
            <p:cNvPr id="6" name="TextBox 6"/>
            <p:cNvSpPr txBox="1"/>
            <p:nvPr/>
          </p:nvSpPr>
          <p:spPr>
            <a:xfrm>
              <a:off x="677418" y="2184082"/>
              <a:ext cx="6639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有符号 Spearman ρ；同一描述符并列比较全样本、LOFO、LOAO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372350" y="2057400"/>
              <a:ext cx="171450" cy="171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49718" y="204120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全样本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858250" y="2057400"/>
              <a:ext cx="171450" cy="1714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135618" y="2041208"/>
              <a:ext cx="6269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LOFO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0191750" y="2057400"/>
              <a:ext cx="171450" cy="171450"/>
            </a:xfrm>
            <a:prstGeom prst="rect">
              <a:avLst/>
            </a:prstGeom>
            <a:solidFill>
              <a:srgbClr val="5E667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469118" y="2041208"/>
              <a:ext cx="6269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LOAO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674370" y="2628900"/>
              <a:ext cx="11343398" cy="5604701"/>
              <a:chOff x="674370" y="2628900"/>
              <a:chExt cx="11343398" cy="5604701"/>
            </a:xfrm>
          </p:grpSpPr>
          <p:sp>
            <p:nvSpPr>
              <p:cNvPr id="13" name="Line 13"/>
              <p:cNvSpPr/>
              <p:nvPr/>
            </p:nvSpPr>
            <p:spPr>
              <a:xfrm>
                <a:off x="4095750" y="2628900"/>
                <a:ext cx="771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715250" h="9525">
                    <a:moveTo>
                      <a:pt x="0" y="0"/>
                    </a:moveTo>
                    <a:lnTo>
                      <a:pt x="771525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4095750" y="7810500"/>
                <a:ext cx="771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715250" h="9525">
                    <a:moveTo>
                      <a:pt x="0" y="0"/>
                    </a:moveTo>
                    <a:lnTo>
                      <a:pt x="771525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4095750" y="2628900"/>
                <a:ext cx="9525" cy="5181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181600">
                    <a:moveTo>
                      <a:pt x="0" y="0"/>
                    </a:moveTo>
                    <a:lnTo>
                      <a:pt x="0" y="518160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7953375" y="2628900"/>
                <a:ext cx="9525" cy="5181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181600">
                    <a:moveTo>
                      <a:pt x="0" y="0"/>
                    </a:moveTo>
                    <a:lnTo>
                      <a:pt x="0" y="518160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11811000" y="2628900"/>
                <a:ext cx="9525" cy="5181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181600">
                    <a:moveTo>
                      <a:pt x="0" y="0"/>
                    </a:moveTo>
                    <a:lnTo>
                      <a:pt x="0" y="518160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3888981" y="7969568"/>
                <a:ext cx="41353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−0.6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896539" y="796956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0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1604231" y="7969568"/>
                <a:ext cx="41353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+0.6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74370" y="2976562"/>
                <a:ext cx="1295019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局域宽松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7953375" y="2800350"/>
                <a:ext cx="3838384" cy="26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7953375" y="3124200"/>
                <a:ext cx="1260158" cy="266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7953375" y="3448050"/>
                <a:ext cx="1742408" cy="266700"/>
              </a:xfrm>
              <a:prstGeom prst="rect">
                <a:avLst/>
              </a:prstGeom>
              <a:solidFill>
                <a:srgbClr val="5E6670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1279376" y="2864168"/>
                <a:ext cx="5384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0.597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318117" y="3188018"/>
                <a:ext cx="5384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0.196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803892" y="3511868"/>
                <a:ext cx="5384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0.271</a:t>
                </a:r>
              </a:p>
            </p:txBody>
          </p:sp>
          <p:sp>
            <p:nvSpPr>
              <p:cNvPr id="28" name="Line 28"/>
              <p:cNvSpPr/>
              <p:nvPr/>
            </p:nvSpPr>
            <p:spPr>
              <a:xfrm>
                <a:off x="685800" y="40005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19050">
                <a:solidFill>
                  <a:srgbClr val="EAE7DF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74370" y="4271962"/>
                <a:ext cx="1295019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畸变均值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7953375" y="4095750"/>
                <a:ext cx="2983230" cy="26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7953375" y="4419600"/>
                <a:ext cx="3336893" cy="266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7953375" y="4743450"/>
                <a:ext cx="3581210" cy="266700"/>
              </a:xfrm>
              <a:prstGeom prst="rect">
                <a:avLst/>
              </a:prstGeom>
              <a:solidFill>
                <a:srgbClr val="5E6670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1061192" y="4159568"/>
                <a:ext cx="5384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0.464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1413617" y="4483418"/>
                <a:ext cx="5384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0.519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1003151" y="4807268"/>
                <a:ext cx="5384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0.557</a:t>
                </a:r>
              </a:p>
            </p:txBody>
          </p:sp>
          <p:sp>
            <p:nvSpPr>
              <p:cNvPr id="36" name="Line 36"/>
              <p:cNvSpPr/>
              <p:nvPr/>
            </p:nvSpPr>
            <p:spPr>
              <a:xfrm>
                <a:off x="685800" y="52959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19050">
                <a:solidFill>
                  <a:srgbClr val="EAE7DF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74370" y="5567362"/>
                <a:ext cx="1372609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Zeo++ Df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7953375" y="5391150"/>
                <a:ext cx="2803208" cy="26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7953375" y="5715000"/>
                <a:ext cx="1928812" cy="266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7953375" y="6038850"/>
                <a:ext cx="2108835" cy="266700"/>
              </a:xfrm>
              <a:prstGeom prst="rect">
                <a:avLst/>
              </a:prstGeom>
              <a:solidFill>
                <a:srgbClr val="5E6670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10870692" y="5454968"/>
                <a:ext cx="5384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0.436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994392" y="5778818"/>
                <a:ext cx="5384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0.300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0175367" y="6102668"/>
                <a:ext cx="5384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0.328</a:t>
                </a:r>
              </a:p>
            </p:txBody>
          </p:sp>
          <p:sp>
            <p:nvSpPr>
              <p:cNvPr id="44" name="Line 44"/>
              <p:cNvSpPr/>
              <p:nvPr/>
            </p:nvSpPr>
            <p:spPr>
              <a:xfrm>
                <a:off x="685800" y="65913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19050">
                <a:solidFill>
                  <a:srgbClr val="EAE7DF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74370" y="6862762"/>
                <a:ext cx="156599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SoftBV 2D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4449413" y="6686550"/>
                <a:ext cx="3504057" cy="266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6519672" y="7010400"/>
                <a:ext cx="1433798" cy="266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7953375" y="7334250"/>
                <a:ext cx="64294" cy="266700"/>
              </a:xfrm>
              <a:prstGeom prst="rect">
                <a:avLst/>
              </a:prstGeom>
              <a:solidFill>
                <a:srgbClr val="5E6670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4565142" y="6750368"/>
                <a:ext cx="6434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−0.545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622542" y="7074218"/>
                <a:ext cx="6434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−0.223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127492" y="7398068"/>
                <a:ext cx="5384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0.010</a:t>
                </a: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12611100" y="2119312"/>
            <a:ext cx="4991100" cy="4254627"/>
            <a:chOff x="12611100" y="2119312"/>
            <a:chExt cx="4991100" cy="4254627"/>
          </a:xfrm>
        </p:grpSpPr>
        <p:sp>
          <p:nvSpPr>
            <p:cNvPr id="54" name="TextBox 54"/>
            <p:cNvSpPr txBox="1"/>
            <p:nvPr/>
          </p:nvSpPr>
          <p:spPr>
            <a:xfrm>
              <a:off x="12618720" y="2119312"/>
              <a:ext cx="22491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组合描述符结果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12630150" y="2571750"/>
              <a:ext cx="4972050" cy="9525"/>
            </a:xfrm>
            <a:custGeom>
              <a:avLst/>
              <a:gdLst/>
              <a:ahLst/>
              <a:cxnLst/>
              <a:rect l="l" t="t" r="r" b="b"/>
              <a:pathLst>
                <a:path w="4972050" h="9525">
                  <a:moveTo>
                    <a:pt x="0" y="0"/>
                  </a:moveTo>
                  <a:lnTo>
                    <a:pt x="49720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2611100" y="2969895"/>
              <a:ext cx="1554089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0.755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4373606" y="3120390"/>
              <a:ext cx="21487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局域宽松 + Na 网络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4374368" y="3460432"/>
              <a:ext cx="10457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Spearman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12630150" y="3962400"/>
              <a:ext cx="4972050" cy="9525"/>
            </a:xfrm>
            <a:custGeom>
              <a:avLst/>
              <a:gdLst/>
              <a:ahLst/>
              <a:cxnLst/>
              <a:rect l="l" t="t" r="r" b="b"/>
              <a:pathLst>
                <a:path w="4972050" h="9525">
                  <a:moveTo>
                    <a:pt x="0" y="0"/>
                  </a:moveTo>
                  <a:lnTo>
                    <a:pt x="4972050" y="0"/>
                  </a:lnTo>
                </a:path>
              </a:pathLst>
            </a:custGeom>
            <a:noFill/>
            <a:ln w="19050">
              <a:solidFill>
                <a:srgbClr val="EAE7DF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2611100" y="4265295"/>
              <a:ext cx="1554089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0.793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4373606" y="44157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加入已发表基线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4374368" y="4755832"/>
              <a:ext cx="10457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Spearman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12630150" y="5257800"/>
              <a:ext cx="4972050" cy="9525"/>
            </a:xfrm>
            <a:custGeom>
              <a:avLst/>
              <a:gdLst/>
              <a:ahLst/>
              <a:cxnLst/>
              <a:rect l="l" t="t" r="r" b="b"/>
              <a:pathLst>
                <a:path w="4972050" h="9525">
                  <a:moveTo>
                    <a:pt x="0" y="0"/>
                  </a:moveTo>
                  <a:lnTo>
                    <a:pt x="4972050" y="0"/>
                  </a:lnTo>
                </a:path>
              </a:pathLst>
            </a:custGeom>
            <a:noFill/>
            <a:ln w="19050">
              <a:solidFill>
                <a:srgbClr val="EAE7DF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2611100" y="5560695"/>
              <a:ext cx="1554089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0.897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4373606" y="5711190"/>
              <a:ext cx="16440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分类 ROC-AUC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4374368" y="6051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组合模型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2630150" y="6705600"/>
            <a:ext cx="4972050" cy="1219200"/>
            <a:chOff x="12630150" y="6705600"/>
            <a:chExt cx="4972050" cy="1219200"/>
          </a:xfrm>
        </p:grpSpPr>
        <p:sp>
          <p:nvSpPr>
            <p:cNvPr id="68" name="Rectangle 68"/>
            <p:cNvSpPr/>
            <p:nvPr/>
          </p:nvSpPr>
          <p:spPr>
            <a:xfrm>
              <a:off x="12630150" y="6705600"/>
              <a:ext cx="4972050" cy="1219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2957048" y="6860858"/>
              <a:ext cx="8557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98%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4373606" y="6968490"/>
              <a:ext cx="19316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Bootstrap Top3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4374368" y="73466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特征排序稳定性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2630150" y="8172450"/>
            <a:ext cx="4972050" cy="1123950"/>
            <a:chOff x="12630150" y="8172450"/>
            <a:chExt cx="4972050" cy="1123950"/>
          </a:xfrm>
        </p:grpSpPr>
        <p:sp>
          <p:nvSpPr>
            <p:cNvPr id="73" name="Rectangle 73"/>
            <p:cNvSpPr/>
            <p:nvPr/>
          </p:nvSpPr>
          <p:spPr>
            <a:xfrm>
              <a:off x="12630150" y="8172450"/>
              <a:ext cx="4972050" cy="11239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12630150" y="8172450"/>
              <a:ext cx="133350" cy="1123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2944856" y="8435340"/>
              <a:ext cx="17940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Cl 组 ρ≈−0.035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2945618" y="8813482"/>
              <a:ext cx="38071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DML 只能说明控制混杂后仍有关联。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678942" y="9731692"/>
            <a:ext cx="16930116" cy="264033"/>
            <a:chOff x="678942" y="9731692"/>
            <a:chExt cx="16930116" cy="264033"/>
          </a:xfrm>
        </p:grpSpPr>
        <p:sp>
          <p:nvSpPr>
            <p:cNvPr id="78" name="TextBox 78"/>
            <p:cNvSpPr txBox="1"/>
            <p:nvPr/>
          </p:nvSpPr>
          <p:spPr>
            <a:xfrm>
              <a:off x="678942" y="9731692"/>
              <a:ext cx="66385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先看全样本结果，再比较 LOFO、LOAO，最后检查不同化学体系中的适用性。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6986523" y="973169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04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521018"/>
            <a:ext cx="16935450" cy="1162049"/>
            <a:chOff x="666750" y="521018"/>
            <a:chExt cx="16935450" cy="1162049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21018"/>
              <a:ext cx="23513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04 · 描述符含义与阈值选择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6750" y="835342"/>
              <a:ext cx="13031724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四个初筛描述符主要反映局域宽松和配位畸变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562100"/>
              <a:ext cx="16916400" cy="9525"/>
            </a:xfrm>
            <a:custGeom>
              <a:avLst/>
              <a:gdLst/>
              <a:ahLst/>
              <a:cxnLst/>
              <a:rect l="l" t="t" r="r" b="b"/>
              <a:pathLst>
                <a:path w="16916400" h="9525">
                  <a:moveTo>
                    <a:pt x="0" y="0"/>
                  </a:moveTo>
                  <a:lnTo>
                    <a:pt x="169164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85800" y="1866900"/>
            <a:ext cx="8229600" cy="3409950"/>
            <a:chOff x="685800" y="1866900"/>
            <a:chExt cx="8229600" cy="3409950"/>
          </a:xfrm>
        </p:grpSpPr>
        <p:sp>
          <p:nvSpPr>
            <p:cNvPr id="6" name="Rectangle 6"/>
            <p:cNvSpPr/>
            <p:nvPr/>
          </p:nvSpPr>
          <p:spPr>
            <a:xfrm>
              <a:off x="685800" y="1866900"/>
              <a:ext cx="8229600" cy="34099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866900"/>
              <a:ext cx="133350" cy="3409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418" y="2126932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结构信息 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50798" y="2460308"/>
              <a:ext cx="394521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局域宽松因子 L</a:t>
              </a:r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6800" y="3028950"/>
              <a:ext cx="3981450" cy="11430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1058418" y="4336732"/>
              <a:ext cx="4543044" cy="6656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分子：第一配位壳层最长 Na–X 键分母：主配位数对应 Shannon 半径 + 阴离子半径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515100" y="2857500"/>
              <a:ext cx="723900" cy="476250"/>
            </a:xfrm>
            <a:custGeom>
              <a:avLst/>
              <a:gdLst/>
              <a:ahLst/>
              <a:cxnLst/>
              <a:rect l="l" t="t" r="r" b="b"/>
              <a:pathLst>
                <a:path w="723900" h="476250">
                  <a:moveTo>
                    <a:pt x="0" y="476250"/>
                  </a:moveTo>
                  <a:lnTo>
                    <a:pt x="723900" y="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515100" y="3276600"/>
              <a:ext cx="1219200" cy="57150"/>
            </a:xfrm>
            <a:custGeom>
              <a:avLst/>
              <a:gdLst/>
              <a:ahLst/>
              <a:cxnLst/>
              <a:rect l="l" t="t" r="r" b="b"/>
              <a:pathLst>
                <a:path w="1219200" h="57150">
                  <a:moveTo>
                    <a:pt x="0" y="57150"/>
                  </a:moveTo>
                  <a:lnTo>
                    <a:pt x="1219200" y="0"/>
                  </a:lnTo>
                </a:path>
              </a:pathLst>
            </a:custGeom>
            <a:noFill/>
            <a:ln w="76200">
              <a:solidFill>
                <a:schemeClr val="accent2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515100" y="3333750"/>
              <a:ext cx="609600" cy="666750"/>
            </a:xfrm>
            <a:custGeom>
              <a:avLst/>
              <a:gdLst/>
              <a:ahLst/>
              <a:cxnLst/>
              <a:rect l="l" t="t" r="r" b="b"/>
              <a:pathLst>
                <a:path w="609600" h="666750">
                  <a:moveTo>
                    <a:pt x="0" y="0"/>
                  </a:moveTo>
                  <a:lnTo>
                    <a:pt x="609600" y="66675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5905500" y="3333750"/>
              <a:ext cx="609600" cy="666750"/>
            </a:xfrm>
            <a:custGeom>
              <a:avLst/>
              <a:gdLst/>
              <a:ahLst/>
              <a:cxnLst/>
              <a:rect l="l" t="t" r="r" b="b"/>
              <a:pathLst>
                <a:path w="609600" h="666750">
                  <a:moveTo>
                    <a:pt x="609600" y="0"/>
                  </a:moveTo>
                  <a:lnTo>
                    <a:pt x="0" y="66675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5791200" y="2857500"/>
              <a:ext cx="723900" cy="476250"/>
            </a:xfrm>
            <a:custGeom>
              <a:avLst/>
              <a:gdLst/>
              <a:ahLst/>
              <a:cxnLst/>
              <a:rect l="l" t="t" r="r" b="b"/>
              <a:pathLst>
                <a:path w="723900" h="476250">
                  <a:moveTo>
                    <a:pt x="723900" y="47625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6248400" y="306705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74812" y="3241358"/>
              <a:ext cx="280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Na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067550" y="2686050"/>
              <a:ext cx="342900" cy="3429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7562850" y="3105150"/>
              <a:ext cx="342900" cy="3429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6953250" y="3829050"/>
              <a:ext cx="342900" cy="3429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5734050" y="3829050"/>
              <a:ext cx="342900" cy="3429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5619750" y="2686050"/>
              <a:ext cx="342900" cy="3429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16368" y="3555682"/>
              <a:ext cx="576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dmax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39918" y="4431982"/>
              <a:ext cx="30487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最长键相对正常键长是否偏长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39918" y="4793932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只表示局域结构，不等于迁移势垒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182100" y="1866900"/>
            <a:ext cx="8420100" cy="3409950"/>
            <a:chOff x="9182100" y="1866900"/>
            <a:chExt cx="8420100" cy="3409950"/>
          </a:xfrm>
        </p:grpSpPr>
        <p:sp>
          <p:nvSpPr>
            <p:cNvPr id="28" name="Rectangle 28"/>
            <p:cNvSpPr/>
            <p:nvPr/>
          </p:nvSpPr>
          <p:spPr>
            <a:xfrm>
              <a:off x="9182100" y="1866900"/>
              <a:ext cx="8420100" cy="34099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9182100" y="1866900"/>
              <a:ext cx="133350" cy="34099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554718" y="2126932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结构信息 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47098" y="2460308"/>
              <a:ext cx="451648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多面体畸变均值 D</a:t>
              </a:r>
            </a:p>
          </p:txBody>
        </p:sp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63100" y="3028950"/>
              <a:ext cx="5619750" cy="1143000"/>
            </a:xfrm>
            <a:prstGeom prst="rect">
              <a:avLst/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9554718" y="4336732"/>
              <a:ext cx="3128582" cy="6656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 Na 位点：键长标准差 / 均值再对所有 Na 位点取平均</a:t>
              </a:r>
            </a:p>
          </p:txBody>
        </p:sp>
        <p:sp>
          <p:nvSpPr>
            <p:cNvPr id="34" name="Polygon 34"/>
            <p:cNvSpPr/>
            <p:nvPr/>
          </p:nvSpPr>
          <p:spPr>
            <a:xfrm>
              <a:off x="15316200" y="2857500"/>
              <a:ext cx="1638300" cy="1238250"/>
            </a:xfrm>
            <a:custGeom>
              <a:avLst/>
              <a:gdLst/>
              <a:ahLst/>
              <a:cxnLst/>
              <a:rect l="l" t="t" r="r" b="b"/>
              <a:pathLst>
                <a:path w="1638300" h="1238250">
                  <a:moveTo>
                    <a:pt x="876300" y="0"/>
                  </a:moveTo>
                  <a:lnTo>
                    <a:pt x="1638300" y="285750"/>
                  </a:lnTo>
                  <a:lnTo>
                    <a:pt x="1447800" y="1238250"/>
                  </a:lnTo>
                  <a:lnTo>
                    <a:pt x="381000" y="112395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chemeClr val="lt2"/>
            </a:solidFill>
            <a:ln w="38100">
              <a:solidFill>
                <a:schemeClr val="accent3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16154400" y="2857500"/>
              <a:ext cx="38100" cy="590550"/>
            </a:xfrm>
            <a:custGeom>
              <a:avLst/>
              <a:gdLst/>
              <a:ahLst/>
              <a:cxnLst/>
              <a:rect l="l" t="t" r="r" b="b"/>
              <a:pathLst>
                <a:path w="38100" h="590550">
                  <a:moveTo>
                    <a:pt x="0" y="590550"/>
                  </a:moveTo>
                  <a:lnTo>
                    <a:pt x="381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16154400" y="3143250"/>
              <a:ext cx="800100" cy="304800"/>
            </a:xfrm>
            <a:custGeom>
              <a:avLst/>
              <a:gdLst/>
              <a:ahLst/>
              <a:cxnLst/>
              <a:rect l="l" t="t" r="r" b="b"/>
              <a:pathLst>
                <a:path w="800100" h="304800">
                  <a:moveTo>
                    <a:pt x="0" y="304800"/>
                  </a:moveTo>
                  <a:lnTo>
                    <a:pt x="800100" y="0"/>
                  </a:lnTo>
                </a:path>
              </a:pathLst>
            </a:custGeom>
            <a:noFill/>
            <a:ln w="66675">
              <a:solidFill>
                <a:schemeClr val="accent2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16154400" y="3448050"/>
              <a:ext cx="609600" cy="647700"/>
            </a:xfrm>
            <a:custGeom>
              <a:avLst/>
              <a:gdLst/>
              <a:ahLst/>
              <a:cxnLst/>
              <a:rect l="l" t="t" r="r" b="b"/>
              <a:pathLst>
                <a:path w="609600" h="647700">
                  <a:moveTo>
                    <a:pt x="0" y="0"/>
                  </a:moveTo>
                  <a:lnTo>
                    <a:pt x="609600" y="64770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15697200" y="3448050"/>
              <a:ext cx="457200" cy="533400"/>
            </a:xfrm>
            <a:custGeom>
              <a:avLst/>
              <a:gdLst/>
              <a:ahLst/>
              <a:cxnLst/>
              <a:rect l="l" t="t" r="r" b="b"/>
              <a:pathLst>
                <a:path w="457200" h="533400">
                  <a:moveTo>
                    <a:pt x="457200" y="0"/>
                  </a:moveTo>
                  <a:lnTo>
                    <a:pt x="0" y="5334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15316200" y="3276600"/>
              <a:ext cx="838200" cy="171450"/>
            </a:xfrm>
            <a:custGeom>
              <a:avLst/>
              <a:gdLst/>
              <a:ahLst/>
              <a:cxnLst/>
              <a:rect l="l" t="t" r="r" b="b"/>
              <a:pathLst>
                <a:path w="838200" h="171450">
                  <a:moveTo>
                    <a:pt x="838200" y="17145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5887700" y="318135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6014112" y="3355658"/>
              <a:ext cx="280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Na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5117318" y="4431982"/>
              <a:ext cx="23160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Na–X 键长的离散程度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5117318" y="47939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过大也可能对应局域陷阱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85800" y="5543550"/>
            <a:ext cx="16916400" cy="876300"/>
            <a:chOff x="685800" y="5543550"/>
            <a:chExt cx="16916400" cy="876300"/>
          </a:xfrm>
        </p:grpSpPr>
        <p:sp>
          <p:nvSpPr>
            <p:cNvPr id="45" name="Rectangle 45"/>
            <p:cNvSpPr/>
            <p:nvPr/>
          </p:nvSpPr>
          <p:spPr>
            <a:xfrm>
              <a:off x="685800" y="5543550"/>
              <a:ext cx="16916400" cy="876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17270" y="5834062"/>
              <a:ext cx="22491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两个组合描述符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943856" y="5882640"/>
              <a:ext cx="16716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 × L ≥ 0.040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78268" y="58988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E7DF"/>
                  </a:solidFill>
                  <a:latin typeface="+mn-lt"/>
                  <a:ea typeface="+mn-ea"/>
                  <a:cs typeface="+mn-cs"/>
                </a:rPr>
                <a:t>畸变加权宽松比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10287000" y="57912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696956" y="5882640"/>
              <a:ext cx="20767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 × dmax ≥ 0.127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3688568" y="58988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E7DF"/>
                  </a:solidFill>
                  <a:latin typeface="+mn-lt"/>
                  <a:ea typeface="+mn-ea"/>
                  <a:cs typeface="+mn-cs"/>
                </a:rPr>
                <a:t>保留绝对键长尺度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3780389" y="59312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C9C5BC"/>
                  </a:solidFill>
                  <a:latin typeface="+mn-lt"/>
                  <a:ea typeface="+mn-ea"/>
                  <a:cs typeface="+mn-cs"/>
                </a:rPr>
                <a:t>同时保留畸变和键长信息，不是两个新机制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674370" y="6786562"/>
            <a:ext cx="16927830" cy="2195513"/>
            <a:chOff x="674370" y="6786562"/>
            <a:chExt cx="16927830" cy="2195513"/>
          </a:xfrm>
        </p:grpSpPr>
        <p:sp>
          <p:nvSpPr>
            <p:cNvPr id="54" name="TextBox 54"/>
            <p:cNvSpPr txBox="1"/>
            <p:nvPr/>
          </p:nvSpPr>
          <p:spPr>
            <a:xfrm>
              <a:off x="674370" y="6786562"/>
              <a:ext cx="193109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阈值选择方法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685800" y="7239000"/>
              <a:ext cx="16916400" cy="9525"/>
            </a:xfrm>
            <a:custGeom>
              <a:avLst/>
              <a:gdLst/>
              <a:ahLst/>
              <a:cxnLst/>
              <a:rect l="l" t="t" r="r" b="b"/>
              <a:pathLst>
                <a:path w="16916400" h="9525">
                  <a:moveTo>
                    <a:pt x="0" y="0"/>
                  </a:moveTo>
                  <a:lnTo>
                    <a:pt x="169164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1104900" y="746760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279669" y="76923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895856" y="75018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定义快导体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896618" y="7841932"/>
              <a:ext cx="17914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σ ≥ 0.1 mS·cm⁻¹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4000500" y="779145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4953000" y="746760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127769" y="76923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743956" y="7501890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遍历候选 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744718" y="78419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遍历每个描述符值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7962900" y="779145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8915400" y="74676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090169" y="76923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706356" y="75018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按阈值分类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707118" y="7841932"/>
              <a:ext cx="15605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descriptor ≥ t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12192000" y="779145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13144500" y="74676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3319269" y="76923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3935456" y="75018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选择最优阈值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3936218" y="7841932"/>
              <a:ext cx="25109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Balanced Accuracy 最大</a:t>
              </a:r>
            </a:p>
          </p:txBody>
        </p:sp>
        <p:pic>
          <p:nvPicPr>
            <p:cNvPr id="75" name="Image 7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38581" y="8267700"/>
              <a:ext cx="6810837" cy="714375"/>
            </a:xfrm>
            <a:prstGeom prst="rect">
              <a:avLst/>
            </a:prstGeom>
          </p:spPr>
        </p:pic>
        <p:sp>
          <p:nvSpPr>
            <p:cNvPr id="76" name="TextBox 76"/>
            <p:cNvSpPr txBox="1"/>
            <p:nvPr/>
          </p:nvSpPr>
          <p:spPr>
            <a:xfrm>
              <a:off x="677418" y="8356282"/>
              <a:ext cx="11133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L ≥ 1.118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2620518" y="8356282"/>
              <a:ext cx="11133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 ≥ 0.043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3707618" y="8356282"/>
              <a:ext cx="13844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D×L ≥ 0.040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5745968" y="8356282"/>
              <a:ext cx="17621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D×dmax ≥ 0.127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685800" y="8972550"/>
            <a:ext cx="16916400" cy="552450"/>
            <a:chOff x="685800" y="8972550"/>
            <a:chExt cx="16916400" cy="552450"/>
          </a:xfrm>
        </p:grpSpPr>
        <p:sp>
          <p:nvSpPr>
            <p:cNvPr id="81" name="Rectangle 81"/>
            <p:cNvSpPr/>
            <p:nvPr/>
          </p:nvSpPr>
          <p:spPr>
            <a:xfrm>
              <a:off x="685800" y="8972550"/>
              <a:ext cx="542925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115050" y="8972550"/>
              <a:ext cx="4495800" cy="5524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10610850" y="8972550"/>
              <a:ext cx="6991350" cy="5524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982218" y="9156382"/>
              <a:ext cx="6581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&lt;1.09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2106168" y="9156382"/>
              <a:ext cx="1604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慢导体富集 ≈4%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449568" y="9156382"/>
              <a:ext cx="6581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1.118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535418" y="91563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本数据集筛选阈值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945368" y="9156382"/>
              <a:ext cx="6581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≥1.19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2107418" y="9156382"/>
              <a:ext cx="23723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快导体富集 ≈77%–79%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678942" y="9731692"/>
            <a:ext cx="16930116" cy="264033"/>
            <a:chOff x="678942" y="9731692"/>
            <a:chExt cx="16930116" cy="264033"/>
          </a:xfrm>
        </p:grpSpPr>
        <p:sp>
          <p:nvSpPr>
            <p:cNvPr id="91" name="TextBox 91"/>
            <p:cNvSpPr txBox="1"/>
            <p:nvPr/>
          </p:nvSpPr>
          <p:spPr>
            <a:xfrm>
              <a:off x="678942" y="9731692"/>
              <a:ext cx="55112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边界：阈值是当前 103 个样本上的经验操作线，不是普适物理常数。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6986523" y="973169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05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521018"/>
            <a:ext cx="16935450" cy="1552575"/>
            <a:chOff x="666750" y="521018"/>
            <a:chExt cx="16935450" cy="1552575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21018"/>
              <a:ext cx="17788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05 · 开源数据库筛选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6750" y="616268"/>
              <a:ext cx="6563916" cy="1457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800"/>
                </a:lnSpc>
              </a:pPr>
              <a:r>
                <a:rPr lang="zh-CN" sz="4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四阈值筛出 837 个结构，复筛后保留 10 个做 DFT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885950"/>
              <a:ext cx="16916400" cy="9525"/>
            </a:xfrm>
            <a:custGeom>
              <a:avLst/>
              <a:gdLst/>
              <a:ahLst/>
              <a:cxnLst/>
              <a:rect l="l" t="t" r="r" b="b"/>
              <a:pathLst>
                <a:path w="16916400" h="9525">
                  <a:moveTo>
                    <a:pt x="0" y="0"/>
                  </a:moveTo>
                  <a:lnTo>
                    <a:pt x="169164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74370" y="2328862"/>
            <a:ext cx="4011930" cy="4910138"/>
            <a:chOff x="674370" y="2328862"/>
            <a:chExt cx="4011930" cy="4910138"/>
          </a:xfrm>
        </p:grpSpPr>
        <p:sp>
          <p:nvSpPr>
            <p:cNvPr id="6" name="TextBox 6"/>
            <p:cNvSpPr txBox="1"/>
            <p:nvPr/>
          </p:nvSpPr>
          <p:spPr>
            <a:xfrm>
              <a:off x="674370" y="2328862"/>
              <a:ext cx="22491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四阈值筛选结果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7418" y="27365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按材料体系统计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333750"/>
              <a:ext cx="3219450" cy="1047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1456" y="3568065"/>
              <a:ext cx="10398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NASICON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849776" y="3698558"/>
              <a:ext cx="7666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31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697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3905250" y="3857625"/>
              <a:ext cx="781050" cy="9525"/>
            </a:xfrm>
            <a:custGeom>
              <a:avLst/>
              <a:gdLst/>
              <a:ahLst/>
              <a:cxnLst/>
              <a:rect l="l" t="t" r="r" b="b"/>
              <a:pathLst>
                <a:path w="781050" h="9525">
                  <a:moveTo>
                    <a:pt x="0" y="0"/>
                  </a:moveTo>
                  <a:lnTo>
                    <a:pt x="781050" y="0"/>
                  </a:lnTo>
                </a:path>
              </a:pathLst>
            </a:custGeom>
            <a:noFill/>
            <a:ln w="76200">
              <a:solidFill>
                <a:schemeClr val="accent1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85800" y="4762500"/>
              <a:ext cx="3219450" cy="1047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1456" y="499681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硫化物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94667" y="51273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31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41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905250" y="5286375"/>
              <a:ext cx="781050" cy="9525"/>
            </a:xfrm>
            <a:custGeom>
              <a:avLst/>
              <a:gdLst/>
              <a:ahLst/>
              <a:cxnLst/>
              <a:rect l="l" t="t" r="r" b="b"/>
              <a:pathLst>
                <a:path w="781050" h="9525">
                  <a:moveTo>
                    <a:pt x="0" y="0"/>
                  </a:moveTo>
                  <a:lnTo>
                    <a:pt x="781050" y="0"/>
                  </a:lnTo>
                </a:path>
              </a:pathLst>
            </a:custGeom>
            <a:noFill/>
            <a:ln w="76200">
              <a:solidFill>
                <a:schemeClr val="accent3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85800" y="6191250"/>
              <a:ext cx="3219450" cy="1047750"/>
            </a:xfrm>
            <a:prstGeom prst="rect">
              <a:avLst/>
            </a:prstGeom>
            <a:solidFill>
              <a:srgbClr val="5E667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1456" y="642556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卤化物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94667" y="655605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31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99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3905250" y="6715125"/>
              <a:ext cx="781050" cy="9525"/>
            </a:xfrm>
            <a:custGeom>
              <a:avLst/>
              <a:gdLst/>
              <a:ahLst/>
              <a:cxnLst/>
              <a:rect l="l" t="t" r="r" b="b"/>
              <a:pathLst>
                <a:path w="781050" h="9525">
                  <a:moveTo>
                    <a:pt x="0" y="0"/>
                  </a:moveTo>
                  <a:lnTo>
                    <a:pt x="781050" y="0"/>
                  </a:lnTo>
                </a:path>
              </a:pathLst>
            </a:custGeom>
            <a:noFill/>
            <a:ln w="76200">
              <a:solidFill>
                <a:srgbClr val="5E6670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4686300" y="2328862"/>
            <a:ext cx="7143750" cy="5195888"/>
            <a:chOff x="4686300" y="2328862"/>
            <a:chExt cx="7143750" cy="5195888"/>
          </a:xfrm>
        </p:grpSpPr>
        <p:sp>
          <p:nvSpPr>
            <p:cNvPr id="21" name="TextBox 21"/>
            <p:cNvSpPr txBox="1"/>
            <p:nvPr/>
          </p:nvSpPr>
          <p:spPr>
            <a:xfrm>
              <a:off x="5036820" y="2328862"/>
              <a:ext cx="193109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四个筛选条件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006584" y="23936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同时满足四个条件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4686300" y="3048000"/>
              <a:ext cx="7143750" cy="4476750"/>
              <a:chOff x="4686300" y="3048000"/>
              <a:chExt cx="7143750" cy="4476750"/>
            </a:xfrm>
          </p:grpSpPr>
          <p:sp>
            <p:nvSpPr>
              <p:cNvPr id="23" name="Polygon 23"/>
              <p:cNvSpPr/>
              <p:nvPr/>
            </p:nvSpPr>
            <p:spPr>
              <a:xfrm>
                <a:off x="4686300" y="3048000"/>
                <a:ext cx="7143750" cy="4476750"/>
              </a:xfrm>
              <a:custGeom>
                <a:avLst/>
                <a:gdLst/>
                <a:ahLst/>
                <a:cxnLst/>
                <a:rect l="l" t="t" r="r" b="b"/>
                <a:pathLst>
                  <a:path w="7143750" h="4476750">
                    <a:moveTo>
                      <a:pt x="0" y="0"/>
                    </a:moveTo>
                    <a:lnTo>
                      <a:pt x="7143750" y="0"/>
                    </a:lnTo>
                    <a:lnTo>
                      <a:pt x="6248400" y="4476750"/>
                    </a:lnTo>
                    <a:lnTo>
                      <a:pt x="895350" y="4476750"/>
                    </a:lnTo>
                    <a:close/>
                  </a:path>
                </a:pathLst>
              </a:custGeom>
              <a:solidFill>
                <a:schemeClr val="lt2"/>
              </a:solidFill>
              <a:ln w="38100">
                <a:solidFill>
                  <a:schemeClr val="accent1"/>
                </a:solidFill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4857750" y="3905250"/>
                <a:ext cx="6800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800850" h="9525">
                    <a:moveTo>
                      <a:pt x="0" y="0"/>
                    </a:moveTo>
                    <a:lnTo>
                      <a:pt x="6800850" y="0"/>
                    </a:lnTo>
                  </a:path>
                </a:pathLst>
              </a:custGeom>
              <a:noFill/>
              <a:ln w="57150">
                <a:solidFill>
                  <a:schemeClr val="accent2"/>
                </a:solidFill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5029200" y="4762500"/>
                <a:ext cx="6457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457950" h="9525">
                    <a:moveTo>
                      <a:pt x="0" y="0"/>
                    </a:moveTo>
                    <a:lnTo>
                      <a:pt x="6457950" y="0"/>
                    </a:lnTo>
                  </a:path>
                </a:pathLst>
              </a:custGeom>
              <a:noFill/>
              <a:ln w="57150">
                <a:solidFill>
                  <a:schemeClr val="accent2"/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5200650" y="5619750"/>
                <a:ext cx="6115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15050" h="9525">
                    <a:moveTo>
                      <a:pt x="0" y="0"/>
                    </a:moveTo>
                    <a:lnTo>
                      <a:pt x="6115050" y="0"/>
                    </a:lnTo>
                  </a:path>
                </a:pathLst>
              </a:custGeom>
              <a:noFill/>
              <a:ln w="57150">
                <a:solidFill>
                  <a:schemeClr val="accent2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5372100" y="6477000"/>
                <a:ext cx="5772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72150" h="9525">
                    <a:moveTo>
                      <a:pt x="0" y="0"/>
                    </a:moveTo>
                    <a:lnTo>
                      <a:pt x="5772150" y="0"/>
                    </a:lnTo>
                  </a:path>
                </a:pathLst>
              </a:custGeom>
              <a:noFill/>
              <a:ln w="57150">
                <a:solidFill>
                  <a:schemeClr val="accent2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5210556" y="342519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局域宽松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110246" y="3425190"/>
                <a:ext cx="121459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8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L ≥ 1.118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382006" y="4282440"/>
                <a:ext cx="12904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多面体畸变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938796" y="4282440"/>
                <a:ext cx="121459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8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D ≥ 0.043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553456" y="5139690"/>
                <a:ext cx="179931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畸变加权宽松比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471630" y="5139690"/>
                <a:ext cx="151031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8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D×L ≥ 0.040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724906" y="5996940"/>
                <a:ext cx="179931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畸变加权最长键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888096" y="5996940"/>
                <a:ext cx="192239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8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D×dmax ≥ 0.127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805994" y="6965632"/>
                <a:ext cx="290436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满足四个条件后进入材料复筛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12447270" y="2328862"/>
            <a:ext cx="5154930" cy="5974081"/>
            <a:chOff x="12447270" y="2328862"/>
            <a:chExt cx="5154930" cy="5974081"/>
          </a:xfrm>
        </p:grpSpPr>
        <p:sp>
          <p:nvSpPr>
            <p:cNvPr id="39" name="TextBox 39"/>
            <p:cNvSpPr txBox="1"/>
            <p:nvPr/>
          </p:nvSpPr>
          <p:spPr>
            <a:xfrm>
              <a:off x="12447270" y="2328862"/>
              <a:ext cx="161305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进一步复筛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2458700" y="3048000"/>
              <a:ext cx="5143500" cy="140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2811506" y="33489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四阈值均通过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5961763" y="3589020"/>
              <a:ext cx="1297537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5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837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15030450" y="445770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47625">
              <a:solidFill>
                <a:schemeClr val="accent5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2458700" y="4914900"/>
              <a:ext cx="5143500" cy="1809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2792456" y="51206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复筛条件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2793218" y="5555932"/>
              <a:ext cx="4113466" cy="10466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较大带隙　·　可能存在 Na / 空位迁移路径覆盖不同材料体系　·　没有明确电导率先例计算规模可承受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15030450" y="672465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2458700" y="7086600"/>
              <a:ext cx="5143500" cy="10858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2811506" y="7349490"/>
              <a:ext cx="19673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第一轮 DFT 候选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6544835" y="7455218"/>
              <a:ext cx="714465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4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10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85800" y="8458200"/>
            <a:ext cx="16916400" cy="917448"/>
            <a:chOff x="685800" y="8458200"/>
            <a:chExt cx="16916400" cy="917448"/>
          </a:xfrm>
        </p:grpSpPr>
        <p:sp>
          <p:nvSpPr>
            <p:cNvPr id="52" name="Rectangle 52"/>
            <p:cNvSpPr/>
            <p:nvPr/>
          </p:nvSpPr>
          <p:spPr>
            <a:xfrm>
              <a:off x="685800" y="8458200"/>
              <a:ext cx="16916400" cy="8572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85800" y="8458200"/>
              <a:ext cx="152400" cy="857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32332" y="8641080"/>
              <a:ext cx="8408384" cy="7345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837 只是四阈值筛选结果，不代表这些结构已经被证明为快离子导体或可以合成。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78942" y="9731692"/>
            <a:ext cx="16930116" cy="264033"/>
            <a:chOff x="678942" y="9731692"/>
            <a:chExt cx="16930116" cy="264033"/>
          </a:xfrm>
        </p:grpSpPr>
        <p:sp>
          <p:nvSpPr>
            <p:cNvPr id="56" name="TextBox 56"/>
            <p:cNvSpPr txBox="1"/>
            <p:nvPr/>
          </p:nvSpPr>
          <p:spPr>
            <a:xfrm>
              <a:off x="678942" y="9731692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复筛还考虑带隙、迁移路径、文献先例和计算成本。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6986523" y="973169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06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521018"/>
            <a:ext cx="16935450" cy="1552575"/>
            <a:chOff x="666750" y="521018"/>
            <a:chExt cx="16935450" cy="1552575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21018"/>
              <a:ext cx="19291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06 · 第一轮 DFT 材料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6750" y="616268"/>
              <a:ext cx="8565166" cy="1457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800"/>
                </a:lnSpc>
              </a:pPr>
              <a:r>
                <a:rPr lang="zh-CN" sz="4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第一轮选择 10 个材料，分别比较四类结构中的迁移问题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885950"/>
              <a:ext cx="16916400" cy="9525"/>
            </a:xfrm>
            <a:custGeom>
              <a:avLst/>
              <a:gdLst/>
              <a:ahLst/>
              <a:cxnLst/>
              <a:rect l="l" t="t" r="r" b="b"/>
              <a:pathLst>
                <a:path w="16916400" h="9525">
                  <a:moveTo>
                    <a:pt x="0" y="0"/>
                  </a:moveTo>
                  <a:lnTo>
                    <a:pt x="169164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85800" y="1943100"/>
            <a:ext cx="8096250" cy="2724150"/>
            <a:chOff x="685800" y="1943100"/>
            <a:chExt cx="8096250" cy="2724150"/>
          </a:xfrm>
        </p:grpSpPr>
        <p:sp>
          <p:nvSpPr>
            <p:cNvPr id="6" name="Rectangle 6"/>
            <p:cNvSpPr/>
            <p:nvPr/>
          </p:nvSpPr>
          <p:spPr>
            <a:xfrm>
              <a:off x="685800" y="1943100"/>
              <a:ext cx="8096250" cy="27241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943100"/>
              <a:ext cx="8096250" cy="457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3356" y="2072640"/>
              <a:ext cx="61476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NASICON｜高局域宽松和畸变是否对应低迁移势垒？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52500" y="2571750"/>
              <a:ext cx="2286000" cy="12192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7452" y="2647950"/>
              <a:ext cx="1876097" cy="10668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1227911" y="3917632"/>
              <a:ext cx="17351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Na₃YZrSiP₂O₁₂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590925" y="2571750"/>
              <a:ext cx="2286000" cy="12192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18890" y="2647950"/>
              <a:ext cx="2030071" cy="10668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3670511" y="3917632"/>
              <a:ext cx="21268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Na₆Hf₃ZnSi₂P₄O₂₄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29350" y="2571750"/>
              <a:ext cx="2286000" cy="12192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62661" y="2647950"/>
              <a:ext cx="1819379" cy="1066800"/>
            </a:xfrm>
            <a:prstGeom prst="rect">
              <a:avLst/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6476528" y="3917632"/>
              <a:ext cx="17916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Na₃CaHf(PO₄)₃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4331018"/>
              <a:ext cx="45736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同一骨架内比较局域信号、Na 网络和刚性窗口的影响。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85800" y="4895850"/>
            <a:ext cx="8096250" cy="2724150"/>
            <a:chOff x="685800" y="4895850"/>
            <a:chExt cx="8096250" cy="2724150"/>
          </a:xfrm>
        </p:grpSpPr>
        <p:sp>
          <p:nvSpPr>
            <p:cNvPr id="20" name="Rectangle 20"/>
            <p:cNvSpPr/>
            <p:nvPr/>
          </p:nvSpPr>
          <p:spPr>
            <a:xfrm>
              <a:off x="685800" y="4895850"/>
              <a:ext cx="8096250" cy="27241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85800" y="4895850"/>
              <a:ext cx="8096250" cy="4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3356" y="5025390"/>
              <a:ext cx="43875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硫化物｜软晶格是否有利于 Na 迁移？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" y="5524500"/>
              <a:ext cx="2286000" cy="12192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</p:sp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46374" y="5600700"/>
              <a:ext cx="1698251" cy="1066800"/>
            </a:xfrm>
            <a:prstGeom prst="rect">
              <a:avLst/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1622904" y="6870382"/>
              <a:ext cx="9451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Na₃TaS₄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590925" y="5524500"/>
              <a:ext cx="2286000" cy="12192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</p:sp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55069" y="5600700"/>
              <a:ext cx="1957712" cy="1066800"/>
            </a:xfrm>
            <a:prstGeom prst="rect">
              <a:avLst/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4195013" y="6870382"/>
              <a:ext cx="10778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Na₄Ga₂S₅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29350" y="5524500"/>
              <a:ext cx="2286000" cy="12192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</p:sp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82136" y="5600700"/>
              <a:ext cx="1780427" cy="1066800"/>
            </a:xfrm>
            <a:prstGeom prst="rect">
              <a:avLst/>
            </a:prstGeom>
          </p:spPr>
        </p:pic>
        <p:sp>
          <p:nvSpPr>
            <p:cNvPr id="31" name="TextBox 31"/>
            <p:cNvSpPr txBox="1"/>
            <p:nvPr/>
          </p:nvSpPr>
          <p:spPr>
            <a:xfrm>
              <a:off x="6833438" y="6870382"/>
              <a:ext cx="10778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Na₆Sn₂S₇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5642" y="7283768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还需要检查带隙和缺陷态，避免把电子导电误认为离子导电。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105900" y="1943100"/>
            <a:ext cx="8496300" cy="3429000"/>
            <a:chOff x="9105900" y="1943100"/>
            <a:chExt cx="8496300" cy="3429000"/>
          </a:xfrm>
        </p:grpSpPr>
        <p:sp>
          <p:nvSpPr>
            <p:cNvPr id="34" name="Rectangle 34"/>
            <p:cNvSpPr/>
            <p:nvPr/>
          </p:nvSpPr>
          <p:spPr>
            <a:xfrm>
              <a:off x="9105900" y="1943100"/>
              <a:ext cx="8496300" cy="34290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5E6670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9105900" y="1943100"/>
              <a:ext cx="8496300" cy="457200"/>
            </a:xfrm>
            <a:prstGeom prst="rect">
              <a:avLst/>
            </a:prstGeom>
            <a:solidFill>
              <a:srgbClr val="5E667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63456" y="2072640"/>
              <a:ext cx="60778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氟化物｜检查 Na⁺ 迁移，并排除 F⁻ 作为主要载流子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372600" y="2571750"/>
              <a:ext cx="2419350" cy="14097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rgbClr val="5E6670"/>
              </a:solidFill>
            </a:ln>
          </p:spPr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448800" y="2881202"/>
              <a:ext cx="2266950" cy="790797"/>
            </a:xfrm>
            <a:prstGeom prst="rect">
              <a:avLst/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9977046" y="4127182"/>
              <a:ext cx="12104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Na₇Zr₆F₃₁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2068175" y="2571750"/>
              <a:ext cx="2419350" cy="14097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rgbClr val="5E6670"/>
              </a:solidFill>
            </a:ln>
          </p:spPr>
        </p:sp>
        <p:pic>
          <p:nvPicPr>
            <p:cNvPr id="41" name="Image 4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504127" y="2647950"/>
              <a:ext cx="1547446" cy="1257300"/>
            </a:xfrm>
            <a:prstGeom prst="rect">
              <a:avLst/>
            </a:prstGeom>
          </p:spPr>
        </p:pic>
        <p:sp>
          <p:nvSpPr>
            <p:cNvPr id="42" name="TextBox 42"/>
            <p:cNvSpPr txBox="1"/>
            <p:nvPr/>
          </p:nvSpPr>
          <p:spPr>
            <a:xfrm>
              <a:off x="12679574" y="4127182"/>
              <a:ext cx="11965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Na₂MgInF₇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4763750" y="2571750"/>
              <a:ext cx="2571750" cy="14097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rgbClr val="5E6670"/>
              </a:solidFill>
            </a:ln>
          </p:spPr>
        </p:sp>
        <p:pic>
          <p:nvPicPr>
            <p:cNvPr id="44" name="Image 4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5153026" y="2647950"/>
              <a:ext cx="1793198" cy="1257300"/>
            </a:xfrm>
            <a:prstGeom prst="rect">
              <a:avLst/>
            </a:prstGeom>
          </p:spPr>
        </p:pic>
        <p:sp>
          <p:nvSpPr>
            <p:cNvPr id="45" name="TextBox 45"/>
            <p:cNvSpPr txBox="1"/>
            <p:nvPr/>
          </p:nvSpPr>
          <p:spPr>
            <a:xfrm>
              <a:off x="15115074" y="4127182"/>
              <a:ext cx="18691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C2/c-Na₂ZnGaF₇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64980" y="4695825"/>
              <a:ext cx="62757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Cl 子集结果不能直接外推到氟化物，因此将其作为描述符边界测试。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65742" y="5016818"/>
              <a:ext cx="2380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Na 与 F 缺陷需要分别计算。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105900" y="5619750"/>
            <a:ext cx="8496300" cy="2000250"/>
            <a:chOff x="9105900" y="5619750"/>
            <a:chExt cx="8496300" cy="2000250"/>
          </a:xfrm>
        </p:grpSpPr>
        <p:sp>
          <p:nvSpPr>
            <p:cNvPr id="49" name="Rectangle 49"/>
            <p:cNvSpPr/>
            <p:nvPr/>
          </p:nvSpPr>
          <p:spPr>
            <a:xfrm>
              <a:off x="9105900" y="5619750"/>
              <a:ext cx="84963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372600" y="5791200"/>
              <a:ext cx="2952750" cy="16573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rgbClr val="FFFFFF"/>
              </a:solidFill>
            </a:ln>
          </p:spPr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607372" y="5886450"/>
              <a:ext cx="2483207" cy="1466850"/>
            </a:xfrm>
            <a:prstGeom prst="rect">
              <a:avLst/>
            </a:prstGeom>
          </p:spPr>
        </p:pic>
        <p:sp>
          <p:nvSpPr>
            <p:cNvPr id="52" name="TextBox 52"/>
            <p:cNvSpPr txBox="1"/>
            <p:nvPr/>
          </p:nvSpPr>
          <p:spPr>
            <a:xfrm>
              <a:off x="12678918" y="58416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混合阴离子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2675870" y="6234112"/>
              <a:ext cx="3396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Na₃Sn(PO₄)(CO₃)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2678918" y="6717982"/>
              <a:ext cx="265709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 CO₃ 基团的摆动 / 转动是否影响 Na 迁移路径？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74370" y="8081962"/>
            <a:ext cx="16927830" cy="1271588"/>
            <a:chOff x="674370" y="8081962"/>
            <a:chExt cx="16927830" cy="1271588"/>
          </a:xfrm>
        </p:grpSpPr>
        <p:sp>
          <p:nvSpPr>
            <p:cNvPr id="56" name="TextBox 56"/>
            <p:cNvSpPr txBox="1"/>
            <p:nvPr/>
          </p:nvSpPr>
          <p:spPr>
            <a:xfrm>
              <a:off x="674370" y="8081962"/>
              <a:ext cx="682771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第一轮 DFT 先回答每个材料最关键的一个问题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685800" y="8534400"/>
              <a:ext cx="16916400" cy="9525"/>
            </a:xfrm>
            <a:custGeom>
              <a:avLst/>
              <a:gdLst/>
              <a:ahLst/>
              <a:cxnLst/>
              <a:rect l="l" t="t" r="r" b="b"/>
              <a:pathLst>
                <a:path w="16916400" h="9525">
                  <a:moveTo>
                    <a:pt x="0" y="0"/>
                  </a:moveTo>
                  <a:lnTo>
                    <a:pt x="169164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85800" y="8763000"/>
              <a:ext cx="2952750" cy="590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220876" y="896588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结构弛豫与稳定性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3638550" y="9058275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4038600" y="8763000"/>
              <a:ext cx="2857500" cy="590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508559" y="8965882"/>
              <a:ext cx="19175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缺陷 / 空位形成能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6896100" y="9058275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296150" y="8763000"/>
              <a:ext cx="2266950" cy="590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737398" y="8965882"/>
              <a:ext cx="13844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BVSE / CAVD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9563100" y="9058275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9963150" y="8763000"/>
              <a:ext cx="2266950" cy="590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0712436" y="8965882"/>
              <a:ext cx="7683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CI-NEB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12230100" y="9058275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12630150" y="8763000"/>
              <a:ext cx="4972050" cy="590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3721785" y="8965882"/>
              <a:ext cx="27887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势垒 ≤ 约 0.45 eV → AIMD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78942" y="9731692"/>
            <a:ext cx="16930116" cy="264033"/>
            <a:chOff x="678942" y="9731692"/>
            <a:chExt cx="16930116" cy="264033"/>
          </a:xfrm>
        </p:grpSpPr>
        <p:sp>
          <p:nvSpPr>
            <p:cNvPr id="73" name="TextBox 73"/>
            <p:cNvSpPr txBox="1"/>
            <p:nvPr/>
          </p:nvSpPr>
          <p:spPr>
            <a:xfrm>
              <a:off x="678942" y="9731692"/>
              <a:ext cx="63199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这 10 个材料不是按单一分数排名，而是兼顾正向候选、边界对照和计算风险。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6986523" y="973169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07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521018"/>
            <a:ext cx="16935450" cy="1162049"/>
            <a:chOff x="666750" y="521018"/>
            <a:chExt cx="16935450" cy="1162049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2101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备份 1 · 描述符定义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6750" y="835342"/>
              <a:ext cx="13681405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备份｜八个新结构描述符的计算方式和使用范围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562100"/>
              <a:ext cx="16916400" cy="9525"/>
            </a:xfrm>
            <a:custGeom>
              <a:avLst/>
              <a:gdLst/>
              <a:ahLst/>
              <a:cxnLst/>
              <a:rect l="l" t="t" r="r" b="b"/>
              <a:pathLst>
                <a:path w="16916400" h="9525">
                  <a:moveTo>
                    <a:pt x="0" y="0"/>
                  </a:moveTo>
                  <a:lnTo>
                    <a:pt x="169164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85800" y="1924050"/>
            <a:ext cx="4057650" cy="3314700"/>
            <a:chOff x="685800" y="1924050"/>
            <a:chExt cx="4057650" cy="3314700"/>
          </a:xfrm>
        </p:grpSpPr>
        <p:sp>
          <p:nvSpPr>
            <p:cNvPr id="6" name="Rectangle 6"/>
            <p:cNvSpPr/>
            <p:nvPr/>
          </p:nvSpPr>
          <p:spPr>
            <a:xfrm>
              <a:off x="685800" y="1924050"/>
              <a:ext cx="4057650" cy="33147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924050"/>
              <a:ext cx="4057650" cy="11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5642" y="22545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局域键长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1070" y="2614612"/>
              <a:ext cx="203911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局域宽松因子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952500" y="3048000"/>
              <a:ext cx="3524250" cy="9525"/>
            </a:xfrm>
            <a:custGeom>
              <a:avLst/>
              <a:gdLst/>
              <a:ahLst/>
              <a:cxnLst/>
              <a:rect l="l" t="t" r="r" b="b"/>
              <a:pathLst>
                <a:path w="3524250" h="9525">
                  <a:moveTo>
                    <a:pt x="0" y="0"/>
                  </a:moveTo>
                  <a:lnTo>
                    <a:pt x="3524250" y="0"/>
                  </a:lnTo>
                </a:path>
              </a:pathLst>
            </a:custGeom>
            <a:noFill/>
            <a:ln w="19050">
              <a:solidFill>
                <a:srgbClr val="EAE7D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118" y="3308032"/>
              <a:ext cx="21491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L = dmax / dtarget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4118" y="3765232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含义：最长键相对正常键长的偏离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118" y="42224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范围：跨体系初筛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3356" y="4701540"/>
              <a:ext cx="13540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≥ 1.118107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972050" y="1924050"/>
            <a:ext cx="4057650" cy="3314700"/>
            <a:chOff x="4972050" y="1924050"/>
            <a:chExt cx="4057650" cy="3314700"/>
          </a:xfrm>
        </p:grpSpPr>
        <p:sp>
          <p:nvSpPr>
            <p:cNvPr id="16" name="Rectangle 16"/>
            <p:cNvSpPr/>
            <p:nvPr/>
          </p:nvSpPr>
          <p:spPr>
            <a:xfrm>
              <a:off x="4972050" y="1924050"/>
              <a:ext cx="4057650" cy="33147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72050" y="1924050"/>
              <a:ext cx="405765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31892" y="22545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配位不对称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27320" y="2614612"/>
              <a:ext cx="13670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畸变均值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5238750" y="3048000"/>
              <a:ext cx="3524250" cy="9525"/>
            </a:xfrm>
            <a:custGeom>
              <a:avLst/>
              <a:gdLst/>
              <a:ahLst/>
              <a:cxnLst/>
              <a:rect l="l" t="t" r="r" b="b"/>
              <a:pathLst>
                <a:path w="3524250" h="9525">
                  <a:moveTo>
                    <a:pt x="0" y="0"/>
                  </a:moveTo>
                  <a:lnTo>
                    <a:pt x="3524250" y="0"/>
                  </a:lnTo>
                </a:path>
              </a:pathLst>
            </a:custGeom>
            <a:noFill/>
            <a:ln w="19050">
              <a:solidFill>
                <a:srgbClr val="EAE7D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30368" y="3308032"/>
              <a:ext cx="24537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 = mean(std / mean)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30368" y="3765232"/>
              <a:ext cx="26675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含义：Na–X 键长离散程度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30368" y="42224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范围：跨体系初筛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29606" y="4701540"/>
              <a:ext cx="13540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≥ 0.043210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258300" y="1924050"/>
            <a:ext cx="4057650" cy="3314700"/>
            <a:chOff x="9258300" y="1924050"/>
            <a:chExt cx="4057650" cy="3314700"/>
          </a:xfrm>
        </p:grpSpPr>
        <p:sp>
          <p:nvSpPr>
            <p:cNvPr id="26" name="Rectangle 26"/>
            <p:cNvSpPr/>
            <p:nvPr/>
          </p:nvSpPr>
          <p:spPr>
            <a:xfrm>
              <a:off x="9258300" y="1924050"/>
              <a:ext cx="4057650" cy="33147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9258300" y="1924050"/>
              <a:ext cx="405765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18142" y="2254568"/>
              <a:ext cx="10733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Na 位点网络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13570" y="2614612"/>
              <a:ext cx="27760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Na 位点连通因子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9525000" y="3048000"/>
              <a:ext cx="3524250" cy="9525"/>
            </a:xfrm>
            <a:custGeom>
              <a:avLst/>
              <a:gdLst/>
              <a:ahLst/>
              <a:cxnLst/>
              <a:rect l="l" t="t" r="r" b="b"/>
              <a:pathLst>
                <a:path w="3524250" h="9525">
                  <a:moveTo>
                    <a:pt x="0" y="0"/>
                  </a:moveTo>
                  <a:lnTo>
                    <a:pt x="3524250" y="0"/>
                  </a:lnTo>
                </a:path>
              </a:pathLst>
            </a:custGeom>
            <a:noFill/>
            <a:ln w="19050">
              <a:solidFill>
                <a:srgbClr val="EAE7D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516618" y="3269932"/>
              <a:ext cx="235324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邻居数百分位 + 最大连通分量百分位，二者取均值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16618" y="4050982"/>
              <a:ext cx="3077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含义：Na 位点网络的连通程度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16618" y="44510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范围：网络可计算结构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15856" y="4815840"/>
              <a:ext cx="13540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≥ 0.482324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3544550" y="1924050"/>
            <a:ext cx="4057650" cy="3314700"/>
            <a:chOff x="13544550" y="1924050"/>
            <a:chExt cx="4057650" cy="3314700"/>
          </a:xfrm>
        </p:grpSpPr>
        <p:sp>
          <p:nvSpPr>
            <p:cNvPr id="36" name="Rectangle 36"/>
            <p:cNvSpPr/>
            <p:nvPr/>
          </p:nvSpPr>
          <p:spPr>
            <a:xfrm>
              <a:off x="13544550" y="1924050"/>
              <a:ext cx="4057650" cy="33147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3544550" y="1924050"/>
              <a:ext cx="4057650" cy="11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3804392" y="225456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局域与网络组合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799820" y="2614612"/>
              <a:ext cx="22239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局域—连通组合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13811250" y="3048000"/>
              <a:ext cx="3524250" cy="9525"/>
            </a:xfrm>
            <a:custGeom>
              <a:avLst/>
              <a:gdLst/>
              <a:ahLst/>
              <a:cxnLst/>
              <a:rect l="l" t="t" r="r" b="b"/>
              <a:pathLst>
                <a:path w="3524250" h="9525">
                  <a:moveTo>
                    <a:pt x="0" y="0"/>
                  </a:moveTo>
                  <a:lnTo>
                    <a:pt x="3524250" y="0"/>
                  </a:lnTo>
                </a:path>
              </a:pathLst>
            </a:custGeom>
            <a:noFill/>
            <a:ln w="19050">
              <a:solidFill>
                <a:srgbClr val="EAE7D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3802868" y="3308032"/>
              <a:ext cx="14214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L × 连通因子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802868" y="3765232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含义：同时考虑局域宽松与网络连通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3802868" y="42224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范围：网络可计算结构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3802106" y="4701540"/>
              <a:ext cx="13540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≥ 0.577777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85800" y="5505450"/>
            <a:ext cx="4057650" cy="3314700"/>
            <a:chOff x="685800" y="5505450"/>
            <a:chExt cx="4057650" cy="3314700"/>
          </a:xfrm>
        </p:grpSpPr>
        <p:sp>
          <p:nvSpPr>
            <p:cNvPr id="46" name="Rectangle 46"/>
            <p:cNvSpPr/>
            <p:nvPr/>
          </p:nvSpPr>
          <p:spPr>
            <a:xfrm>
              <a:off x="685800" y="5505450"/>
              <a:ext cx="4057650" cy="33147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85800" y="5505450"/>
              <a:ext cx="4057650" cy="11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45642" y="583596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两个局域量的乘积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1070" y="6196012"/>
              <a:ext cx="237515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畸变加权宽松比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952500" y="6629400"/>
              <a:ext cx="3524250" cy="9525"/>
            </a:xfrm>
            <a:custGeom>
              <a:avLst/>
              <a:gdLst/>
              <a:ahLst/>
              <a:cxnLst/>
              <a:rect l="l" t="t" r="r" b="b"/>
              <a:pathLst>
                <a:path w="3524250" h="9525">
                  <a:moveTo>
                    <a:pt x="0" y="0"/>
                  </a:moveTo>
                  <a:lnTo>
                    <a:pt x="3524250" y="0"/>
                  </a:lnTo>
                </a:path>
              </a:pathLst>
            </a:custGeom>
            <a:noFill/>
            <a:ln w="19050">
              <a:solidFill>
                <a:srgbClr val="EAE7DF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44118" y="6889432"/>
              <a:ext cx="5712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 × L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4118" y="73466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含义：同时考虑宽松与畸变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4118" y="78038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范围：跨体系初筛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3356" y="8282940"/>
              <a:ext cx="13540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≥ 0.040056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4972050" y="5505450"/>
            <a:ext cx="4057650" cy="3314700"/>
            <a:chOff x="4972050" y="5505450"/>
            <a:chExt cx="4057650" cy="3314700"/>
          </a:xfrm>
        </p:grpSpPr>
        <p:sp>
          <p:nvSpPr>
            <p:cNvPr id="56" name="Rectangle 56"/>
            <p:cNvSpPr/>
            <p:nvPr/>
          </p:nvSpPr>
          <p:spPr>
            <a:xfrm>
              <a:off x="4972050" y="5505450"/>
              <a:ext cx="4057650" cy="33147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4972050" y="5505450"/>
              <a:ext cx="4057650" cy="11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231892" y="583596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保留最长键尺度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227320" y="6196012"/>
              <a:ext cx="237515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畸变加权最长键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5238750" y="6629400"/>
              <a:ext cx="3524250" cy="9525"/>
            </a:xfrm>
            <a:custGeom>
              <a:avLst/>
              <a:gdLst/>
              <a:ahLst/>
              <a:cxnLst/>
              <a:rect l="l" t="t" r="r" b="b"/>
              <a:pathLst>
                <a:path w="3524250" h="9525">
                  <a:moveTo>
                    <a:pt x="0" y="0"/>
                  </a:moveTo>
                  <a:lnTo>
                    <a:pt x="3524250" y="0"/>
                  </a:lnTo>
                </a:path>
              </a:pathLst>
            </a:custGeom>
            <a:noFill/>
            <a:ln w="19050">
              <a:solidFill>
                <a:srgbClr val="EAE7DF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230368" y="6889432"/>
              <a:ext cx="9838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 × dmax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230368" y="73466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含义：同时考虑畸变与最长键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230368" y="78038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范围：跨体系初筛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229606" y="8282940"/>
              <a:ext cx="13540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≥ 0.126580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9258300" y="5505450"/>
            <a:ext cx="4057650" cy="3314700"/>
            <a:chOff x="9258300" y="5505450"/>
            <a:chExt cx="4057650" cy="3314700"/>
          </a:xfrm>
        </p:grpSpPr>
        <p:sp>
          <p:nvSpPr>
            <p:cNvPr id="66" name="Rectangle 66"/>
            <p:cNvSpPr/>
            <p:nvPr/>
          </p:nvSpPr>
          <p:spPr>
            <a:xfrm>
              <a:off x="9258300" y="5505450"/>
              <a:ext cx="4057650" cy="33147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9258300" y="5505450"/>
              <a:ext cx="4057650" cy="11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518142" y="5835968"/>
              <a:ext cx="15246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按 Na 浓度归一化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513570" y="6196012"/>
              <a:ext cx="13670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畸变密度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9525000" y="6629400"/>
              <a:ext cx="3524250" cy="9525"/>
            </a:xfrm>
            <a:custGeom>
              <a:avLst/>
              <a:gdLst/>
              <a:ahLst/>
              <a:cxnLst/>
              <a:rect l="l" t="t" r="r" b="b"/>
              <a:pathLst>
                <a:path w="3524250" h="9525">
                  <a:moveTo>
                    <a:pt x="0" y="0"/>
                  </a:moveTo>
                  <a:lnTo>
                    <a:pt x="3524250" y="0"/>
                  </a:lnTo>
                </a:path>
              </a:pathLst>
            </a:custGeom>
            <a:noFill/>
            <a:ln w="19050">
              <a:solidFill>
                <a:srgbClr val="EAE7DF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516618" y="6889432"/>
              <a:ext cx="12511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D / Na 浓度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516618" y="7346632"/>
              <a:ext cx="31459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含义：按 Na 浓度归一化的畸变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516618" y="78038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边界：尺度敏感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515856" y="8282940"/>
              <a:ext cx="13540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≥ 2.314122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3544550" y="5505450"/>
            <a:ext cx="4057650" cy="3314700"/>
            <a:chOff x="13544550" y="5505450"/>
            <a:chExt cx="4057650" cy="3314700"/>
          </a:xfrm>
        </p:grpSpPr>
        <p:sp>
          <p:nvSpPr>
            <p:cNvPr id="76" name="Rectangle 76"/>
            <p:cNvSpPr/>
            <p:nvPr/>
          </p:nvSpPr>
          <p:spPr>
            <a:xfrm>
              <a:off x="13544550" y="5505450"/>
              <a:ext cx="4057650" cy="33147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13544550" y="5505450"/>
              <a:ext cx="4057650" cy="11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3804392" y="58359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硫化物专用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3799820" y="6196012"/>
              <a:ext cx="271119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硫化物键长归一化</a:t>
              </a:r>
            </a:p>
          </p:txBody>
        </p:sp>
        <p:sp>
          <p:nvSpPr>
            <p:cNvPr id="80" name="Line 80"/>
            <p:cNvSpPr/>
            <p:nvPr/>
          </p:nvSpPr>
          <p:spPr>
            <a:xfrm>
              <a:off x="13811250" y="6629400"/>
              <a:ext cx="3524250" cy="9525"/>
            </a:xfrm>
            <a:custGeom>
              <a:avLst/>
              <a:gdLst/>
              <a:ahLst/>
              <a:cxnLst/>
              <a:rect l="l" t="t" r="r" b="b"/>
              <a:pathLst>
                <a:path w="3524250" h="9525">
                  <a:moveTo>
                    <a:pt x="0" y="0"/>
                  </a:moveTo>
                  <a:lnTo>
                    <a:pt x="3524250" y="0"/>
                  </a:lnTo>
                </a:path>
              </a:pathLst>
            </a:custGeom>
            <a:noFill/>
            <a:ln w="19050">
              <a:solidFill>
                <a:srgbClr val="EAE7DF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3802868" y="6889432"/>
              <a:ext cx="25324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mean(Na–S) / dtarget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3802868" y="7346632"/>
              <a:ext cx="31977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含义：硫化物中平均 Na–S 键长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3802868" y="78038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边界：仅族内使用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3802106" y="8282940"/>
              <a:ext cx="13540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≥ 1.039905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677418" y="9220200"/>
            <a:ext cx="16931640" cy="775525"/>
            <a:chOff x="677418" y="9220200"/>
            <a:chExt cx="16931640" cy="775525"/>
          </a:xfrm>
        </p:grpSpPr>
        <p:sp>
          <p:nvSpPr>
            <p:cNvPr id="86" name="Line 86"/>
            <p:cNvSpPr/>
            <p:nvPr/>
          </p:nvSpPr>
          <p:spPr>
            <a:xfrm>
              <a:off x="685800" y="9220200"/>
              <a:ext cx="16916400" cy="9525"/>
            </a:xfrm>
            <a:custGeom>
              <a:avLst/>
              <a:gdLst/>
              <a:ahLst/>
              <a:cxnLst/>
              <a:rect l="l" t="t" r="r" b="b"/>
              <a:pathLst>
                <a:path w="16916400" h="9525">
                  <a:moveTo>
                    <a:pt x="0" y="0"/>
                  </a:moveTo>
                  <a:lnTo>
                    <a:pt x="169164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77418" y="9480232"/>
              <a:ext cx="54998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阈值只适用于当前数据集，后续仍需用 DFT 验证。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6986523" y="973169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08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521018"/>
            <a:ext cx="16935450" cy="1162049"/>
            <a:chOff x="666750" y="521018"/>
            <a:chExt cx="16935450" cy="1162049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210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备份 2 · 阈值复算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6750" y="835342"/>
              <a:ext cx="10432999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备份｜阈值由平衡准确率最大值确定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562100"/>
              <a:ext cx="16916400" cy="9525"/>
            </a:xfrm>
            <a:custGeom>
              <a:avLst/>
              <a:gdLst/>
              <a:ahLst/>
              <a:cxnLst/>
              <a:rect l="l" t="t" r="r" b="b"/>
              <a:pathLst>
                <a:path w="16916400" h="9525">
                  <a:moveTo>
                    <a:pt x="0" y="0"/>
                  </a:moveTo>
                  <a:lnTo>
                    <a:pt x="169164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74370" y="2005012"/>
            <a:ext cx="16936212" cy="1195388"/>
            <a:chOff x="674370" y="2005012"/>
            <a:chExt cx="16936212" cy="1195388"/>
          </a:xfrm>
        </p:grpSpPr>
        <p:sp>
          <p:nvSpPr>
            <p:cNvPr id="6" name="TextBox 6"/>
            <p:cNvSpPr txBox="1"/>
            <p:nvPr/>
          </p:nvSpPr>
          <p:spPr>
            <a:xfrm>
              <a:off x="674370" y="2005012"/>
              <a:ext cx="415737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局域宽松因子的三段经验区间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928342" y="20697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三个区间来自当前样本统计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2514600"/>
              <a:ext cx="560070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286500" y="2514600"/>
              <a:ext cx="4171950" cy="685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458450" y="2514600"/>
              <a:ext cx="7143750" cy="68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1456" y="2739390"/>
              <a:ext cx="7179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&lt;1.09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57806" y="27393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慢导体富集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58356" y="2739390"/>
              <a:ext cx="11377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1.118107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15706" y="27393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筛选阈值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830306" y="2739390"/>
              <a:ext cx="7179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≥1.19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106656" y="27393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快导体富集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93376" y="3793808"/>
            <a:ext cx="11698624" cy="5163693"/>
            <a:chOff x="493376" y="3793808"/>
            <a:chExt cx="11698624" cy="5163693"/>
          </a:xfrm>
        </p:grpSpPr>
        <p:sp>
          <p:nvSpPr>
            <p:cNvPr id="18" name="TextBox 18"/>
            <p:cNvSpPr txBox="1"/>
            <p:nvPr/>
          </p:nvSpPr>
          <p:spPr>
            <a:xfrm>
              <a:off x="674370" y="3795712"/>
              <a:ext cx="288521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四个阈值的分类权衡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724650" y="3810000"/>
              <a:ext cx="171450" cy="171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02018" y="379380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平衡准确率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353550" y="3810000"/>
              <a:ext cx="171450" cy="1714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30918" y="379380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灵敏度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1144250" y="3810000"/>
              <a:ext cx="171450" cy="171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421618" y="379380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特异度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493376" y="4483418"/>
              <a:ext cx="11698624" cy="4474083"/>
              <a:chOff x="493376" y="4483418"/>
              <a:chExt cx="11698624" cy="4474083"/>
            </a:xfrm>
          </p:grpSpPr>
          <p:sp>
            <p:nvSpPr>
              <p:cNvPr id="25" name="Line 25"/>
              <p:cNvSpPr/>
              <p:nvPr/>
            </p:nvSpPr>
            <p:spPr>
              <a:xfrm>
                <a:off x="952500" y="4762500"/>
                <a:ext cx="11239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239500" h="9525">
                    <a:moveTo>
                      <a:pt x="0" y="0"/>
                    </a:moveTo>
                    <a:lnTo>
                      <a:pt x="112395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952500" y="6477000"/>
                <a:ext cx="11239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239500" h="9525">
                    <a:moveTo>
                      <a:pt x="0" y="0"/>
                    </a:moveTo>
                    <a:lnTo>
                      <a:pt x="11239500" y="0"/>
                    </a:lnTo>
                  </a:path>
                </a:pathLst>
              </a:custGeom>
              <a:noFill/>
              <a:ln w="19050">
                <a:solidFill>
                  <a:srgbClr val="EAE7DF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952500" y="8191500"/>
                <a:ext cx="11239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239500" h="9525">
                    <a:moveTo>
                      <a:pt x="0" y="0"/>
                    </a:moveTo>
                    <a:lnTo>
                      <a:pt x="112395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493376" y="4673918"/>
                <a:ext cx="3135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1.0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93376" y="6388418"/>
                <a:ext cx="3135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0.5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93287" y="810291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0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1676400" y="5564886"/>
                <a:ext cx="533400" cy="26266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2286000" y="4837938"/>
                <a:ext cx="533400" cy="335356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2895600" y="6291834"/>
                <a:ext cx="533400" cy="18996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2283459" y="4483418"/>
                <a:ext cx="5384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0.978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4343400" y="5842635"/>
                <a:ext cx="533400" cy="234886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4953000" y="5060823"/>
                <a:ext cx="533400" cy="3130677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5562600" y="6627876"/>
                <a:ext cx="533400" cy="156362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7010400" y="5815203"/>
                <a:ext cx="533400" cy="2376297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7620000" y="4909947"/>
                <a:ext cx="533400" cy="3281553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8229600" y="6720459"/>
                <a:ext cx="533400" cy="147104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9677400" y="5835777"/>
                <a:ext cx="533400" cy="235572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10287000" y="4985385"/>
                <a:ext cx="533400" cy="320611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10896600" y="6686169"/>
                <a:ext cx="533400" cy="150533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2077860" y="8394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局域宽松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2046065" y="8693468"/>
                <a:ext cx="10132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t=1.118107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744860" y="8394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畸变均值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713065" y="8693468"/>
                <a:ext cx="10132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t=0.043210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675013" y="8394382"/>
                <a:ext cx="42337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D×L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225589" y="8693468"/>
                <a:ext cx="13222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0.040056 / 058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0132546" y="8394382"/>
                <a:ext cx="84230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D×dmax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892589" y="8693468"/>
                <a:ext cx="13222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0.126580 / 582</a:t>
                </a:r>
              </a:p>
            </p:txBody>
          </p:sp>
        </p:grpSp>
      </p:grpSp>
      <p:grpSp>
        <p:nvGrpSpPr>
          <p:cNvPr id="72" name="Group 72"/>
          <p:cNvGrpSpPr/>
          <p:nvPr/>
        </p:nvGrpSpPr>
        <p:grpSpPr>
          <a:xfrm>
            <a:off x="12580620" y="3795712"/>
            <a:ext cx="5021580" cy="3841433"/>
            <a:chOff x="12580620" y="3795712"/>
            <a:chExt cx="5021580" cy="3841433"/>
          </a:xfrm>
        </p:grpSpPr>
        <p:sp>
          <p:nvSpPr>
            <p:cNvPr id="54" name="TextBox 54"/>
            <p:cNvSpPr txBox="1"/>
            <p:nvPr/>
          </p:nvSpPr>
          <p:spPr>
            <a:xfrm>
              <a:off x="12580620" y="3795712"/>
              <a:ext cx="350539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局域宽松：有效样本 102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4291224" y="43748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预测快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6424824" y="43748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预测慢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2850368" y="53654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真实快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2850368" y="65846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真实慢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3620750" y="4762500"/>
              <a:ext cx="2057400" cy="1066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5754350" y="4762500"/>
              <a:ext cx="184785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13620750" y="5905500"/>
              <a:ext cx="2057400" cy="1066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15754350" y="5905500"/>
              <a:ext cx="184785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4388557" y="491775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4536979" y="5416868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TP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6539828" y="4917758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6565804" y="5416868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FN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4388557" y="606075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4536979" y="6559868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FP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6417382" y="606075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6565804" y="6559868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TN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2584430" y="7058025"/>
              <a:ext cx="4044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局域宽松阈值只漏掉 1 个快导体，但同时保留了25 个慢导体，因此还需要 DFT 复筛。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2592050" y="7734300"/>
            <a:ext cx="5010150" cy="1185101"/>
            <a:chOff x="12592050" y="7734300"/>
            <a:chExt cx="5010150" cy="1185101"/>
          </a:xfrm>
        </p:grpSpPr>
        <p:sp>
          <p:nvSpPr>
            <p:cNvPr id="73" name="Rectangle 73"/>
            <p:cNvSpPr/>
            <p:nvPr/>
          </p:nvSpPr>
          <p:spPr>
            <a:xfrm>
              <a:off x="12592050" y="7734300"/>
              <a:ext cx="5010150" cy="11239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12592050" y="7734300"/>
              <a:ext cx="133350" cy="1123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2964668" y="79752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小数精度说明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2964668" y="8337232"/>
              <a:ext cx="39713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D×L：0.040056 → CSV 峰值 0.040058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2966192" y="8655368"/>
              <a:ext cx="30922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D×dmax 同理：0.126580 → 0.126582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77418" y="9315450"/>
            <a:ext cx="16931640" cy="680275"/>
            <a:chOff x="677418" y="9315450"/>
            <a:chExt cx="16931640" cy="680275"/>
          </a:xfrm>
        </p:grpSpPr>
        <p:sp>
          <p:nvSpPr>
            <p:cNvPr id="79" name="Line 79"/>
            <p:cNvSpPr/>
            <p:nvPr/>
          </p:nvSpPr>
          <p:spPr>
            <a:xfrm>
              <a:off x="685800" y="9315450"/>
              <a:ext cx="16916400" cy="9525"/>
            </a:xfrm>
            <a:custGeom>
              <a:avLst/>
              <a:gdLst/>
              <a:ahLst/>
              <a:cxnLst/>
              <a:rect l="l" t="t" r="r" b="b"/>
              <a:pathLst>
                <a:path w="16916400" h="9525">
                  <a:moveTo>
                    <a:pt x="0" y="0"/>
                  </a:moveTo>
                  <a:lnTo>
                    <a:pt x="169164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77418" y="9537382"/>
              <a:ext cx="76191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两组阈值相差约 2×10⁻⁶，是 CSV 保存精度造成的，不代表结构差异。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6986523" y="973169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09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521018"/>
            <a:ext cx="16935450" cy="1162049"/>
            <a:chOff x="666750" y="521018"/>
            <a:chExt cx="16935450" cy="1162049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210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备份 3 · 验证方法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6750" y="835342"/>
              <a:ext cx="11082680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备份｜不同验证方法分别检查哪些问题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562100"/>
              <a:ext cx="16916400" cy="9525"/>
            </a:xfrm>
            <a:custGeom>
              <a:avLst/>
              <a:gdLst/>
              <a:ahLst/>
              <a:cxnLst/>
              <a:rect l="l" t="t" r="r" b="b"/>
              <a:pathLst>
                <a:path w="16916400" h="9525">
                  <a:moveTo>
                    <a:pt x="0" y="0"/>
                  </a:moveTo>
                  <a:lnTo>
                    <a:pt x="169164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685800" y="1981200"/>
            <a:ext cx="13887450" cy="7239000"/>
            <a:chOff x="685800" y="1981200"/>
            <a:chExt cx="13887450" cy="7239000"/>
          </a:xfrm>
        </p:grpSpPr>
        <p:sp>
          <p:nvSpPr>
            <p:cNvPr id="6" name="Rectangle 6"/>
            <p:cNvSpPr/>
            <p:nvPr/>
          </p:nvSpPr>
          <p:spPr>
            <a:xfrm>
              <a:off x="685800" y="1981200"/>
              <a:ext cx="13887450" cy="7239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981200"/>
              <a:ext cx="13887450" cy="723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1456" y="22440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53206" y="22440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检查的风险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53906" y="22440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能够说明什么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3257550" y="1981200"/>
              <a:ext cx="9525" cy="7239000"/>
            </a:xfrm>
            <a:custGeom>
              <a:avLst/>
              <a:gdLst/>
              <a:ahLst/>
              <a:cxnLst/>
              <a:rect l="l" t="t" r="r" b="b"/>
              <a:pathLst>
                <a:path w="9525" h="7239000">
                  <a:moveTo>
                    <a:pt x="0" y="0"/>
                  </a:moveTo>
                  <a:lnTo>
                    <a:pt x="0" y="723900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858250" y="1981200"/>
              <a:ext cx="9525" cy="7239000"/>
            </a:xfrm>
            <a:custGeom>
              <a:avLst/>
              <a:gdLst/>
              <a:ahLst/>
              <a:cxnLst/>
              <a:rect l="l" t="t" r="r" b="b"/>
              <a:pathLst>
                <a:path w="9525" h="7239000">
                  <a:moveTo>
                    <a:pt x="0" y="0"/>
                  </a:moveTo>
                  <a:lnTo>
                    <a:pt x="0" y="723900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85800" y="2705100"/>
              <a:ext cx="13887450" cy="1028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79170" y="309086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交叉验证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53206" y="313944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模型在不同数据划分下是否稳定？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153906" y="313944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样本内预测是否可重复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85800" y="3733800"/>
              <a:ext cx="13887450" cy="9525"/>
            </a:xfrm>
            <a:custGeom>
              <a:avLst/>
              <a:gdLst/>
              <a:ahLst/>
              <a:cxnLst/>
              <a:rect l="l" t="t" r="r" b="b"/>
              <a:pathLst>
                <a:path w="13887450" h="9525">
                  <a:moveTo>
                    <a:pt x="0" y="0"/>
                  </a:moveTo>
                  <a:lnTo>
                    <a:pt x="138874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85800" y="3733800"/>
              <a:ext cx="13887450" cy="102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9170" y="4119562"/>
              <a:ext cx="160705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Bootstrap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53206" y="416814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描述符排名是否受少数样本影响？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153906" y="41681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描述符排名的稳定性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85800" y="4762500"/>
              <a:ext cx="13887450" cy="9525"/>
            </a:xfrm>
            <a:custGeom>
              <a:avLst/>
              <a:gdLst/>
              <a:ahLst/>
              <a:cxnLst/>
              <a:rect l="l" t="t" r="r" b="b"/>
              <a:pathLst>
                <a:path w="13887450" h="9525">
                  <a:moveTo>
                    <a:pt x="0" y="0"/>
                  </a:moveTo>
                  <a:lnTo>
                    <a:pt x="138874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85800" y="4762500"/>
              <a:ext cx="13887450" cy="1028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79170" y="5148262"/>
              <a:ext cx="89656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LOFO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53206" y="519684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留出一个材料体系后，结果是否仍成立？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53906" y="51968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跨材料体系外推能力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85800" y="5791200"/>
              <a:ext cx="13887450" cy="9525"/>
            </a:xfrm>
            <a:custGeom>
              <a:avLst/>
              <a:gdLst/>
              <a:ahLst/>
              <a:cxnLst/>
              <a:rect l="l" t="t" r="r" b="b"/>
              <a:pathLst>
                <a:path w="13887450" h="9525">
                  <a:moveTo>
                    <a:pt x="0" y="0"/>
                  </a:moveTo>
                  <a:lnTo>
                    <a:pt x="138874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85800" y="5791200"/>
              <a:ext cx="13887450" cy="102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79170" y="6176962"/>
              <a:ext cx="89656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LOAO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53206" y="622554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留出一种阴离子后，结果是否仍成立？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153906" y="62255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跨阴离子外推能力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85800" y="6819900"/>
              <a:ext cx="13887450" cy="9525"/>
            </a:xfrm>
            <a:custGeom>
              <a:avLst/>
              <a:gdLst/>
              <a:ahLst/>
              <a:cxnLst/>
              <a:rect l="l" t="t" r="r" b="b"/>
              <a:pathLst>
                <a:path w="13887450" h="9525">
                  <a:moveTo>
                    <a:pt x="0" y="0"/>
                  </a:moveTo>
                  <a:lnTo>
                    <a:pt x="138874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85800" y="6819900"/>
              <a:ext cx="13887450" cy="1200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79170" y="7281862"/>
              <a:ext cx="203911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偏相关 / DML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53206" y="7178040"/>
              <a:ext cx="18470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控制已知混杂后，关联是否仍存在？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53906" y="7178040"/>
              <a:ext cx="34472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控制已知混杂后仍存在统计关联，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但不能证明因果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85800" y="8020050"/>
              <a:ext cx="13887450" cy="9525"/>
            </a:xfrm>
            <a:custGeom>
              <a:avLst/>
              <a:gdLst/>
              <a:ahLst/>
              <a:cxnLst/>
              <a:rect l="l" t="t" r="r" b="b"/>
              <a:pathLst>
                <a:path w="13887450" h="9525">
                  <a:moveTo>
                    <a:pt x="0" y="0"/>
                  </a:moveTo>
                  <a:lnTo>
                    <a:pt x="138874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5800" y="8020050"/>
              <a:ext cx="13887450" cy="1200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79170" y="8501062"/>
              <a:ext cx="5773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DFT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53206" y="8397240"/>
              <a:ext cx="20756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候选结构中是否存在可行迁移路径？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53906" y="854964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迁移路径及其对应势垒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4916150" y="1981200"/>
            <a:ext cx="2686050" cy="7239000"/>
            <a:chOff x="14916150" y="1981200"/>
            <a:chExt cx="2686050" cy="7239000"/>
          </a:xfrm>
        </p:grpSpPr>
        <p:sp>
          <p:nvSpPr>
            <p:cNvPr id="43" name="Rectangle 43"/>
            <p:cNvSpPr/>
            <p:nvPr/>
          </p:nvSpPr>
          <p:spPr>
            <a:xfrm>
              <a:off x="14916150" y="1981200"/>
              <a:ext cx="2686050" cy="723900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chemeClr val="accent2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4916150" y="1981200"/>
              <a:ext cx="2686050" cy="171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5551106" y="24507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不用于求阈值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15259050" y="3067050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5248763" y="3343751"/>
              <a:ext cx="2175510" cy="1196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zh-CN" sz="20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这些方法用于检查稳定性，不直接给出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5243048" y="4555808"/>
              <a:ext cx="125645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1.118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5243048" y="5222558"/>
              <a:ext cx="125645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0.043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5243048" y="5889308"/>
              <a:ext cx="125645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0.040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5243048" y="6556058"/>
              <a:ext cx="125645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0.127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15259050" y="7391400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5250668" y="7727632"/>
              <a:ext cx="1693164" cy="6656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四个阈值来自平衡准确率扫描。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77418" y="9632632"/>
            <a:ext cx="16931640" cy="363093"/>
            <a:chOff x="677418" y="9632632"/>
            <a:chExt cx="16931640" cy="363093"/>
          </a:xfrm>
        </p:grpSpPr>
        <p:sp>
          <p:nvSpPr>
            <p:cNvPr id="55" name="TextBox 55"/>
            <p:cNvSpPr txBox="1"/>
            <p:nvPr/>
          </p:nvSpPr>
          <p:spPr>
            <a:xfrm>
              <a:off x="677418" y="9632632"/>
              <a:ext cx="70459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统计检验用于判断描述符是否稳定；DFT 用于验证迁移路径和势垒。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6986523" y="973169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10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521018"/>
            <a:ext cx="16935450" cy="1162049"/>
            <a:chOff x="666750" y="521018"/>
            <a:chExt cx="16935450" cy="1162049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210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备份 4 · 候选材料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6750" y="835342"/>
              <a:ext cx="16328856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备份｜10 个候选的结构信号与第一项 DFT 问题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562100"/>
              <a:ext cx="16916400" cy="9525"/>
            </a:xfrm>
            <a:custGeom>
              <a:avLst/>
              <a:gdLst/>
              <a:ahLst/>
              <a:cxnLst/>
              <a:rect l="l" t="t" r="r" b="b"/>
              <a:pathLst>
                <a:path w="16916400" h="9525">
                  <a:moveTo>
                    <a:pt x="0" y="0"/>
                  </a:moveTo>
                  <a:lnTo>
                    <a:pt x="169164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grpSp>
        <p:nvGrpSpPr>
          <p:cNvPr id="96" name="Group 96"/>
          <p:cNvGrpSpPr/>
          <p:nvPr/>
        </p:nvGrpSpPr>
        <p:grpSpPr>
          <a:xfrm>
            <a:off x="685800" y="1943100"/>
            <a:ext cx="16916400" cy="6743700"/>
            <a:chOff x="685800" y="1943100"/>
            <a:chExt cx="16916400" cy="6743700"/>
          </a:xfrm>
        </p:grpSpPr>
        <p:sp>
          <p:nvSpPr>
            <p:cNvPr id="6" name="Rectangle 6"/>
            <p:cNvSpPr/>
            <p:nvPr/>
          </p:nvSpPr>
          <p:spPr>
            <a:xfrm>
              <a:off x="685800" y="1943100"/>
              <a:ext cx="16916400" cy="67437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943100"/>
              <a:ext cx="16916400" cy="64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218" y="2174558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体系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34818" y="2174558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材料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78329" y="2174558"/>
              <a:ext cx="12119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局域宽松 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0440" y="2174558"/>
              <a:ext cx="7190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畸变 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726168" y="2174558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第一项验证问题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476500" y="1943100"/>
              <a:ext cx="9525" cy="6743700"/>
            </a:xfrm>
            <a:custGeom>
              <a:avLst/>
              <a:gdLst/>
              <a:ahLst/>
              <a:cxnLst/>
              <a:rect l="l" t="t" r="r" b="b"/>
              <a:pathLst>
                <a:path w="9525" h="6743700">
                  <a:moveTo>
                    <a:pt x="0" y="0"/>
                  </a:moveTo>
                  <a:lnTo>
                    <a:pt x="0" y="674370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191250" y="1943100"/>
              <a:ext cx="9525" cy="6743700"/>
            </a:xfrm>
            <a:custGeom>
              <a:avLst/>
              <a:gdLst/>
              <a:ahLst/>
              <a:cxnLst/>
              <a:rect l="l" t="t" r="r" b="b"/>
              <a:pathLst>
                <a:path w="9525" h="6743700">
                  <a:moveTo>
                    <a:pt x="0" y="0"/>
                  </a:moveTo>
                  <a:lnTo>
                    <a:pt x="0" y="674370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810500" y="1943100"/>
              <a:ext cx="9525" cy="6743700"/>
            </a:xfrm>
            <a:custGeom>
              <a:avLst/>
              <a:gdLst/>
              <a:ahLst/>
              <a:cxnLst/>
              <a:rect l="l" t="t" r="r" b="b"/>
              <a:pathLst>
                <a:path w="9525" h="6743700">
                  <a:moveTo>
                    <a:pt x="0" y="0"/>
                  </a:moveTo>
                  <a:lnTo>
                    <a:pt x="0" y="674370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9429750" y="1943100"/>
              <a:ext cx="9525" cy="6743700"/>
            </a:xfrm>
            <a:custGeom>
              <a:avLst/>
              <a:gdLst/>
              <a:ahLst/>
              <a:cxnLst/>
              <a:rect l="l" t="t" r="r" b="b"/>
              <a:pathLst>
                <a:path w="9525" h="6743700">
                  <a:moveTo>
                    <a:pt x="0" y="0"/>
                  </a:moveTo>
                  <a:lnTo>
                    <a:pt x="0" y="674370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85800" y="2590800"/>
              <a:ext cx="16916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85800" y="2590800"/>
              <a:ext cx="114300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2218" y="2803208"/>
              <a:ext cx="9532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NASICON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34818" y="2803208"/>
              <a:ext cx="17351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Na₃YZrSiP₂O₁₂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13006" y="2787015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1.29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25637" y="2787015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0.082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726168" y="2803208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高局域信号是否对应低势垒？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85800" y="3200400"/>
              <a:ext cx="16916400" cy="9525"/>
            </a:xfrm>
            <a:custGeom>
              <a:avLst/>
              <a:gdLst/>
              <a:ahLst/>
              <a:cxnLst/>
              <a:rect l="l" t="t" r="r" b="b"/>
              <a:pathLst>
                <a:path w="16916400" h="9525">
                  <a:moveTo>
                    <a:pt x="0" y="0"/>
                  </a:moveTo>
                  <a:lnTo>
                    <a:pt x="169164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85800" y="3200400"/>
              <a:ext cx="169164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85800" y="3200400"/>
              <a:ext cx="114300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82218" y="3412808"/>
              <a:ext cx="9532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NASICON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34818" y="3412808"/>
              <a:ext cx="21268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Na₆Hf₃ZnSi₂P₄O₂₄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13006" y="3396615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1.27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25637" y="3396615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0.066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726168" y="3412808"/>
              <a:ext cx="40596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复杂的 Na 配位是否仍能形成连续路径？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85800" y="3810000"/>
              <a:ext cx="16916400" cy="9525"/>
            </a:xfrm>
            <a:custGeom>
              <a:avLst/>
              <a:gdLst/>
              <a:ahLst/>
              <a:cxnLst/>
              <a:rect l="l" t="t" r="r" b="b"/>
              <a:pathLst>
                <a:path w="16916400" h="9525">
                  <a:moveTo>
                    <a:pt x="0" y="0"/>
                  </a:moveTo>
                  <a:lnTo>
                    <a:pt x="169164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85800" y="3810000"/>
              <a:ext cx="16916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5800" y="3810000"/>
              <a:ext cx="114300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82218" y="4022408"/>
              <a:ext cx="9532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NASICON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34818" y="4022408"/>
              <a:ext cx="17916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Na₃CaHf(PO₄)₃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13006" y="4006215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1.32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25637" y="4006215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0.066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26168" y="4022408"/>
              <a:ext cx="33743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磷酸根窗口会不会限制 Na 迁移？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685800" y="4419600"/>
              <a:ext cx="16916400" cy="9525"/>
            </a:xfrm>
            <a:custGeom>
              <a:avLst/>
              <a:gdLst/>
              <a:ahLst/>
              <a:cxnLst/>
              <a:rect l="l" t="t" r="r" b="b"/>
              <a:pathLst>
                <a:path w="16916400" h="9525">
                  <a:moveTo>
                    <a:pt x="0" y="0"/>
                  </a:moveTo>
                  <a:lnTo>
                    <a:pt x="169164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85800" y="4419600"/>
              <a:ext cx="169164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85800" y="4419600"/>
              <a:ext cx="114300" cy="609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82218" y="4632008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硫化物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734818" y="4632008"/>
              <a:ext cx="9451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Na₃TaS₄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13006" y="4615815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1.28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25637" y="4615815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0.048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726168" y="4632008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软晶格中是否出现低势垒路径？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685800" y="5029200"/>
              <a:ext cx="16916400" cy="9525"/>
            </a:xfrm>
            <a:custGeom>
              <a:avLst/>
              <a:gdLst/>
              <a:ahLst/>
              <a:cxnLst/>
              <a:rect l="l" t="t" r="r" b="b"/>
              <a:pathLst>
                <a:path w="16916400" h="9525">
                  <a:moveTo>
                    <a:pt x="0" y="0"/>
                  </a:moveTo>
                  <a:lnTo>
                    <a:pt x="169164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85800" y="5029200"/>
              <a:ext cx="16916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85800" y="5029200"/>
              <a:ext cx="114300" cy="609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82218" y="5241608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硫化物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734818" y="5241608"/>
              <a:ext cx="10778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Na₄Ga₂S₅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13006" y="5225415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1.18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25637" y="5225415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0.051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26168" y="5241608"/>
              <a:ext cx="33743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链间是否存在连续 Na 迁移路径？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685800" y="5638800"/>
              <a:ext cx="16916400" cy="9525"/>
            </a:xfrm>
            <a:custGeom>
              <a:avLst/>
              <a:gdLst/>
              <a:ahLst/>
              <a:cxnLst/>
              <a:rect l="l" t="t" r="r" b="b"/>
              <a:pathLst>
                <a:path w="16916400" h="9525">
                  <a:moveTo>
                    <a:pt x="0" y="0"/>
                  </a:moveTo>
                  <a:lnTo>
                    <a:pt x="169164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85800" y="5638800"/>
              <a:ext cx="169164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85800" y="5638800"/>
              <a:ext cx="114300" cy="609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82218" y="5851208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硫化物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734818" y="5851208"/>
              <a:ext cx="10778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Na₆Sn₂S₇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013006" y="5835015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1.20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525637" y="5835015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0.055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26168" y="5851208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迁移计算前是否存在电子态风险？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685800" y="6248400"/>
              <a:ext cx="16916400" cy="9525"/>
            </a:xfrm>
            <a:custGeom>
              <a:avLst/>
              <a:gdLst/>
              <a:ahLst/>
              <a:cxnLst/>
              <a:rect l="l" t="t" r="r" b="b"/>
              <a:pathLst>
                <a:path w="16916400" h="9525">
                  <a:moveTo>
                    <a:pt x="0" y="0"/>
                  </a:moveTo>
                  <a:lnTo>
                    <a:pt x="169164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85800" y="6248400"/>
              <a:ext cx="16916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85800" y="6248400"/>
              <a:ext cx="114300" cy="609600"/>
            </a:xfrm>
            <a:prstGeom prst="rect">
              <a:avLst/>
            </a:prstGeom>
            <a:solidFill>
              <a:srgbClr val="5E6670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82218" y="6460808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氟化物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734818" y="6460808"/>
              <a:ext cx="12104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Na₇Zr₆F₃₁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013006" y="6444615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1.28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525637" y="6444615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0.057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726168" y="6460808"/>
              <a:ext cx="31631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主要迁移离子是 Na⁺ 还是 F⁻？</a:t>
              </a:r>
            </a:p>
          </p:txBody>
        </p:sp>
        <p:sp>
          <p:nvSpPr>
            <p:cNvPr id="72" name="Line 72"/>
            <p:cNvSpPr/>
            <p:nvPr/>
          </p:nvSpPr>
          <p:spPr>
            <a:xfrm>
              <a:off x="685800" y="6858000"/>
              <a:ext cx="16916400" cy="9525"/>
            </a:xfrm>
            <a:custGeom>
              <a:avLst/>
              <a:gdLst/>
              <a:ahLst/>
              <a:cxnLst/>
              <a:rect l="l" t="t" r="r" b="b"/>
              <a:pathLst>
                <a:path w="16916400" h="9525">
                  <a:moveTo>
                    <a:pt x="0" y="0"/>
                  </a:moveTo>
                  <a:lnTo>
                    <a:pt x="169164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685800" y="6858000"/>
              <a:ext cx="169164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85800" y="6858000"/>
              <a:ext cx="114300" cy="609600"/>
            </a:xfrm>
            <a:prstGeom prst="rect">
              <a:avLst/>
            </a:prstGeom>
            <a:solidFill>
              <a:srgbClr val="5E6670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82218" y="7070408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氟化物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2734818" y="7070408"/>
              <a:ext cx="11965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Na₂MgInF₇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013006" y="7054215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1.18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525637" y="7054215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0.061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726168" y="7070408"/>
              <a:ext cx="42350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NaF₇ 和 NaF₈ 位点之间的迁移势垒多高？</a:t>
              </a:r>
            </a:p>
          </p:txBody>
        </p:sp>
        <p:sp>
          <p:nvSpPr>
            <p:cNvPr id="80" name="Line 80"/>
            <p:cNvSpPr/>
            <p:nvPr/>
          </p:nvSpPr>
          <p:spPr>
            <a:xfrm>
              <a:off x="685800" y="7467600"/>
              <a:ext cx="16916400" cy="9525"/>
            </a:xfrm>
            <a:custGeom>
              <a:avLst/>
              <a:gdLst/>
              <a:ahLst/>
              <a:cxnLst/>
              <a:rect l="l" t="t" r="r" b="b"/>
              <a:pathLst>
                <a:path w="16916400" h="9525">
                  <a:moveTo>
                    <a:pt x="0" y="0"/>
                  </a:moveTo>
                  <a:lnTo>
                    <a:pt x="169164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685800" y="7467600"/>
              <a:ext cx="16916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85800" y="7467600"/>
              <a:ext cx="114300" cy="609600"/>
            </a:xfrm>
            <a:prstGeom prst="rect">
              <a:avLst/>
            </a:prstGeom>
            <a:solidFill>
              <a:srgbClr val="5E6670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82218" y="7680008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氟化物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2734818" y="7680008"/>
              <a:ext cx="18691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C2/c-Na₂ZnGaF₇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013006" y="7663815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1.15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525637" y="7663815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0.072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726168" y="7680008"/>
              <a:ext cx="38312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较高畸变能否对应较低 Na 迁移势垒？</a:t>
              </a:r>
            </a:p>
          </p:txBody>
        </p:sp>
        <p:sp>
          <p:nvSpPr>
            <p:cNvPr id="88" name="Line 88"/>
            <p:cNvSpPr/>
            <p:nvPr/>
          </p:nvSpPr>
          <p:spPr>
            <a:xfrm>
              <a:off x="685800" y="8077200"/>
              <a:ext cx="16916400" cy="9525"/>
            </a:xfrm>
            <a:custGeom>
              <a:avLst/>
              <a:gdLst/>
              <a:ahLst/>
              <a:cxnLst/>
              <a:rect l="l" t="t" r="r" b="b"/>
              <a:pathLst>
                <a:path w="16916400" h="9525">
                  <a:moveTo>
                    <a:pt x="0" y="0"/>
                  </a:moveTo>
                  <a:lnTo>
                    <a:pt x="169164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685800" y="8077200"/>
              <a:ext cx="169164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685800" y="8077200"/>
              <a:ext cx="114300" cy="609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982218" y="8289608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混合阴离子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2734818" y="8289608"/>
              <a:ext cx="2119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Na₃Sn(PO₄)(CO₃)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013006" y="8273415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1.27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525637" y="8273415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0.070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726168" y="8289608"/>
              <a:ext cx="41499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CO₃ 基团运动是否会降低 Na 迁移势垒？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76656" y="8972550"/>
            <a:ext cx="16925544" cy="538734"/>
            <a:chOff x="676656" y="8972550"/>
            <a:chExt cx="16925544" cy="538734"/>
          </a:xfrm>
        </p:grpSpPr>
        <p:sp>
          <p:nvSpPr>
            <p:cNvPr id="97" name="Line 97"/>
            <p:cNvSpPr/>
            <p:nvPr/>
          </p:nvSpPr>
          <p:spPr>
            <a:xfrm>
              <a:off x="685800" y="8972550"/>
              <a:ext cx="16916400" cy="9525"/>
            </a:xfrm>
            <a:custGeom>
              <a:avLst/>
              <a:gdLst/>
              <a:ahLst/>
              <a:cxnLst/>
              <a:rect l="l" t="t" r="r" b="b"/>
              <a:pathLst>
                <a:path w="16916400" h="9525">
                  <a:moveTo>
                    <a:pt x="0" y="0"/>
                  </a:moveTo>
                  <a:lnTo>
                    <a:pt x="169164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76656" y="9159240"/>
              <a:ext cx="83386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目前这 10 个材料都只作为第一轮 DFT 候选，尚不能判断离子电导率。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678942" y="9731692"/>
            <a:ext cx="16930116" cy="264033"/>
            <a:chOff x="678942" y="9731692"/>
            <a:chExt cx="16930116" cy="264033"/>
          </a:xfrm>
        </p:grpSpPr>
        <p:sp>
          <p:nvSpPr>
            <p:cNvPr id="100" name="TextBox 100"/>
            <p:cNvSpPr txBox="1"/>
            <p:nvPr/>
          </p:nvSpPr>
          <p:spPr>
            <a:xfrm>
              <a:off x="678942" y="973169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表中问题决定每个材料最先做哪项计算。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6986523" y="973169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11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11_描述符阈值研究流程分享PPT">
  <a:themeElements>
    <a:clrScheme name="11_描述符阈值研究流程分享PPT">
      <a:dk1>
        <a:srgbClr val="17202A"/>
      </a:dk1>
      <a:lt1>
        <a:srgbClr val="F7F5F0"/>
      </a:lt1>
      <a:dk2>
        <a:srgbClr val="1F497D"/>
      </a:dk2>
      <a:lt2>
        <a:srgbClr val="EAE7DF"/>
      </a:lt2>
      <a:accent1>
        <a:srgbClr val="16324F"/>
      </a:accent1>
      <a:accent2>
        <a:srgbClr val="D1495B"/>
      </a:accent2>
      <a:accent3>
        <a:srgbClr val="2E7D6E"/>
      </a:accent3>
      <a:accent4>
        <a:srgbClr val="16324F"/>
      </a:accent4>
      <a:accent5>
        <a:srgbClr val="C9C5BC"/>
      </a:accent5>
      <a:accent6>
        <a:srgbClr val="5E6670"/>
      </a:accent6>
      <a:hlink>
        <a:srgbClr val="D1495B"/>
      </a:hlink>
      <a:folHlink>
        <a:srgbClr val="2E7D6E"/>
      </a:folHlink>
    </a:clrScheme>
    <a:fontScheme name="11_描述符阈值研究流程分享PPT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11_描述符阈值研究流程分享P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1_描述符阈值研究流程分享PPT">
  <a:themeElements>
    <a:clrScheme name="11_描述符阈值研究流程分享PPT">
      <a:dk1>
        <a:srgbClr val="17202A"/>
      </a:dk1>
      <a:lt1>
        <a:srgbClr val="F7F5F0"/>
      </a:lt1>
      <a:dk2>
        <a:srgbClr val="1F497D"/>
      </a:dk2>
      <a:lt2>
        <a:srgbClr val="EAE7DF"/>
      </a:lt2>
      <a:accent1>
        <a:srgbClr val="16324F"/>
      </a:accent1>
      <a:accent2>
        <a:srgbClr val="D1495B"/>
      </a:accent2>
      <a:accent3>
        <a:srgbClr val="2E7D6E"/>
      </a:accent3>
      <a:accent4>
        <a:srgbClr val="16324F"/>
      </a:accent4>
      <a:accent5>
        <a:srgbClr val="C9C5BC"/>
      </a:accent5>
      <a:accent6>
        <a:srgbClr val="5E6670"/>
      </a:accent6>
      <a:hlink>
        <a:srgbClr val="D1495B"/>
      </a:hlink>
      <a:folHlink>
        <a:srgbClr val="2E7D6E"/>
      </a:folHlink>
    </a:clrScheme>
    <a:fontScheme name="11_描述符阈值研究流程分享PPT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11_描述符阈值研究流程分享P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2026-07-23T14:58:01Z</dcterms:created>
  <dcterms:modified xsi:type="dcterms:W3CDTF">2026-07-23T14:58:01Z</dcterms:modified>
  <cp:category/>
  <cp:contentStatus/>
</cp:coreProperties>
</file>